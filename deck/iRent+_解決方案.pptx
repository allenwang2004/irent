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9ea54710-17ef-f77b-1599-fd1d2e6c56a8}">
          <p14:sldIdLst>
            <p14:sldId id="256"/>
          </p14:sldIdLst>
        </p14:section>
        <p14:section name="提案摘要" id="{4b743c43-8306-8437-f376-6f1a75925bb7}">
          <p14:sldIdLst>
            <p14:sldId id="257"/>
          </p14:sldIdLst>
        </p14:section>
        <p14:section name="1. 提案概述" id="{80cd0010-a4e4-3677-b0b4-149d6f4f3336}">
          <p14:sldIdLst>
            <p14:sldId id="258"/>
          </p14:sldIdLst>
        </p14:section>
        <p14:section name="2. 目標對象與痛點分析" id="{7f75b44e-c3a5-ed20-5da7-87ca134d5c54}">
          <p14:sldIdLst>
            <p14:sldId id="259"/>
            <p14:sldId id="260"/>
            <p14:sldId id="261"/>
          </p14:sldIdLst>
        </p14:section>
        <p14:section name="3. 解決方案設計" id="{20ffc858-1341-c151-e07a-05e7d49cae56}">
          <p14:sldIdLst>
            <p14:sldId id="262"/>
            <p14:sldId id="263"/>
            <p14:sldId id="264"/>
          </p14:sldIdLst>
        </p14:section>
        <p14:section name="4. AI 應用方法" id="{70e8133e-c5f1-a916-eb30-b07fa7f69f51}">
          <p14:sldIdLst>
            <p14:sldId id="265"/>
            <p14:sldId id="266"/>
            <p14:sldId id="267"/>
          </p14:sldIdLst>
        </p14:section>
        <p14:section name="5. 獨特優勢與差異化" id="{316a62f9-8f4e-8855-7d2a-c753776cba4f}">
          <p14:sldIdLst>
            <p14:sldId id="268"/>
          </p14:sldIdLst>
        </p14:section>
        <p14:section name="6. 預期效益與落地評估" id="{ca6d5973-bdb5-d247-fb7d-0e348013d0d4}">
          <p14:sldIdLst>
            <p14:sldId id="269"/>
            <p14:sldId id="270"/>
          </p14:sldIdLst>
        </p14:section>
        <p14:section name="7. 補充資料" id="{c9baa5aa-0f1d-af36-d080-fcb6d870784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照片數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D7000F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1126</c:v>
                </c:pt>
                <c:pt idx="1">
                  <c:v>1019</c:v>
                </c:pt>
                <c:pt idx="2">
                  <c:v>704</c:v>
                </c:pt>
                <c:pt idx="3">
                  <c:v>466</c:v>
                </c:pt>
                <c:pt idx="4">
                  <c:v>345</c:v>
                </c:pt>
                <c:pt idx="5">
                  <c:v>316</c:v>
                </c:pt>
                <c:pt idx="6">
                  <c:v>280</c:v>
                </c:pt>
                <c:pt idx="7">
                  <c:v>390</c:v>
                </c:pt>
                <c:pt idx="8">
                  <c:v>638</c:v>
                </c:pt>
                <c:pt idx="9">
                  <c:v>611</c:v>
                </c:pt>
                <c:pt idx="10">
                  <c:v>664</c:v>
                </c:pt>
                <c:pt idx="11">
                  <c:v>676</c:v>
                </c:pt>
                <c:pt idx="12">
                  <c:v>1068</c:v>
                </c:pt>
                <c:pt idx="13">
                  <c:v>1329</c:v>
                </c:pt>
                <c:pt idx="14">
                  <c:v>1361</c:v>
                </c:pt>
                <c:pt idx="15">
                  <c:v>1619</c:v>
                </c:pt>
                <c:pt idx="16">
                  <c:v>2144</c:v>
                </c:pt>
                <c:pt idx="17">
                  <c:v>1988</c:v>
                </c:pt>
                <c:pt idx="18">
                  <c:v>1761</c:v>
                </c:pt>
                <c:pt idx="19">
                  <c:v>1584</c:v>
                </c:pt>
                <c:pt idx="20">
                  <c:v>1510</c:v>
                </c:pt>
                <c:pt idx="21">
                  <c:v>1977</c:v>
                </c:pt>
                <c:pt idx="22">
                  <c:v>2068</c:v>
                </c:pt>
                <c:pt idx="23">
                  <c:v>1674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則數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45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7000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7000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7000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扣款、費用、罰單爭議</c:v>
                  </c:pt>
                  <c:pt idx="1">
                    <c:v>還車範圍、找車位、GPS 定位</c:v>
                  </c:pt>
                  <c:pt idx="2">
                    <c:v>拍照流程、照片被退</c:v>
                  </c:pt>
                  <c:pt idx="3">
                    <c:v>App 當機、鎖車失敗、連線</c:v>
                  </c:pt>
                  <c:pt idx="4">
                    <c:v>車內髒亂、遺留物</c:v>
                  </c:pt>
                  <c:pt idx="5">
                    <c:v>客服難聯絡、回覆慢</c:v>
                  </c:pt>
                  <c:pt idx="6">
                    <c:v>車損爭議、求償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250</c:v>
                </c:pt>
                <c:pt idx="1">
                  <c:v>186</c:v>
                </c:pt>
                <c:pt idx="2">
                  <c:v>145</c:v>
                </c:pt>
                <c:pt idx="3">
                  <c:v>105</c:v>
                </c:pt>
                <c:pt idx="4">
                  <c:v>60</c:v>
                </c:pt>
                <c:pt idx="5">
                  <c:v>53</c:v>
                </c:pt>
                <c:pt idx="6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5454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5454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封面。iRent+：AI 智能車況管家，團隊 pp。一句話：拍照當場把關、AI 前後比對、問題自動派工，讓每天 2.7 萬張取還車照片，從需要 10–20 人檢視變成 1–2 人確認。右邊是主辦方資料集的實際判讀：取車時完好、還車時左前受損，AI 三次判讀都判定為新車損。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提案摘要（不計入 15 頁）。欄位名稱與順序依官方範本。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提案概述。核心價值：照片不再只是存檔，而是拍的當下就把關、送出後由 AI 比對、發現問題自動派工。目標：人力 10–20 人降到 1–2 人、不合格照片當場重拍；主辦方 144 組照片實測，車損召回率 100%、誤報率 3%。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標對象：租車用戶與營運團隊。兩者都卡在車況照片。現行流程（依主辦方還車流程圖）：拍卡夾、車內、車身四角、其他車損，送出後由後台人員查看。三個斷點：拍照時沒人檢查、送出後人工看不完、出問題時前後照片對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營運端痛點。主辦方資料：一天 27,367 張照片、4,820 筆取還車；16 點尖峰 2,144 張，每 1.7 秒一張；下午 4 點到午夜每小時都超過 1,500 張。若每筆都人工看，以 1–2 分鐘計，一天 80–160 工時，約 10–20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用戶端痛點。我們做了評論管理後台，收集 Google Play、App Store、PTT、Dcard 共 924 則評論（同一篇只算一次），依關鍵字規則分成 7 類；其中 208 則（22.5%）跟車況有關。拍照流程類 145 則、髒亂類 60 則、車損類 49 則，常見的抱怨是拍照耗時常被要求重拍、接到上一位留下的髒車、車損賠償說不清責任。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整體架構：三個環節、9 個機制，補上三個斷點。拍照時（手機）：已知車損提前告知、疊影對齊、即時檢查畫質車牌角度、還車先拍車內再鎖門。送出後（後台 AI）：取車比上次、還車比取車；每張判讀三次取多數決。發現問題後：自動開工單與暫停出租、營運確認記成已知車損、用戶確認單。系統：Next.js 手機網頁、Supabase、自架 Qwen 系列 VLM、資料庫觸發的預警與工單、營運後台。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取還車流程。取車：先看到這台車已記錄的損傷；拍照時疊著上一次同角度的照片，手機每 0.5 秒檢查畫質、讀車牌判斷角度與遠近、比對光線，不合格當場重拍；可補拍損傷特寫後確認取車。還車：按開始還車，計費就停止；10 分鐘內先拍卡夾和前後座，下車關門後鎖門，鎖門不用等照片上傳；再拍車外四角與停車位置。之後在歷史訂單看得到取還車確認單。這直接回應評論裡「鎖門後才要拍內部照片」的抱怨。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營運流程。VLM 檢查後寫入預警，資料庫自動開工單：車內髒汙排清潔、高嚴重度新車損排檢修，兩者都暫停出租；缺卡片或遺留物排聯絡用戶。營運人員在預警頁一次處理一筆取還車，最嚴重、等最久的排前面；確認的車損記成已知車損，駁回誤報時工單自動取消、車輛恢復出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手機端把關拍照、後台 AI 判讀車況。手機端要快，全部在瀏覽器內運算：畫質（清晰度、亮度、過曝，門檻用 1,200 張還車照片校準）；車牌（PaddleOCR 每 0.5 秒讀一次，整張車牌入鏡時 92% 讀對，從未認成別台車）；角度與遠近（比對上一張同角度照片的車牌位置與大小，站對的 95% 通過、站錯的 77% 被抓到）；光線（比上一張暗很多就提醒）。後台要準：自架 Qwen 系列視覺語言模型，看車身四角、車內、卡夾、核對用戶回報；每張判讀 3 次取多數決，整潔度意見不一取較髒，無法比對的送人工。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實測結果。用主辦方提供的 144 組取還車照片評估（24 組有索賠、120 組沒有），搭配拍照時的角度審核與光線判斷：有索賠的 24 組全部判為新車損，召回率 100%；沒有索賠的 120 組，誤報率 3%。右邊是實際判讀：白天左前、夜間左後的車損，三次判讀都一致；車內照片能分出乾淨與髒汙，並說出髒在哪裡。照片來自主辦方資料集，車牌已遮蔽。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選用原因。VLM 不必先標註大量資料就能上線，一個模型同時處理車損、整潔、遺留物、卡片並寫出理由。自架 Qwen 系列開源模型：照片不外流、不按次付費（每天約 8.2 萬次判讀）、可用自己的資料微調。畫質檢查放手機是因為上傳後才檢查用戶已離開。車牌辨識用開源的 PaddleOCR，模型約 15 MB，在瀏覽器內每 0.5 秒執行，相機畫面不用上傳。營運每次確認或駁回都收集成資料集，重新訓練、更新上線，反覆迭代；長期由自訓小模型先篩、VLM 複核。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與現行做法比較：照片從事後存證，變成拍的當下把關、送出後立即比對、發現問題自動處理；還車不用鎖門後再開門拍車內；人從每筆都看，變成只確認 AI 標記的部分；用戶每次都有確認單。難以複製的地方：營運確認的結果是只有 iRent 能累積的訓練資料；每張照片都有比對基準；拍照流程是為 AI 設計的；從判讀到派工是閉環。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預期效益。若每筆取還車都要人工看，一天 80–160 工時、約 10–20 人；導入後人只確認 AI 標記的部分，以 10% 估算是 482 筆、8–16 工時、約 1–2 人，工時減少約 90%，以每人每年 60 萬元估約少 540–1,080 萬元人事成本（GPU 與導入成本另計）。實測誤報率 3%，所以 10% 是保守估計；就算 20% 也只需 2–4 人。用戶端：每天約 550–820 張不合格照片當場重拍；髒車與嚴重車損自動暫停出租；新車損對應到該筆租用；直接對應 208 則與車況有關的評論。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落地評估。四階段：第 1–2 個月擴大驗證（主辦方 144 組已完成，召回率 100%、誤報率 3%，再用更多歷史照片確認）；第 3–4 個月影子模式，手機即時檢查先上線、AI 在背景判讀與人工比對；第 5–6 個月區域試點，開啟自動工單、暫停出租與確認單；第 7 個月起全面導入，每月以營運確認資料重新訓練。資源：GPU 伺服器自架模型（尖峰約每秒 1.8 次判讀，試點先 1 台）、App 拍照頁（車牌模型約 15 MB）與後台串接、營運確認 1–2 人；導入期需要工程人力，上線後併入既有團隊維運。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補充資料：資料來源、GitHub 程式碼（github.com/Allenwang2004/irent，README 有給評審的說明）與概念原型。程式碼：mobile 手機 App、web 營運後台、worker VLM 檢查服務、eval 評估腳本、supabase 資料表與自動工單。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MMAR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iRent+｜AI 智能車況管家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iRent+｜AI 智能車況管家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llenwang2004/irent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2"/>
                </a:solidFill>
              </a:rPr>
              <a:t>2026 和泰 AI 黑客松｜iRent 企業挑戰題</a:t>
            </a:r>
            <a:endParaRPr lang="zh-TW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0020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72200" y="1600200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19672" y="160020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4050792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70332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4050792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9672" y="370332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810512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8800" b="1" dirty="0">
                <a:solidFill>
                  <a:schemeClr val="accent1"/>
                </a:solidFill>
              </a:rPr>
              <a:t>iRent+</a:t>
            </a:r>
            <a:endParaRPr lang="zh-TW" sz="88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127248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tx1"/>
                </a:solidFill>
              </a:rPr>
              <a:t>AI 智能車況管家</a:t>
            </a:r>
            <a:endParaRPr lang="zh-TW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34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拍照當場把關、AI 前後比對、問題自動派工</a:t>
            </a:r>
            <a:endParaRPr lang="zh-TW" sz="1700" dirty="0"/>
          </a:p>
          <a:p>
            <a:pPr indent="0" marL="0">
              <a:spcAft>
                <a:spcPts val="600"/>
              </a:spcAft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每天 2.7 萬張車況照片，從 10–20 人檢視變成 1–2 人確認</a:t>
            </a:r>
            <a:endParaRPr lang="zh-TW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2"/>
                </a:solidFill>
              </a:rPr>
              <a:t>團隊名稱：pp</a:t>
            </a:r>
            <a:endParaRPr lang="zh-TW" sz="1400" dirty="0"/>
          </a:p>
        </p:txBody>
      </p:sp>
      <p:pic>
        <p:nvPicPr>
          <p:cNvPr id="15" name="Image 0" descr="主辦方照片：取車時車身左前完好（車牌已遮蔽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2211705" cy="39319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41464" y="9692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17" name="Image 1" descr="主辦方照片：還車時車身左前嚴重受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745" y="914400"/>
            <a:ext cx="2211705" cy="39319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444609" y="9692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7086600" y="5010912"/>
            <a:ext cx="451485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AI 比對：左前新車損・3 次判讀都一致</a:t>
            </a:r>
            <a:endParaRPr lang="zh-TW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5486400"/>
            <a:ext cx="45148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主辦方資料集實測，車牌已遮蔽</a:t>
            </a:r>
            <a:endParaRPr lang="zh-TW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提案摘要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57981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團隊名稱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pp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產品/服務名稱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iRent+ AI 智能車況管家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企業挑戰題目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iRent｜運用 AI 打造 iRent 智能車況管家：優化租還車體驗與營運效率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目標對象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 自助取還車的租車用戶，以及負責檢視車況、安排清潔與檢修的營運團隊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解決方案設計重點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(至多3項)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拍照時把關：疊影對齊上次照片，手機即時檢查畫質、車牌、角度與遠近，不合格當場重拍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送出後比對：後台 VLM 比對前後照片，判讀新車損、車內整潔、遺留物與卡片，三次判讀取多數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發現問題自動處理：自動開工單、暫停出租；營運確認後記成已知車損，用戶看得到取還車確認單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運用到的AI技術、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服務或模型等資源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Qwen 系列開源視覺語言模型（以 vLLM 自架推論，照片不外流）；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手機端：PaddleOCR PP-OCRv4 車牌辨識（onnxruntime-web）與畫質檢查，都在瀏覽器內運算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預期效益簡述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主辦方 144 組取還車照片實測：車損召回率 100%、誤報率 3%。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每天約 4,820 筆取還車全數檢查，所需人力由約 10–20 人降至 1–2 人（約 −90%）；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不合格照片當場重拍；髒車與嚴重車損自動暫停出租；每次取還車都有確認單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　提案概述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把取還車照片，變成會自己處理的車況紀錄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819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提案名稱</a:t>
            </a:r>
            <a:endParaRPr lang="zh-TW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iRent+ AI 智能車況管家</a:t>
            </a:r>
            <a:endParaRPr lang="zh-TW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58191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核心價值主張</a:t>
            </a:r>
            <a:endParaRPr lang="zh-TW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28800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照片在拍的當下就把關，送出後由 AI 比對前後照片，發現問題自動派工。</a:t>
            </a:r>
            <a:endParaRPr lang="zh-TW" sz="15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營運只確認 AI 標記的部分，用戶每次都看得到判定結果。</a:t>
            </a:r>
            <a:endParaRPr lang="zh-TW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要解決的核心問題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18178" y="41376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12" name="Shape 10"/>
          <p:cNvSpPr/>
          <p:nvPr/>
        </p:nvSpPr>
        <p:spPr>
          <a:xfrm>
            <a:off x="4383938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58258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我們的做法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853477" y="41376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15" name="Shape 13"/>
          <p:cNvSpPr/>
          <p:nvPr/>
        </p:nvSpPr>
        <p:spPr>
          <a:xfrm>
            <a:off x="8219237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93557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目標與實測</a:t>
            </a:r>
            <a:endParaRPr lang="zh-TW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83280"/>
            <a:ext cx="287517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營運端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每天約 2.7 萬張車況照片，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要每筆都看需 10–20 人；</a:t>
            </a:r>
            <a:endParaRPr lang="zh-TW" sz="1400" dirty="0"/>
          </a:p>
          <a:p>
            <a:pPr indent="0" marL="0">
              <a:spcAft>
                <a:spcPts val="14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問題常等下一位用戶取車才發現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用戶端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924 則評論中 208 則與車況有關：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拍照常被要求重拍、接到髒車、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車損責任說不清</a:t>
            </a:r>
            <a:endParaRPr lang="zh-TW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658258" y="333756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3 個環節・9 個機制</a:t>
            </a:r>
            <a:endParaRPr lang="zh-TW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658258" y="39776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1</a:t>
            </a:r>
            <a:endParaRPr lang="zh-TW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15458" y="39319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拍照時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手機當場檢查畫質、車牌與角度，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還車先拍車內再鎖門</a:t>
            </a:r>
            <a:endParaRPr lang="zh-TW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658258" y="46634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2</a:t>
            </a:r>
            <a:endParaRPr lang="zh-TW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115458" y="46177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送出後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後台 AI 比對前後照片</a:t>
            </a:r>
            <a:endParaRPr lang="zh-TW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658258" y="53492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15458" y="53035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發現問題後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自動開工單、營運確認，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用戶看得到結果</a:t>
            </a:r>
            <a:endParaRPr lang="zh-TW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493557" y="33375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1–2 人</a:t>
            </a:r>
            <a:endParaRPr lang="zh-TW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493557" y="37490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每天 4,820 筆取還車全數檢查</a:t>
            </a:r>
            <a:endParaRPr lang="zh-TW" sz="1300" dirty="0"/>
          </a:p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所需人力（全人工需 10–20 人）</a:t>
            </a:r>
            <a:endParaRPr lang="zh-TW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93557" y="42519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召回率 100%</a:t>
            </a:r>
            <a:endParaRPr lang="zh-TW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8493557" y="46634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主辦方 144 組照片實測，</a:t>
            </a:r>
            <a:endParaRPr lang="zh-TW" sz="1300" dirty="0"/>
          </a:p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車損全部抓到，誤報率 3%</a:t>
            </a:r>
            <a:endParaRPr lang="zh-TW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493557" y="5166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當場重拍</a:t>
            </a:r>
            <a:endParaRPr lang="zh-TW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493557" y="55778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不合格照片在手機上就擋下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兩個目標對象，卡在同一個環節：車況照片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8718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664208"/>
            <a:ext cx="401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租車用戶</a:t>
            </a:r>
            <a:endParaRPr lang="zh-TW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075688"/>
            <a:ext cx="40613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iRent 會員已突破 200 萬人¹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自助取還車，現場沒有人員點交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還車要拍 7 張必拍照片</a:t>
            </a:r>
            <a:endParaRPr lang="zh-TW" sz="1400" dirty="0"/>
          </a:p>
        </p:txBody>
      </p:sp>
      <p:sp>
        <p:nvSpPr>
          <p:cNvPr id="9" name="Shape 6"/>
          <p:cNvSpPr/>
          <p:nvPr/>
        </p:nvSpPr>
        <p:spPr>
          <a:xfrm>
            <a:off x="6255868" y="1463040"/>
            <a:ext cx="538718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0188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8516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53148" y="1664208"/>
            <a:ext cx="401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營運團隊</a:t>
            </a:r>
            <a:endParaRPr lang="zh-TW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353148" y="2075688"/>
            <a:ext cx="40613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每天約 4,820 筆取還車、27,367 張照片²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照片送出後，才由後台人員查看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清潔、檢修靠人工判斷與安排</a:t>
            </a:r>
            <a:endParaRPr lang="zh-TW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3375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現行拍照流程與三個斷點</a:t>
            </a:r>
            <a:endParaRPr lang="zh-TW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加油卡／停車卡</a:t>
            </a:r>
            <a:endParaRPr lang="zh-TW" sz="1300" dirty="0"/>
          </a:p>
        </p:txBody>
      </p:sp>
      <p:sp>
        <p:nvSpPr>
          <p:cNvPr id="17" name="Shape 13"/>
          <p:cNvSpPr/>
          <p:nvPr/>
        </p:nvSpPr>
        <p:spPr>
          <a:xfrm>
            <a:off x="2167128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452969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498689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車內前座、後座</a:t>
            </a:r>
            <a:endParaRPr lang="zh-TW" sz="1300" dirty="0"/>
          </a:p>
        </p:txBody>
      </p:sp>
      <p:sp>
        <p:nvSpPr>
          <p:cNvPr id="20" name="Shape 16"/>
          <p:cNvSpPr/>
          <p:nvPr/>
        </p:nvSpPr>
        <p:spPr>
          <a:xfrm>
            <a:off x="4071457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357299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03019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車身四角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（含車牌）</a:t>
            </a:r>
            <a:endParaRPr lang="zh-TW" sz="1300" dirty="0"/>
          </a:p>
        </p:txBody>
      </p:sp>
      <p:sp>
        <p:nvSpPr>
          <p:cNvPr id="23" name="Shape 19"/>
          <p:cNvSpPr/>
          <p:nvPr/>
        </p:nvSpPr>
        <p:spPr>
          <a:xfrm>
            <a:off x="5975787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6261628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307348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其他車損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（最多 4 張）</a:t>
            </a:r>
            <a:endParaRPr lang="zh-TW" sz="1300" dirty="0"/>
          </a:p>
        </p:txBody>
      </p:sp>
      <p:sp>
        <p:nvSpPr>
          <p:cNvPr id="26" name="Shape 22"/>
          <p:cNvSpPr/>
          <p:nvPr/>
        </p:nvSpPr>
        <p:spPr>
          <a:xfrm>
            <a:off x="7880116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8165958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11678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送出照片</a:t>
            </a:r>
            <a:endParaRPr lang="zh-TW" sz="1300" dirty="0"/>
          </a:p>
        </p:txBody>
      </p:sp>
      <p:sp>
        <p:nvSpPr>
          <p:cNvPr id="29" name="Shape 25"/>
          <p:cNvSpPr/>
          <p:nvPr/>
        </p:nvSpPr>
        <p:spPr>
          <a:xfrm>
            <a:off x="9784446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10070287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116007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後台人員查看</a:t>
            </a:r>
            <a:endParaRPr lang="zh-TW" sz="1300" dirty="0"/>
          </a:p>
        </p:txBody>
      </p:sp>
      <p:sp>
        <p:nvSpPr>
          <p:cNvPr id="32" name="Shape 28"/>
          <p:cNvSpPr/>
          <p:nvPr/>
        </p:nvSpPr>
        <p:spPr>
          <a:xfrm>
            <a:off x="548640" y="4407408"/>
            <a:ext cx="7285756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165958" y="4407408"/>
            <a:ext cx="3477097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6177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1</a:t>
            </a:r>
            <a:endParaRPr lang="zh-TW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87552" y="45720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拍照時沒人檢查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拍糊、拍歪照樣送出，事後才被要求重拍</a:t>
            </a:r>
            <a:endParaRPr lang="zh-TW" sz="1450" dirty="0"/>
          </a:p>
        </p:txBody>
      </p:sp>
      <p:sp>
        <p:nvSpPr>
          <p:cNvPr id="36" name="Text 32"/>
          <p:cNvSpPr txBox="1"/>
          <p:nvPr/>
        </p:nvSpPr>
        <p:spPr>
          <a:xfrm>
            <a:off x="8165958" y="46177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2</a:t>
            </a:r>
            <a:endParaRPr lang="zh-TW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8604870" y="4572000"/>
            <a:ext cx="301989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送出後人工看不完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看不完，也看得太晚</a:t>
            </a:r>
            <a:endParaRPr lang="zh-TW" sz="145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987552" y="523036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出問題時前後對不上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取車、還車照片角度不同，很難比對責任</a:t>
            </a:r>
            <a:endParaRPr lang="zh-TW" sz="1450" dirty="0"/>
          </a:p>
        </p:txBody>
      </p:sp>
      <p:sp>
        <p:nvSpPr>
          <p:cNvPr id="40" name="Text 36"/>
          <p:cNvSpPr txBox="1"/>
          <p:nvPr/>
        </p:nvSpPr>
        <p:spPr>
          <a:xfrm>
            <a:off x="8165958" y="5349240"/>
            <a:ext cx="3477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i="1" dirty="0">
                <a:solidFill>
                  <a:schemeClr val="tx2"/>
                </a:solidFill>
              </a:rPr>
              <a:t>主辦方：「實際照片內容常與所選分類不一致」</a:t>
            </a:r>
            <a:endParaRPr lang="zh-TW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¹ 旺得富理財網〈iRent共享車平台 用戶突破200萬大關〉，2026/2/6　² 主辦方照片上傳清單，2026/4/22 全天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目標對象與痛點分析｜營運端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每天約 2.7 萬張照片，要每筆都看需 10–20 人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2026/4/22 每小時上傳的車況照片（張）</a:t>
            </a:r>
            <a:endParaRPr lang="zh-TW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880360" y="1847088"/>
            <a:ext cx="2148840" cy="53035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尖峰 16 時：2,144 張</a:t>
            </a:r>
            <a:endParaRPr lang="zh-TW" sz="1400" dirty="0"/>
          </a:p>
          <a:p>
            <a:pPr algn="r"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 1.7 秒就有一張</a:t>
            </a:r>
            <a:endParaRPr lang="zh-TW" sz="1400" dirty="0"/>
          </a:p>
        </p:txBody>
      </p:sp>
      <p:sp>
        <p:nvSpPr>
          <p:cNvPr id="7" name="Shape 4"/>
          <p:cNvSpPr/>
          <p:nvPr/>
        </p:nvSpPr>
        <p:spPr>
          <a:xfrm>
            <a:off x="5047488" y="2103120"/>
            <a:ext cx="146304" cy="201168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48640" y="550468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2"/>
                </a:solidFill>
              </a:rPr>
              <a:t>下午 4 點到午夜每小時都超過 1,500 張：最需要即時處理時，照片也最多</a:t>
            </a:r>
            <a:endParaRPr lang="zh-TW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46304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如果每一筆都靠人工檢視</a:t>
            </a:r>
            <a:endParaRPr lang="zh-TW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187452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4,820 筆</a:t>
            </a:r>
            <a:endParaRPr lang="zh-TW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33172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取還車／天（照片 27,367 張）</a:t>
            </a:r>
            <a:endParaRPr lang="zh-TW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274320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× 1–2 分鐘</a:t>
            </a:r>
            <a:endParaRPr lang="zh-TW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320040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每筆人工檢視</a:t>
            </a:r>
            <a:endParaRPr lang="zh-TW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361188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= 80–160 工時</a:t>
            </a:r>
            <a:endParaRPr lang="zh-TW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06908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每天</a:t>
            </a:r>
            <a:endParaRPr lang="zh-TW" sz="1250" dirty="0"/>
          </a:p>
        </p:txBody>
      </p:sp>
      <p:sp>
        <p:nvSpPr>
          <p:cNvPr id="16" name="Shape 13"/>
          <p:cNvSpPr/>
          <p:nvPr/>
        </p:nvSpPr>
        <p:spPr>
          <a:xfrm>
            <a:off x="7543800" y="4434840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543800" y="4434840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441887" y="4434840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01907" y="4434840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43800" y="5673852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43800" y="5513832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441887" y="5673852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01907" y="5513832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553712"/>
            <a:ext cx="3596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≈ 10–20</a:t>
            </a:r>
            <a:r>
              <a:rPr lang="zh-TW" altLang="en-US" sz="2200" b="1" dirty="0">
                <a:solidFill>
                  <a:schemeClr val="accent1"/>
                </a:solidFill>
              </a:rPr>
              <a:t> 人</a:t>
            </a:r>
            <a:endParaRPr lang="zh-TW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3036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每人每天 8 小時</a:t>
            </a:r>
            <a:endParaRPr lang="zh-TW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估算假設：每筆人工檢視 1–2 分鐘、每人每天 8 小時。資料：主辦方照片上傳清單（2026/4/22 全天，4,820 筆取還車）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目標對象與痛點分析｜用戶端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924 則評論裡，208 則跟車況有關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顧客評論依問題分類（則數，一則可屬多類）</a:t>
            </a:r>
            <a:endParaRPr lang="zh-TW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0350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6811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來源：Google Play 682、PTT 130、Dcard 107、App Store 5 則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（同一篇只算一次，2026/10/7 擷取）</a:t>
            </a:r>
            <a:endParaRPr lang="zh-TW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1417320"/>
            <a:ext cx="4922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208 則</a:t>
            </a:r>
            <a:r>
              <a:rPr lang="zh-TW" altLang="en-US" sz="1500" b="1" dirty="0">
                <a:solidFill>
                  <a:schemeClr val="tx1"/>
                </a:solidFill>
              </a:rPr>
              <a:t>　跟車況有關，占全部評論 22.5%</a:t>
            </a:r>
            <a:endParaRPr lang="zh-TW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720840" y="202996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拍照、髒亂、車損三類任一，重複只算一次</a:t>
            </a:r>
            <a:endParaRPr lang="zh-TW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2423160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551176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拍照耗時，常被要求重拍</a:t>
            </a:r>
            <a:endParaRPr lang="zh-TW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768535" y="2551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拍照流程類 145 則</a:t>
            </a:r>
            <a:endParaRPr lang="zh-TW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2953512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「還車拍照四邊都拍了，還一直要我重拍，耗時好幾分鐘。」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Play・2026/06/10</a:t>
            </a:r>
            <a:endParaRPr lang="zh-TW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3639312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3767328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接到上一位留下的髒車</a:t>
            </a:r>
            <a:endParaRPr lang="zh-TW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768535" y="3767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髒亂類 60 則</a:t>
            </a:r>
            <a:endParaRPr lang="zh-TW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4169664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「最近很多⋯⋯喜歡丟垃圾在車上，建議⋯⋯罰款清潔費」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Play・2026/07/12</a:t>
            </a:r>
            <a:endParaRPr lang="zh-TW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4855464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4983480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車損賠償，說不清責任</a:t>
            </a:r>
            <a:endParaRPr lang="zh-TW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768535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車損類 49 則</a:t>
            </a:r>
            <a:endParaRPr lang="zh-TW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5385816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「3 個月內都有可能會被坑說是你用的，要你賠。」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Play・2026/02/20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解決方案設計｜整體架構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三個環節、9 個機制，補上三個斷點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① 拍照沒人檢查、③ 角度對不上</a:t>
            </a:r>
            <a:endParaRPr lang="zh-TW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拍照時</a:t>
            </a:r>
            <a:r>
              <a:rPr lang="zh-TW" altLang="en-US" sz="1300" dirty="0">
                <a:solidFill>
                  <a:schemeClr val="bg1"/>
                </a:solidFill>
              </a:rPr>
              <a:t>　手機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1</a:t>
            </a:r>
            <a:endParaRPr lang="zh-TW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已知車損提前告知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取車時先列出已記錄的損傷</a:t>
            </a:r>
            <a:endParaRPr lang="zh-TW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2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上次照片疊影對齊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上一次同角度照片疊在畫面上</a:t>
            </a:r>
            <a:endParaRPr lang="zh-TW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05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3</a:t>
            </a:r>
            <a:endParaRPr lang="zh-TW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3986784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即時檢查畫質、車牌、角度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站錯、太遠太近、太暗都提醒</a:t>
            </a:r>
            <a:endParaRPr lang="zh-TW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7183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4</a:t>
            </a:r>
            <a:endParaRPr lang="zh-TW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4700016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先拍車內，鎖門再拍車外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按下還車就停止計費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335170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② 人工看不完、③ 前後難比對</a:t>
            </a:r>
            <a:endParaRPr lang="zh-TW" sz="1200" dirty="0"/>
          </a:p>
        </p:txBody>
      </p:sp>
      <p:sp>
        <p:nvSpPr>
          <p:cNvPr id="17" name="Shape 15"/>
          <p:cNvSpPr/>
          <p:nvPr/>
        </p:nvSpPr>
        <p:spPr>
          <a:xfrm>
            <a:off x="4335170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35170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63770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送出後</a:t>
            </a:r>
            <a:r>
              <a:rPr lang="zh-TW" altLang="en-US" sz="1300" dirty="0">
                <a:solidFill>
                  <a:schemeClr val="bg1"/>
                </a:solidFill>
              </a:rPr>
              <a:t>　後台 AI</a:t>
            </a:r>
            <a:endParaRPr lang="zh-TW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63770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5</a:t>
            </a:r>
            <a:endParaRPr lang="zh-TW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84978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取車比上次、還車比取車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差異歸屬到對的人</a:t>
            </a:r>
            <a:endParaRPr lang="zh-TW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63770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6</a:t>
            </a:r>
            <a:endParaRPr lang="zh-TW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84978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三次判讀、多數決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無法比對的照片送人工確認</a:t>
            </a:r>
            <a:endParaRPr lang="zh-TW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84978" y="4069080"/>
            <a:ext cx="2606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i="1" dirty="0">
                <a:solidFill>
                  <a:schemeClr val="accent2"/>
                </a:solidFill>
              </a:rPr>
              <a:t>照片送出後自動檢查，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i="1" dirty="0">
                <a:solidFill>
                  <a:schemeClr val="accent2"/>
                </a:solidFill>
              </a:rPr>
              <a:t>用戶不必在現場等結果</a:t>
            </a:r>
            <a:endParaRPr lang="zh-TW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121701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② 看得太晚、處理靠人工</a:t>
            </a:r>
            <a:endParaRPr lang="zh-TW" sz="1200" dirty="0"/>
          </a:p>
        </p:txBody>
      </p:sp>
      <p:sp>
        <p:nvSpPr>
          <p:cNvPr id="26" name="Shape 24"/>
          <p:cNvSpPr/>
          <p:nvPr/>
        </p:nvSpPr>
        <p:spPr>
          <a:xfrm>
            <a:off x="8121701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21701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50301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發現問題後</a:t>
            </a:r>
            <a:r>
              <a:rPr lang="zh-TW" altLang="en-US" sz="1300" dirty="0">
                <a:solidFill>
                  <a:schemeClr val="bg1"/>
                </a:solidFill>
              </a:rPr>
              <a:t>　系統・營運・用戶</a:t>
            </a:r>
            <a:endParaRPr lang="zh-TW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350301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7</a:t>
            </a:r>
            <a:endParaRPr lang="zh-TW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871509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自動開工單、暫停出租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髒汙排清潔、嚴重車損排檢修</a:t>
            </a:r>
            <a:endParaRPr lang="zh-TW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50301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8</a:t>
            </a:r>
            <a:endParaRPr lang="zh-TW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71509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營運確認，記成已知車損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駁回誤報，工單自動取消、恢復出租</a:t>
            </a:r>
            <a:endParaRPr lang="zh-TW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50301" y="4005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9</a:t>
            </a:r>
            <a:endParaRPr lang="zh-TW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871509" y="3986784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用戶取還車確認單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AI 初步判讀與營運確認狀態</a:t>
            </a:r>
            <a:endParaRPr lang="zh-TW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55955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系統架構</a:t>
            </a:r>
            <a:endParaRPr lang="zh-TW" sz="1200" dirty="0"/>
          </a:p>
        </p:txBody>
      </p:sp>
      <p:sp>
        <p:nvSpPr>
          <p:cNvPr id="36" name="Shape 34"/>
          <p:cNvSpPr/>
          <p:nvPr/>
        </p:nvSpPr>
        <p:spPr>
          <a:xfrm>
            <a:off x="1463040" y="5559552"/>
            <a:ext cx="1755648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08760" y="55595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手機 App</a:t>
            </a:r>
            <a:endParaRPr lang="zh-TW" sz="1200" dirty="0"/>
          </a:p>
          <a:p>
            <a:pPr algn="ctr"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Next.js 網頁</a:t>
            </a:r>
            <a:endParaRPr lang="zh-TW" sz="1200" dirty="0"/>
          </a:p>
        </p:txBody>
      </p:sp>
      <p:sp>
        <p:nvSpPr>
          <p:cNvPr id="38" name="Shape 36"/>
          <p:cNvSpPr/>
          <p:nvPr/>
        </p:nvSpPr>
        <p:spPr>
          <a:xfrm>
            <a:off x="3255264" y="5833872"/>
            <a:ext cx="277292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569132" y="5559552"/>
            <a:ext cx="1755648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614852" y="55595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Supabase</a:t>
            </a:r>
            <a:endParaRPr lang="zh-TW" sz="1200" dirty="0"/>
          </a:p>
          <a:p>
            <a:pPr algn="ctr"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資料庫、照片儲存</a:t>
            </a:r>
            <a:endParaRPr lang="zh-TW" sz="1200" dirty="0"/>
          </a:p>
        </p:txBody>
      </p:sp>
      <p:sp>
        <p:nvSpPr>
          <p:cNvPr id="41" name="Shape 39"/>
          <p:cNvSpPr/>
          <p:nvPr/>
        </p:nvSpPr>
        <p:spPr>
          <a:xfrm>
            <a:off x="5361356" y="5833872"/>
            <a:ext cx="277292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675224" y="5559552"/>
            <a:ext cx="1755648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720944" y="55595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VLM 檢查服務</a:t>
            </a:r>
            <a:endParaRPr lang="zh-TW" sz="1200" dirty="0"/>
          </a:p>
          <a:p>
            <a:pPr algn="ctr"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Qwen 系列，自架</a:t>
            </a:r>
            <a:endParaRPr lang="zh-TW" sz="1200" dirty="0"/>
          </a:p>
        </p:txBody>
      </p:sp>
      <p:sp>
        <p:nvSpPr>
          <p:cNvPr id="44" name="Shape 42"/>
          <p:cNvSpPr/>
          <p:nvPr/>
        </p:nvSpPr>
        <p:spPr>
          <a:xfrm>
            <a:off x="7467448" y="5833872"/>
            <a:ext cx="277292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781315" y="5559552"/>
            <a:ext cx="1755648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827035" y="55595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預警與工單</a:t>
            </a:r>
            <a:endParaRPr lang="zh-TW" sz="1200" dirty="0"/>
          </a:p>
          <a:p>
            <a:pPr algn="ctr"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資料庫自動觸發</a:t>
            </a:r>
            <a:endParaRPr lang="zh-TW" sz="1200" dirty="0"/>
          </a:p>
        </p:txBody>
      </p:sp>
      <p:sp>
        <p:nvSpPr>
          <p:cNvPr id="47" name="Shape 45"/>
          <p:cNvSpPr/>
          <p:nvPr/>
        </p:nvSpPr>
        <p:spPr>
          <a:xfrm>
            <a:off x="9573539" y="5833872"/>
            <a:ext cx="277292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887407" y="5559552"/>
            <a:ext cx="1755648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933127" y="55595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營運後台</a:t>
            </a:r>
            <a:endParaRPr lang="zh-TW" sz="1200" dirty="0"/>
          </a:p>
          <a:p>
            <a:pPr algn="ctr"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用戶確認單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解決方案設計｜取還車流程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用戶端：拍一次就拍對，還車不用回頭開門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66928" cy="1645920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chemeClr val="bg1"/>
                </a:solidFill>
              </a:rPr>
              <a:t>取</a:t>
            </a:r>
            <a:endParaRPr lang="zh-TW" sz="1800" dirty="0"/>
          </a:p>
          <a:p>
            <a:pPr algn="ctr" indent="0" marL="0">
              <a:buNone/>
            </a:pPr>
            <a:r>
              <a:rPr lang="zh-TW" altLang="en-US" sz="1800" b="1" dirty="0">
                <a:solidFill>
                  <a:schemeClr val="bg1"/>
                </a:solidFill>
              </a:rPr>
              <a:t>車</a:t>
            </a:r>
            <a:endParaRPr lang="zh-TW" sz="1800" dirty="0"/>
          </a:p>
        </p:txBody>
      </p:sp>
      <p:sp>
        <p:nvSpPr>
          <p:cNvPr id="5" name="Shape 3"/>
          <p:cNvSpPr/>
          <p:nvPr/>
        </p:nvSpPr>
        <p:spPr>
          <a:xfrm>
            <a:off x="1298448" y="146304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16459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1</a:t>
            </a:r>
            <a:endParaRPr lang="zh-TW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865376" y="161848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看已知車損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4884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先列出這台車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已記錄的損傷</a:t>
            </a:r>
            <a:endParaRPr lang="zh-TW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169859" y="2057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10" name="Shape 8"/>
          <p:cNvSpPr/>
          <p:nvPr/>
        </p:nvSpPr>
        <p:spPr>
          <a:xfrm>
            <a:off x="3407603" y="146304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72195" y="16459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2</a:t>
            </a:r>
            <a:endParaRPr lang="zh-TW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974531" y="161848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對齊上次照片</a:t>
            </a:r>
            <a:endParaRPr lang="zh-TW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72195" y="214884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上一次同角度照片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疊在畫面上</a:t>
            </a:r>
            <a:endParaRPr lang="zh-TW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279014" y="2057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15" name="Shape 13"/>
          <p:cNvSpPr/>
          <p:nvPr/>
        </p:nvSpPr>
        <p:spPr>
          <a:xfrm>
            <a:off x="5516758" y="146304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81350" y="16459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83686" y="161848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即時檢查</a:t>
            </a:r>
            <a:endParaRPr lang="zh-TW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681350" y="214884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畫質、車牌、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角度、光線，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不合格當場重拍</a:t>
            </a:r>
            <a:endParaRPr lang="zh-TW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88169" y="2057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20" name="Shape 18"/>
          <p:cNvSpPr/>
          <p:nvPr/>
        </p:nvSpPr>
        <p:spPr>
          <a:xfrm>
            <a:off x="7625913" y="146304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90505" y="161848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損傷紀錄</a:t>
            </a:r>
            <a:endParaRPr lang="zh-TW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90505" y="214884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已知車損與新損傷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可補拍特寫</a:t>
            </a:r>
            <a:endParaRPr lang="zh-TW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497324" y="2057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24" name="Shape 22"/>
          <p:cNvSpPr/>
          <p:nvPr/>
        </p:nvSpPr>
        <p:spPr>
          <a:xfrm>
            <a:off x="9735068" y="146304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99660" y="161848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確認取車</a:t>
            </a:r>
            <a:endParaRPr lang="zh-TW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99660" y="214884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進入用車頁</a:t>
            </a:r>
            <a:endParaRPr lang="zh-TW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429000"/>
            <a:ext cx="566928" cy="1645920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chemeClr val="bg1"/>
                </a:solidFill>
              </a:rPr>
              <a:t>還</a:t>
            </a:r>
            <a:endParaRPr lang="zh-TW" sz="1800" dirty="0"/>
          </a:p>
          <a:p>
            <a:pPr algn="ctr" indent="0" marL="0">
              <a:buNone/>
            </a:pPr>
            <a:r>
              <a:rPr lang="zh-TW" altLang="en-US" sz="1800" b="1" dirty="0">
                <a:solidFill>
                  <a:schemeClr val="bg1"/>
                </a:solidFill>
              </a:rPr>
              <a:t>車</a:t>
            </a:r>
            <a:endParaRPr lang="zh-TW" sz="1800" dirty="0"/>
          </a:p>
        </p:txBody>
      </p:sp>
      <p:sp>
        <p:nvSpPr>
          <p:cNvPr id="28" name="Shape 26"/>
          <p:cNvSpPr/>
          <p:nvPr/>
        </p:nvSpPr>
        <p:spPr>
          <a:xfrm>
            <a:off x="1298448" y="342900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463040" y="361188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4</a:t>
            </a:r>
            <a:endParaRPr lang="zh-TW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865376" y="358444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開始還車</a:t>
            </a:r>
            <a:endParaRPr lang="zh-TW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411480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按下就停止計費</a:t>
            </a:r>
            <a:endParaRPr lang="zh-TW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169859" y="4023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33" name="Shape 31"/>
          <p:cNvSpPr/>
          <p:nvPr/>
        </p:nvSpPr>
        <p:spPr>
          <a:xfrm>
            <a:off x="3407603" y="342900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72195" y="361188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4</a:t>
            </a:r>
            <a:endParaRPr lang="zh-TW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974531" y="358444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先拍車內</a:t>
            </a:r>
            <a:endParaRPr lang="zh-TW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3572195" y="411480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卡夾、前座、後座，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10 分鐘內完成</a:t>
            </a:r>
            <a:endParaRPr lang="zh-TW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279014" y="4023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38" name="Shape 36"/>
          <p:cNvSpPr/>
          <p:nvPr/>
        </p:nvSpPr>
        <p:spPr>
          <a:xfrm>
            <a:off x="5516758" y="342900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1350" y="361188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4</a:t>
            </a:r>
            <a:endParaRPr lang="zh-TW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83686" y="358444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下車鎖門</a:t>
            </a:r>
            <a:endParaRPr lang="zh-TW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81350" y="411480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關門後一鍵鎖門，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不用等照片上傳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388169" y="4023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43" name="Shape 41"/>
          <p:cNvSpPr/>
          <p:nvPr/>
        </p:nvSpPr>
        <p:spPr>
          <a:xfrm>
            <a:off x="7625913" y="342900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90505" y="361188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192841" y="358444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拍車外四角</a:t>
            </a:r>
            <a:endParaRPr lang="zh-TW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790505" y="411480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一樣有疊影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與即時檢查</a:t>
            </a:r>
            <a:endParaRPr lang="zh-TW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497324" y="4023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›</a:t>
            </a:r>
            <a:endParaRPr lang="zh-TW" sz="2000" dirty="0"/>
          </a:p>
        </p:txBody>
      </p:sp>
      <p:sp>
        <p:nvSpPr>
          <p:cNvPr id="48" name="Shape 46"/>
          <p:cNvSpPr/>
          <p:nvPr/>
        </p:nvSpPr>
        <p:spPr>
          <a:xfrm>
            <a:off x="9735068" y="3429000"/>
            <a:ext cx="1907987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899660" y="361188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9</a:t>
            </a:r>
            <a:endParaRPr lang="zh-TW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10301996" y="3584448"/>
            <a:ext cx="12496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停車位置</a:t>
            </a:r>
            <a:endParaRPr lang="zh-TW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9899660" y="4114800"/>
            <a:ext cx="163366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拍停車位置後送出；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確認單在歷史訂單</a:t>
            </a:r>
            <a:endParaRPr lang="zh-TW" sz="1200" dirty="0"/>
          </a:p>
        </p:txBody>
      </p:sp>
      <p:sp>
        <p:nvSpPr>
          <p:cNvPr id="52" name="Shape 50"/>
          <p:cNvSpPr/>
          <p:nvPr/>
        </p:nvSpPr>
        <p:spPr>
          <a:xfrm>
            <a:off x="548640" y="5349240"/>
            <a:ext cx="11094415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7240" y="53492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accent1"/>
                </a:solidFill>
              </a:rPr>
              <a:t>對應評論：</a:t>
            </a:r>
            <a:r>
              <a:rPr lang="zh-TW" altLang="en-US" sz="1350" dirty="0">
                <a:solidFill>
                  <a:schemeClr val="tx1"/>
                </a:solidFill>
              </a:rPr>
              <a:t>「還車鎖門後才要拍內部照片，這很不合理」（Google Play・2026/07/12）</a:t>
            </a:r>
            <a:endParaRPr lang="zh-TW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紅色數字為機制編號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解決方案設計｜營運流程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營運端：AI 先篩、系統派工，人只做確認</a:t>
            </a:r>
            <a:endParaRPr lang="en-US" sz="2800" dirty="0"/>
          </a:p>
        </p:txBody>
      </p:sp>
      <p:pic>
        <p:nvPicPr>
          <p:cNvPr id="4" name="Image 0" descr="營運後台預警頁示意：一次取還車一張卡片，含比對照片與確認、駁回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400800" cy="441825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6400800" cy="4418251"/>
          </a:xfrm>
          <a:prstGeom prst="rect">
            <a:avLst/>
          </a:prstGeom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972731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營運後台・預警頁（示意畫面，依實際介面製作）</a:t>
            </a:r>
            <a:endParaRPr lang="zh-TW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1417320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預警寫入後，自動開工單</a:t>
            </a:r>
            <a:endParaRPr lang="zh-TW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709928"/>
            <a:ext cx="4373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資料庫觸發，不需要人工轉單</a:t>
            </a:r>
            <a:endParaRPr lang="zh-TW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2057400"/>
          <a:ext cx="437357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371600"/>
                <a:gridCol w="103601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暫停出租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車內髒汙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清潔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7000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高嚴重度新車損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7000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缺卡片、遺留物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聯絡用戶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中低嚴重度車損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由營運確認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269480" y="3977640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營運人員只做確認</a:t>
            </a:r>
            <a:endParaRPr lang="zh-TW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269480" y="4389120"/>
            <a:ext cx="7772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確認</a:t>
            </a:r>
            <a:endParaRPr lang="zh-TW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183880" y="438912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記成已知車損，下一位取車時就看得到</a:t>
            </a:r>
            <a:endParaRPr lang="zh-TW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269480" y="4864608"/>
            <a:ext cx="7772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駁回</a:t>
            </a:r>
            <a:endParaRPr lang="zh-TW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183880" y="4864608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誤報時工單自動取消，車輛恢復出租</a:t>
            </a:r>
            <a:endParaRPr lang="zh-TW" sz="1350" dirty="0"/>
          </a:p>
        </p:txBody>
      </p:sp>
      <p:sp>
        <p:nvSpPr>
          <p:cNvPr id="15" name="Shape 11"/>
          <p:cNvSpPr/>
          <p:nvPr/>
        </p:nvSpPr>
        <p:spPr>
          <a:xfrm>
            <a:off x="7452360" y="53949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230" y="5497830"/>
            <a:ext cx="205740" cy="2057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5340096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一次取還車一張卡片，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最嚴重、等最久的排前面</a:t>
            </a:r>
            <a:endParaRPr lang="zh-TW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應用方法｜AI 的角色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手機端把關拍照求快，後台 AI 判讀車況求準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40233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463040"/>
            <a:ext cx="5745175" cy="40233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860804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69164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手機端｜即時檢查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要快：在瀏覽器內運算，拍的當下就回饋</a:t>
            </a:r>
            <a:endParaRPr lang="zh-TW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8880"/>
          <a:ext cx="4526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290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做法與實測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畫質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清晰度、亮度、過曝；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門檻用 1,200 張還車照片校準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車牌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PaddleOCR 每 0.5 秒讀車牌；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整張入鏡 92% 讀對，從未認錯車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角度、遠近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比對上次照片的車牌位置與大小；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站對 95% 通過，站錯 77% 抓到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光線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比上次暗很多就提醒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（主辦方照片約 6%）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22960" y="50474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accent1"/>
                </a:solidFill>
              </a:rPr>
              <a:t>角色：把不能用、比不起來的照片擋在源頭</a:t>
            </a:r>
            <a:endParaRPr lang="zh-TW" sz="1350" dirty="0"/>
          </a:p>
        </p:txBody>
      </p:sp>
      <p:sp>
        <p:nvSpPr>
          <p:cNvPr id="11" name="Shape 7"/>
          <p:cNvSpPr/>
          <p:nvPr/>
        </p:nvSpPr>
        <p:spPr>
          <a:xfrm>
            <a:off x="6172200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932" y="1860804"/>
            <a:ext cx="283464" cy="2834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903720" y="1691640"/>
            <a:ext cx="4556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後台｜Qwen 系列視覺語言模型（自架）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要準：用戶離開後，再仔細判讀</a:t>
            </a:r>
            <a:endParaRPr lang="zh-TW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514600"/>
          <a:ext cx="51965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59633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看哪裡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判讀什麼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車身四角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與比對基準找新車損：位置、類型、嚴重度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車內前座、後座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整潔度（乾淨／普通／髒汙）與遺留物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加油卡／停車卡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卡片是否在卡夾裡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用戶回報的損傷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核對用戶自己拍下的損傷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6172200" y="4315968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每張照片判讀 3 次，取多數決</a:t>
            </a:r>
            <a:endParaRPr lang="zh-TW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整潔度意見不一致時，取較髒的等級</a:t>
            </a:r>
            <a:endParaRPr lang="zh-TW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角度不同、無法比對的照片送人工，不當作沒問題</a:t>
            </a:r>
            <a:endParaRPr lang="zh-TW" sz="1350" dirty="0"/>
          </a:p>
        </p:txBody>
      </p:sp>
      <p:sp>
        <p:nvSpPr>
          <p:cNvPr id="16" name="Shape 10"/>
          <p:cNvSpPr/>
          <p:nvPr/>
        </p:nvSpPr>
        <p:spPr>
          <a:xfrm>
            <a:off x="548640" y="5669280"/>
            <a:ext cx="11094415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566928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accent1"/>
                </a:solidFill>
              </a:rPr>
              <a:t>設計原則：寧可多報，不要漏報。</a:t>
            </a:r>
            <a:r>
              <a:rPr lang="zh-TW" altLang="en-US" sz="1350" dirty="0">
                <a:solidFill>
                  <a:schemeClr val="tx1"/>
                </a:solidFill>
              </a:rPr>
              <a:t>漏掉一台髒車或新車損的代價，高於多一次人工確認；標記率在試點時實測並調整門檻。</a:t>
            </a:r>
            <a:endParaRPr lang="zh-TW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應用方法｜實測結果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主辦方 144 組照片：車損召回率 100%、誤報率 3%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51760" cy="1481328"/>
          </a:xfrm>
          <a:prstGeom prst="roundRect">
            <a:avLst>
              <a:gd name="adj" fmla="val 617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100%</a:t>
            </a:r>
            <a:endParaRPr lang="zh-TW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車損召回率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24 組有索賠的照片，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全部判為新車損</a:t>
            </a:r>
            <a:endParaRPr lang="zh-TW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27248"/>
            <a:ext cx="2651760" cy="1481328"/>
          </a:xfrm>
          <a:prstGeom prst="roundRect">
            <a:avLst>
              <a:gd name="adj" fmla="val 617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369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3%</a:t>
            </a:r>
            <a:endParaRPr lang="zh-TW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877056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誤報率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120 組沒有索賠的照片中，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被誤判的比例</a:t>
            </a:r>
            <a:endParaRPr lang="zh-TW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評估方式：同一套提示詞與多數決規則，每組判讀 3 次；搭配拍照時的角度審核與光線判斷。右側為實際判讀結果，車牌已遮蔽。</a:t>
            </a:r>
            <a:endParaRPr lang="zh-TW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1463040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0" descr="主辦方照片：取車時車身左前完好（車牌已遮蔽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00200"/>
            <a:ext cx="1090422" cy="19385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666744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14" name="Image 1" descr="主辦方照片：還車時車身左前嚴重受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166" y="1600200"/>
            <a:ext cx="1090422" cy="193852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12030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993892" y="1600200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車身左前・白天</a:t>
            </a:r>
            <a:endParaRPr lang="zh-TW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993892" y="1874520"/>
            <a:ext cx="1313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新車損</a:t>
            </a:r>
            <a:endParaRPr lang="zh-TW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993892" y="2350008"/>
            <a:ext cx="1313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3 次判讀都判定新車損：保險桿破裂、大燈破損、葉子板凹陷</a:t>
            </a:r>
            <a:endParaRPr lang="zh-TW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93892" y="3291840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0.98–0.99</a:t>
            </a:r>
            <a:endParaRPr lang="zh-TW" sz="1000" dirty="0"/>
          </a:p>
        </p:txBody>
      </p:sp>
      <p:sp>
        <p:nvSpPr>
          <p:cNvPr id="20" name="Shape 16"/>
          <p:cNvSpPr/>
          <p:nvPr/>
        </p:nvSpPr>
        <p:spPr>
          <a:xfrm>
            <a:off x="7673188" y="1463040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Image 2" descr="主辦方照片：夜間取車時車身左後完好（車牌已遮蔽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348" y="1600200"/>
            <a:ext cx="1090422" cy="193852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865212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23" name="Image 3" descr="主辦方照片：夜間還車時車身左後保險桿凹陷破裂（車牌已遮蔽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5634" y="1600200"/>
            <a:ext cx="1090422" cy="19385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10498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10192360" y="1600200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車身左後・夜間</a:t>
            </a:r>
            <a:endParaRPr lang="zh-TW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10192360" y="1874520"/>
            <a:ext cx="1313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新車損</a:t>
            </a:r>
            <a:endParaRPr lang="zh-TW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0192360" y="2350008"/>
            <a:ext cx="1313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3 次判讀都判定新車損：保險桿凹陷破裂、葉子板凹陷</a:t>
            </a:r>
            <a:endParaRPr lang="zh-TW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10192360" y="3291840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0.95–0.98</a:t>
            </a:r>
            <a:endParaRPr lang="zh-TW" sz="1000" dirty="0"/>
          </a:p>
        </p:txBody>
      </p:sp>
      <p:sp>
        <p:nvSpPr>
          <p:cNvPr id="29" name="Shape 23"/>
          <p:cNvSpPr/>
          <p:nvPr/>
        </p:nvSpPr>
        <p:spPr>
          <a:xfrm>
            <a:off x="3474720" y="3904488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0" name="Image 4" descr="主辦方照片：還車時前座乾淨（夜間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041648"/>
            <a:ext cx="1090422" cy="193852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666744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前座</a:t>
            </a:r>
            <a:endParaRPr lang="zh-TW" sz="950" dirty="0"/>
          </a:p>
        </p:txBody>
      </p:sp>
      <p:pic>
        <p:nvPicPr>
          <p:cNvPr id="32" name="Image 5" descr="主辦方照片：還車時後座座椅有碎屑、地墊有沙土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166" y="4041648"/>
            <a:ext cx="1090422" cy="193852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812030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後座</a:t>
            </a:r>
            <a:endParaRPr lang="zh-TW" sz="950" dirty="0"/>
          </a:p>
        </p:txBody>
      </p:sp>
      <p:sp>
        <p:nvSpPr>
          <p:cNvPr id="34" name="Text 26"/>
          <p:cNvSpPr txBox="1"/>
          <p:nvPr/>
        </p:nvSpPr>
        <p:spPr>
          <a:xfrm>
            <a:off x="5993892" y="4041648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還車車內・夜間</a:t>
            </a:r>
            <a:endParaRPr lang="zh-TW" sz="1050" dirty="0"/>
          </a:p>
        </p:txBody>
      </p:sp>
      <p:sp>
        <p:nvSpPr>
          <p:cNvPr id="35" name="Text 27"/>
          <p:cNvSpPr txBox="1"/>
          <p:nvPr/>
        </p:nvSpPr>
        <p:spPr>
          <a:xfrm>
            <a:off x="5993892" y="4315968"/>
            <a:ext cx="1313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前座 </a:t>
            </a:r>
            <a:r>
              <a:rPr lang="zh-TW" altLang="en-US" sz="1400" b="1" dirty="0">
                <a:solidFill>
                  <a:schemeClr val="accent5"/>
                </a:solidFill>
              </a:rPr>
              <a:t>乾淨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後座 </a:t>
            </a:r>
            <a:r>
              <a:rPr lang="zh-TW" altLang="en-US" sz="1400" b="1" dirty="0">
                <a:solidFill>
                  <a:schemeClr val="accent1"/>
                </a:solidFill>
              </a:rPr>
              <a:t>髒汙</a:t>
            </a:r>
            <a:endParaRPr lang="zh-TW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5993892" y="4974336"/>
            <a:ext cx="1313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後座座椅有碎屑、地墊有沙土，需要清潔</a:t>
            </a:r>
            <a:endParaRPr lang="zh-TW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5993892" y="5733288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</a:t>
            </a:r>
            <a:endParaRPr lang="zh-TW" sz="1000" dirty="0"/>
          </a:p>
        </p:txBody>
      </p:sp>
      <p:sp>
        <p:nvSpPr>
          <p:cNvPr id="38" name="Shape 30"/>
          <p:cNvSpPr/>
          <p:nvPr/>
        </p:nvSpPr>
        <p:spPr>
          <a:xfrm>
            <a:off x="7673188" y="3904488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9" name="Image 6" descr="主辦方照片：還車時前座儀表板有灰塵、腳踏墊有污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348" y="4041648"/>
            <a:ext cx="1090422" cy="193852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865212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前座</a:t>
            </a:r>
            <a:endParaRPr lang="zh-TW" sz="950" dirty="0"/>
          </a:p>
        </p:txBody>
      </p:sp>
      <p:pic>
        <p:nvPicPr>
          <p:cNvPr id="41" name="Image 7" descr="主辦方照片：還車時後座乾淨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5634" y="4041648"/>
            <a:ext cx="1090422" cy="1938528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010498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後座</a:t>
            </a:r>
            <a:endParaRPr lang="zh-TW" sz="950" dirty="0"/>
          </a:p>
        </p:txBody>
      </p:sp>
      <p:sp>
        <p:nvSpPr>
          <p:cNvPr id="43" name="Text 33"/>
          <p:cNvSpPr txBox="1"/>
          <p:nvPr/>
        </p:nvSpPr>
        <p:spPr>
          <a:xfrm>
            <a:off x="10192360" y="4041648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還車車內・白天</a:t>
            </a:r>
            <a:endParaRPr lang="zh-TW" sz="1050" dirty="0"/>
          </a:p>
        </p:txBody>
      </p:sp>
      <p:sp>
        <p:nvSpPr>
          <p:cNvPr id="44" name="Text 34"/>
          <p:cNvSpPr txBox="1"/>
          <p:nvPr/>
        </p:nvSpPr>
        <p:spPr>
          <a:xfrm>
            <a:off x="10192360" y="4315968"/>
            <a:ext cx="1313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前座 </a:t>
            </a:r>
            <a:r>
              <a:rPr lang="zh-TW" altLang="en-US" sz="1400" b="1" dirty="0">
                <a:solidFill>
                  <a:schemeClr val="accent1"/>
                </a:solidFill>
              </a:rPr>
              <a:t>髒汙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後座 </a:t>
            </a:r>
            <a:r>
              <a:rPr lang="zh-TW" altLang="en-US" sz="1400" b="1" dirty="0">
                <a:solidFill>
                  <a:schemeClr val="accent5"/>
                </a:solidFill>
              </a:rPr>
              <a:t>乾淨</a:t>
            </a:r>
            <a:endParaRPr lang="zh-TW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10192360" y="4974336"/>
            <a:ext cx="1313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儀表板與中控台有灰塵，腳踏墊有深色污漬</a:t>
            </a:r>
            <a:endParaRPr lang="zh-TW" sz="1150" dirty="0"/>
          </a:p>
        </p:txBody>
      </p:sp>
      <p:sp>
        <p:nvSpPr>
          <p:cNvPr id="46" name="Text 36"/>
          <p:cNvSpPr txBox="1"/>
          <p:nvPr/>
        </p:nvSpPr>
        <p:spPr>
          <a:xfrm>
            <a:off x="10192360" y="5733288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應用方法｜選用原因與迭代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選用原因：照片不外流、不按次付費，越用越準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" y="1659636"/>
            <a:ext cx="265176" cy="265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481328"/>
            <a:ext cx="5074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為什麼用視覺語言模型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不必先標註大量資料就能上線；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一個模型同時看車損、整潔、遺留物與卡片，並寫出白話理由</a:t>
            </a:r>
            <a:endParaRPr lang="zh-TW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" y="2738628"/>
            <a:ext cx="265176" cy="265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560320"/>
            <a:ext cx="5074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為什麼選 Qwen 系列開源模型自架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照片含車牌與車內影像，留在自己的環境；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每天約 8.2 萬次判讀，不按次付費；可用 iRent 的資料微調</a:t>
            </a:r>
            <a:endParaRPr lang="zh-TW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3685032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" y="3817620"/>
            <a:ext cx="265176" cy="265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3639312"/>
            <a:ext cx="5074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為什麼畫質檢查放在手機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上傳後才檢查，用戶已經離開；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在手機上運算即時回饋，也不佔伺服器資源</a:t>
            </a:r>
            <a:endParaRPr lang="zh-TW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4764024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" y="4896612"/>
            <a:ext cx="265176" cy="265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80160" y="4718304"/>
            <a:ext cx="5074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為什麼車牌辨識用 PaddleOCR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開源、模型約 15 MB，在瀏覽器內每 0.5 秒執行；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相機畫面不用上傳到伺服器</a:t>
            </a:r>
            <a:endParaRPr lang="zh-TW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6903720" y="1463040"/>
            <a:ext cx="4739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資料飛輪：營運每次確認，都是訓練資料</a:t>
            </a:r>
            <a:endParaRPr lang="zh-TW" sz="1500" dirty="0"/>
          </a:p>
        </p:txBody>
      </p:sp>
      <p:sp>
        <p:nvSpPr>
          <p:cNvPr id="17" name="Shape 11"/>
          <p:cNvSpPr/>
          <p:nvPr/>
        </p:nvSpPr>
        <p:spPr>
          <a:xfrm>
            <a:off x="8427568" y="1901952"/>
            <a:ext cx="1691640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27568" y="190195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營運確認或駁回</a:t>
            </a:r>
            <a:endParaRPr lang="zh-TW" sz="1300" dirty="0"/>
          </a:p>
        </p:txBody>
      </p:sp>
      <p:sp>
        <p:nvSpPr>
          <p:cNvPr id="19" name="Shape 13"/>
          <p:cNvSpPr/>
          <p:nvPr/>
        </p:nvSpPr>
        <p:spPr>
          <a:xfrm>
            <a:off x="9951415" y="2761488"/>
            <a:ext cx="1691640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951415" y="2761488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收集成資料集</a:t>
            </a:r>
            <a:endParaRPr lang="zh-TW" sz="1300" dirty="0"/>
          </a:p>
        </p:txBody>
      </p:sp>
      <p:sp>
        <p:nvSpPr>
          <p:cNvPr id="21" name="Shape 15"/>
          <p:cNvSpPr/>
          <p:nvPr/>
        </p:nvSpPr>
        <p:spPr>
          <a:xfrm>
            <a:off x="8427568" y="3621024"/>
            <a:ext cx="1691640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27568" y="362102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重新訓練模型</a:t>
            </a:r>
            <a:endParaRPr lang="zh-TW" sz="1300" dirty="0"/>
          </a:p>
        </p:txBody>
      </p:sp>
      <p:sp>
        <p:nvSpPr>
          <p:cNvPr id="23" name="Shape 17"/>
          <p:cNvSpPr/>
          <p:nvPr/>
        </p:nvSpPr>
        <p:spPr>
          <a:xfrm>
            <a:off x="6903720" y="2761488"/>
            <a:ext cx="1691640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903720" y="2761488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更新上線</a:t>
            </a:r>
            <a:endParaRPr lang="zh-TW" sz="1300" dirty="0"/>
          </a:p>
        </p:txBody>
      </p:sp>
      <p:sp>
        <p:nvSpPr>
          <p:cNvPr id="25" name="Shape 19"/>
          <p:cNvSpPr/>
          <p:nvPr/>
        </p:nvSpPr>
        <p:spPr>
          <a:xfrm>
            <a:off x="10164928" y="2139696"/>
            <a:ext cx="632308" cy="566928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 flipH="1">
            <a:off x="10164928" y="3291840"/>
            <a:ext cx="632308" cy="566928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 flipH="1" flipV="1">
            <a:off x="7749540" y="3291840"/>
            <a:ext cx="632308" cy="566928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 flipV="1">
            <a:off x="7749540" y="2139696"/>
            <a:ext cx="632308" cy="566928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3"/>
          <p:cNvSpPr txBox="1"/>
          <p:nvPr/>
        </p:nvSpPr>
        <p:spPr>
          <a:xfrm>
            <a:off x="8541868" y="27980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accent1"/>
                </a:solidFill>
              </a:rPr>
              <a:t>反覆迭代</a:t>
            </a:r>
            <a:endParaRPr lang="zh-TW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903720" y="4315968"/>
            <a:ext cx="4739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演進路線</a:t>
            </a:r>
            <a:endParaRPr lang="zh-TW" sz="1300" dirty="0"/>
          </a:p>
        </p:txBody>
      </p:sp>
      <p:sp>
        <p:nvSpPr>
          <p:cNvPr id="31" name="Shape 25"/>
          <p:cNvSpPr/>
          <p:nvPr/>
        </p:nvSpPr>
        <p:spPr>
          <a:xfrm>
            <a:off x="6903720" y="4645152"/>
            <a:ext cx="1488338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013448" y="4736592"/>
            <a:ext cx="12688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A｜VLM 先行</a:t>
            </a:r>
            <a:endParaRPr lang="zh-TW" sz="1400" dirty="0"/>
          </a:p>
          <a:p>
            <a:pPr indent="0" marL="0">
              <a:spcAft>
                <a:spcPts val="300"/>
              </a:spcAft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上線並累積</a:t>
            </a:r>
            <a:endParaRPr lang="zh-TW" sz="1400" dirty="0"/>
          </a:p>
          <a:p>
            <a:pPr indent="0" marL="0">
              <a:spcAft>
                <a:spcPts val="300"/>
              </a:spcAft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照片與確認結果</a:t>
            </a:r>
            <a:endParaRPr lang="zh-TW" sz="1400" dirty="0"/>
          </a:p>
        </p:txBody>
      </p:sp>
      <p:sp>
        <p:nvSpPr>
          <p:cNvPr id="33" name="Shape 27"/>
          <p:cNvSpPr/>
          <p:nvPr/>
        </p:nvSpPr>
        <p:spPr>
          <a:xfrm>
            <a:off x="8529218" y="4645152"/>
            <a:ext cx="1488338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8638946" y="4736592"/>
            <a:ext cx="12688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B｜累積標註</a:t>
            </a:r>
            <a:endParaRPr lang="zh-TW" sz="1400" dirty="0"/>
          </a:p>
          <a:p>
            <a:pPr indent="0" marL="0">
              <a:spcAft>
                <a:spcPts val="300"/>
              </a:spcAft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以營運確認、</a:t>
            </a:r>
            <a:endParaRPr lang="zh-TW" sz="1400" dirty="0"/>
          </a:p>
          <a:p>
            <a:pPr indent="0" marL="0">
              <a:spcAft>
                <a:spcPts val="300"/>
              </a:spcAft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駁回的案例當標籤</a:t>
            </a:r>
            <a:endParaRPr lang="zh-TW" sz="1400" dirty="0"/>
          </a:p>
        </p:txBody>
      </p:sp>
      <p:sp>
        <p:nvSpPr>
          <p:cNvPr id="35" name="Shape 29"/>
          <p:cNvSpPr/>
          <p:nvPr/>
        </p:nvSpPr>
        <p:spPr>
          <a:xfrm>
            <a:off x="10154717" y="4645152"/>
            <a:ext cx="1488338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10264445" y="4736592"/>
            <a:ext cx="12688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C｜自訓小模型</a:t>
            </a:r>
            <a:endParaRPr lang="zh-TW" sz="1400" dirty="0"/>
          </a:p>
          <a:p>
            <a:pPr indent="0" marL="0">
              <a:spcAft>
                <a:spcPts val="300"/>
              </a:spcAft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小模型先篩、</a:t>
            </a:r>
            <a:endParaRPr lang="zh-TW" sz="1400" dirty="0"/>
          </a:p>
          <a:p>
            <a:pPr indent="0" marL="0">
              <a:spcAft>
                <a:spcPts val="300"/>
              </a:spcAft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VLM 複核，</a:t>
            </a:r>
            <a:endParaRPr lang="zh-TW" sz="1400" dirty="0"/>
          </a:p>
          <a:p>
            <a:pPr indent="0" marL="0">
              <a:spcAft>
                <a:spcPts val="300"/>
              </a:spcAft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延遲與成本更低</a:t>
            </a:r>
            <a:endParaRPr lang="zh-TW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　獨特優勢與差異化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從事後存證變成即時處理，資料越用越準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528797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現行做法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0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拍照品質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送出後才發現拍糊，常被要求重拍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 0.5 秒檢查畫質、車牌與角度，當場重拍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拍攝角度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每次自由拍，前後角度不同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疊上上次照片，用車牌位置判斷站位與遠近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還車順序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鎖門後才要拍車內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先拍車內再鎖門，計費停在按下還車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檢查方式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靠人工查看，看不完也看得晚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每筆都看，人只確認 AI 標記的部分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責任歸屬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事後翻照片，說不清是誰造成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取車比上次、還車比取車，差異歸到對的人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髒車處理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下一位用戶取車才發現、客訴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還車後自動排清潔、暫停出租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用戶透明度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看不到判定結果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每次取還車都有確認單與營運確認狀態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4942332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iRent 專屬的資料</a:t>
            </a:r>
            <a:endParaRPr lang="zh-TW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營運確認的結果就是訓練資料，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用得越久越準</a:t>
            </a:r>
            <a:endParaRPr lang="zh-TW" sz="1150" dirty="0"/>
          </a:p>
        </p:txBody>
      </p:sp>
      <p:sp>
        <p:nvSpPr>
          <p:cNvPr id="10" name="Shape 6"/>
          <p:cNvSpPr/>
          <p:nvPr/>
        </p:nvSpPr>
        <p:spPr>
          <a:xfrm>
            <a:off x="3379394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62274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574" y="4942332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10914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每張照片都有比對基準</a:t>
            </a:r>
            <a:endParaRPr lang="zh-TW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562274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取車比上次、還車比取車，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爭議時有照片可查</a:t>
            </a:r>
            <a:endParaRPr lang="zh-TW" sz="1150" dirty="0"/>
          </a:p>
        </p:txBody>
      </p:sp>
      <p:sp>
        <p:nvSpPr>
          <p:cNvPr id="15" name="Shape 10"/>
          <p:cNvSpPr/>
          <p:nvPr/>
        </p:nvSpPr>
        <p:spPr>
          <a:xfrm>
            <a:off x="6210148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393028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4942332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41668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為 AI 設計的拍照流程</a:t>
            </a:r>
            <a:endParaRPr lang="zh-TW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6393028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疊影、車牌與角度檢查，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讓前後照片比得起來</a:t>
            </a:r>
            <a:endParaRPr lang="zh-TW" sz="1150" dirty="0"/>
          </a:p>
        </p:txBody>
      </p:sp>
      <p:sp>
        <p:nvSpPr>
          <p:cNvPr id="20" name="Shape 14"/>
          <p:cNvSpPr/>
          <p:nvPr/>
        </p:nvSpPr>
        <p:spPr>
          <a:xfrm>
            <a:off x="9040901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223781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8081" y="494233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72421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從判讀到派工的閉環</a:t>
            </a:r>
            <a:endParaRPr lang="zh-TW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9223781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預警自動開工單、暫停出租，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不需人工轉單</a:t>
            </a:r>
            <a:endParaRPr lang="zh-TW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10819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現行做法依主辦方提供的還車流程圖與 924 則顧客評論整理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　預期效益與落地評估｜預期效益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要每筆都檢查：人力從 10–20 人降到 1–2 人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227168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15888" y="1463040"/>
            <a:ext cx="5227168" cy="2148840"/>
          </a:xfrm>
          <a:prstGeom prst="roundRect">
            <a:avLst>
              <a:gd name="adj" fmla="val 425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12968" y="22174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9164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2"/>
                </a:solidFill>
              </a:rPr>
              <a:t>全靠人工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458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4,820 筆 × 每筆 1–2 分鐘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= 每天 80–160 工時</a:t>
            </a:r>
            <a:endParaRPr lang="zh-TW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458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tx1"/>
                </a:solidFill>
              </a:rPr>
              <a:t>≈ 10–20 人</a:t>
            </a:r>
            <a:endParaRPr lang="zh-TW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735928" y="169164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導入 iRent+</a:t>
            </a:r>
            <a:endParaRPr lang="zh-TW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35928" y="2084832"/>
            <a:ext cx="458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4,820 筆 × AI 標記 10% = 482 筆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× 每筆 1–2 分鐘 = 每天 8–16 工時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735928" y="2788920"/>
            <a:ext cx="458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≈ 1–2 人</a:t>
            </a:r>
            <a:endParaRPr lang="zh-TW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1"/>
                </a:solidFill>
              </a:rPr>
              <a:t>檢視工時約減少 90%，</a:t>
            </a:r>
            <a:r>
              <a:rPr lang="zh-TW" altLang="en-US" sz="1600" b="1" dirty="0">
                <a:solidFill>
                  <a:schemeClr val="tx1"/>
                </a:solidFill>
              </a:rPr>
              <a:t>人事成本每年約少 540–1,080 萬元（GPU 與導入成本見下頁）。</a:t>
            </a:r>
            <a:endParaRPr lang="zh-TW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416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實測誤報率 3%，10% 標記率是保守估計；就算標記率 20%，也只需 2–4 人（964 筆 × 1–2 分鐘 = 16–32 工時）。</a:t>
            </a:r>
            <a:endParaRPr lang="zh-TW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550–820 張／天</a:t>
            </a:r>
            <a:endParaRPr lang="zh-TW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不合格照片（約 2–3%）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當場重拍，不必事後補拍</a:t>
            </a:r>
            <a:endParaRPr lang="zh-TW" sz="1250" dirty="0"/>
          </a:p>
        </p:txBody>
      </p:sp>
      <p:sp>
        <p:nvSpPr>
          <p:cNvPr id="18" name="Shape 16"/>
          <p:cNvSpPr/>
          <p:nvPr/>
        </p:nvSpPr>
        <p:spPr>
          <a:xfrm>
            <a:off x="3379394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2274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自動暫停出租</a:t>
            </a:r>
            <a:endParaRPr lang="zh-TW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562274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髒車、嚴重車損自動排清潔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或檢修，不交給下一位</a:t>
            </a:r>
            <a:endParaRPr lang="zh-TW" sz="1250" dirty="0"/>
          </a:p>
        </p:txBody>
      </p:sp>
      <p:sp>
        <p:nvSpPr>
          <p:cNvPr id="21" name="Shape 19"/>
          <p:cNvSpPr/>
          <p:nvPr/>
        </p:nvSpPr>
        <p:spPr>
          <a:xfrm>
            <a:off x="6210148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93028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車損可追償</a:t>
            </a:r>
            <a:endParaRPr lang="zh-TW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393028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新車損對應到該筆租用，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有同角度前後照片為證</a:t>
            </a:r>
            <a:endParaRPr lang="zh-TW" sz="1250" dirty="0"/>
          </a:p>
        </p:txBody>
      </p:sp>
      <p:sp>
        <p:nvSpPr>
          <p:cNvPr id="24" name="Shape 22"/>
          <p:cNvSpPr/>
          <p:nvPr/>
        </p:nvSpPr>
        <p:spPr>
          <a:xfrm>
            <a:off x="9040901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23781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208 則</a:t>
            </a:r>
            <a:endParaRPr lang="zh-TW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223781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對應占 22.5% 的車況評論：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拍照、髒車、車損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估算假設：每筆人工檢視 1–2 分鐘、每人每天 8 小時、AI 標記率 10%（試點時以實測校正）、每人每年人事成本 60 萬元；不合格比例依 1,200 張真實還車照片的校準結果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　預期效益與落地評估｜落地評估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分四階段導入：先驗證、再試點、後擴大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1–2 個月</a:t>
            </a:r>
            <a:endParaRPr lang="zh-TW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擴大驗證</a:t>
            </a:r>
            <a:endParaRPr lang="zh-TW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主辦方 144 組已完成；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再用更多歷史照片與索賠紀錄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確認召回率與誤報率</a:t>
            </a:r>
            <a:endParaRPr lang="zh-TW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098216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10" name="Shape 8"/>
          <p:cNvSpPr/>
          <p:nvPr/>
        </p:nvSpPr>
        <p:spPr>
          <a:xfrm>
            <a:off x="3390824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76624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3–4 個月</a:t>
            </a:r>
            <a:endParaRPr lang="zh-TW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影子模式</a:t>
            </a:r>
            <a:endParaRPr lang="zh-TW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手機即時檢查先上線；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AI 在背景判讀、與人工比對，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不影響現有作業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0400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16" name="Shape 14"/>
          <p:cNvSpPr/>
          <p:nvPr/>
        </p:nvSpPr>
        <p:spPr>
          <a:xfrm>
            <a:off x="6233008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4176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18808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5–6 個月</a:t>
            </a:r>
            <a:endParaRPr lang="zh-TW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34176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區域試點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34176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選 1–2 個區域開啟自動工單、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暫停出租與確認單，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追蹤工時與客訴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82583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22" name="Shape 20"/>
          <p:cNvSpPr/>
          <p:nvPr/>
        </p:nvSpPr>
        <p:spPr>
          <a:xfrm>
            <a:off x="9075191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76359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60991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7 個月起</a:t>
            </a:r>
            <a:endParaRPr lang="zh-TW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76359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全面導入</a:t>
            </a:r>
            <a:endParaRPr lang="zh-TW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276359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擴大到全車隊；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每月以營運確認資料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重新訓練模型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566160"/>
            <a:ext cx="6172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落地條件與資源需求</a:t>
            </a:r>
            <a:endParaRPr lang="zh-TW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61722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303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伺服器自架 Qwen 系列模型；尖峰約每秒 1.8 次判讀。試點先用 1 台，實測吞吐量後再估全車隊台數與成本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拍照頁加入疊影、畫質與車牌檢查（模型約 15 MB）；後台串接預警與工單資料表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營運確認 1–2 人；導入期需 App、後台與模型工程人力，上線後併入既有團隊維運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歷史照片與索賠紀錄供驗證；照片留在內部環境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086600" y="3566160"/>
            <a:ext cx="4556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上線後追蹤的指標</a:t>
            </a:r>
            <a:endParaRPr lang="zh-TW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086600" y="3950208"/>
            <a:ext cx="45564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照片當場重拍率、事後被要求重拍次數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AI 標記率（目標 10% 以下）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新車損召回率、誤報率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髒車客訴與車損爭議客服件數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預警到工單完成的時間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營運每日檢視工時</a:t>
            </a:r>
            <a:endParaRPr lang="zh-TW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14476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尖峰推論量：16 時 2,144 張 × 每張 3 次 ÷ 3,600 秒 ≈ 1.8 次／秒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7　補充資料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資料來源、程式碼與概念原型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資料來源</a:t>
            </a:r>
            <a:endParaRPr lang="zh-TW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5440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主辦方照片上傳清單：2026/4/22，27,367 張、4,820 筆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主辦方〈0921_iRent 解題資源 README〉與還車流程圖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主辦方取還車照片 144 組（24 組有索賠）：評估與佐證圖片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顧客評論 924 則：Google Play、App Store、PTT、Dcard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旺得富理財網〈iRent共享車平台 用戶突破200萬大關〉，2026/2/6</a:t>
            </a:r>
            <a:endParaRPr lang="zh-TW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參考文獻與工具</a:t>
            </a:r>
            <a:endParaRPr lang="zh-TW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61104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Pech-Pacheco, J. L. et al. (2000). Diatom autofocusing in brightfield microscopy: a comparative study. ICPR.（Laplacian 清晰度量測）</a:t>
            </a:r>
            <a:endParaRPr lang="zh-TW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Kwon, W. et al. (2023). Efficient Memory Management for Large Language Model Serving with PagedAttention. SOSP.（vLLM 推論框架）</a:t>
            </a:r>
            <a:endParaRPr lang="zh-TW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PaddleOCR PP-OCRv4（PaddlePaddle 開源 OCR，手機端車牌辨識）</a:t>
            </a:r>
            <a:endParaRPr lang="zh-TW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4630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GitHub 程式碼</a:t>
            </a:r>
            <a:endParaRPr lang="zh-TW" sz="1400" dirty="0"/>
          </a:p>
        </p:txBody>
      </p:sp>
      <p:sp>
        <p:nvSpPr>
          <p:cNvPr id="9" name="Text 7">
            <a:hlinkClick r:id="rId1" tooltip=""/>
          </p:cNvPr>
          <p:cNvSpPr txBox="1"/>
          <p:nvPr/>
        </p:nvSpPr>
        <p:spPr>
          <a:xfrm>
            <a:off x="6309360" y="181051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github.com/Allenwang2004/irent</a:t>
            </a:r>
            <a:endParaRPr lang="zh-TW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21284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README.md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給評審：架構、功能與執行方式</a:t>
            </a:r>
            <a:endParaRPr lang="zh-TW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76148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mobile/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手機 App：取還車、拍照、即時檢查</a:t>
            </a:r>
            <a:endParaRPr lang="zh-TW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3101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web/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營運後台：預警、工單、車輛、評論</a:t>
            </a:r>
            <a:endParaRPr lang="zh-TW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385876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worker/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VLM 檢查服務</a:t>
            </a:r>
            <a:endParaRPr lang="zh-TW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40740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eval/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VLM 與車牌辨識的評估腳本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495604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supabase/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資料表與自動工單</a:t>
            </a:r>
            <a:endParaRPr lang="zh-TW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1463040"/>
            <a:ext cx="1904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概念原型</a:t>
            </a:r>
            <a:endParaRPr lang="zh-TW" sz="1400" dirty="0"/>
          </a:p>
        </p:txBody>
      </p:sp>
      <p:pic>
        <p:nvPicPr>
          <p:cNvPr id="17" name="Image 0" descr="營運後台預警頁示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1828800"/>
            <a:ext cx="1904695" cy="1314745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738360" y="1828800"/>
            <a:ext cx="1904695" cy="1314745"/>
          </a:xfrm>
          <a:prstGeom prst="rect">
            <a:avLst/>
          </a:prstGeom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38360" y="3234985"/>
            <a:ext cx="1904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網頁模擬 App 與營運後台，</a:t>
            </a:r>
            <a:endParaRPr lang="zh-TW" sz="1100" dirty="0"/>
          </a:p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實機操作見 3 分鐘說明影片</a:t>
            </a:r>
            <a:endParaRPr lang="zh-TW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iRent+</a:t>
            </a:r>
            <a:r>
              <a:rPr lang="zh-TW" altLang="en-US" sz="1800" b="1" dirty="0">
                <a:solidFill>
                  <a:schemeClr val="tx1"/>
                </a:solidFill>
              </a:rPr>
              <a:t>　利用 AI，打造全台最好的租車平台</a:t>
            </a:r>
            <a:endParaRPr lang="zh-TW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Rent Plus">
  <a:themeElements>
    <a:clrScheme name="iRent Plus">
      <a:dk1>
        <a:srgbClr val="141414"/>
      </a:dk1>
      <a:lt1>
        <a:srgbClr val="FFFFFF"/>
      </a:lt1>
      <a:dk2>
        <a:srgbClr val="454545"/>
      </a:dk2>
      <a:lt2>
        <a:srgbClr val="F5F5F5"/>
      </a:lt2>
      <a:accent1>
        <a:srgbClr val="D7000F"/>
      </a:accent1>
      <a:accent2>
        <a:srgbClr val="8C8C8C"/>
      </a:accent2>
      <a:accent3>
        <a:srgbClr val="E4E4E4"/>
      </a:accent3>
      <a:accent4>
        <a:srgbClr val="FCE9EA"/>
      </a:accent4>
      <a:accent5>
        <a:srgbClr val="1E8E3E"/>
      </a:accent5>
      <a:accent6>
        <a:srgbClr val="E8A100"/>
      </a:accent6>
      <a:hlink>
        <a:srgbClr val="D7000F"/>
      </a:hlink>
      <a:folHlink>
        <a:srgbClr val="8C8C8C"/>
      </a:folHlink>
    </a:clrScheme>
    <a:fontScheme name="iRent Plus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iRent+ AI 智能車況管家｜解決方案簡報</dc:title>
  <dc:subject>2026 和泰 AI 黑客松 iRent 企業挑戰題</dc:subject>
  <dc:creator>iRent+ 團隊</dc:creator>
  <cp:lastModifiedBy>iRent+ 團隊</cp:lastModifiedBy>
  <cp:revision>1</cp:revision>
  <dcterms:created xsi:type="dcterms:W3CDTF">2026-10-12T09:56:35Z</dcterms:created>
  <dcterms:modified xsi:type="dcterms:W3CDTF">2026-10-12T09:56:35Z</dcterms:modified>
</cp:coreProperties>
</file>