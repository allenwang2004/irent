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A67467D2-1536-60EC-0C6C-89A6F7E7499A}">
          <p14:sldIdLst>
            <p14:sldId id="256"/>
          </p14:sldIdLst>
        </p14:section>
        <p14:section name="提案摘要" id="{3008C7FB-78AA-155A-B8DE-16A11256AD09}">
          <p14:sldIdLst>
            <p14:sldId id="257"/>
          </p14:sldIdLst>
        </p14:section>
        <p14:section name="1. 提案概述" id="{1A2B1900-68D4-B2F0-D033-1A811A78DD81}">
          <p14:sldIdLst>
            <p14:sldId id="258"/>
          </p14:sldIdLst>
        </p14:section>
        <p14:section name="2. 目標對象與痛點分析" id="{589ADED2-83C1-DFA5-91C3-D99F23BC5E5A}">
          <p14:sldIdLst>
            <p14:sldId id="259"/>
            <p14:sldId id="260"/>
            <p14:sldId id="261"/>
          </p14:sldIdLst>
        </p14:section>
        <p14:section name="3. 解決方案設計" id="{F4B0859F-45D4-CD83-25FE-C0D1664A6F76}">
          <p14:sldIdLst>
            <p14:sldId id="262"/>
            <p14:sldId id="263"/>
            <p14:sldId id="264"/>
          </p14:sldIdLst>
        </p14:section>
        <p14:section name="4. AI 應用方法" id="{47094873-B767-AB62-997A-A118A595A876}">
          <p14:sldIdLst>
            <p14:sldId id="265"/>
            <p14:sldId id="266"/>
            <p14:sldId id="267"/>
          </p14:sldIdLst>
        </p14:section>
        <p14:section name="5. 獨特優勢與差異化" id="{E311C407-DC1B-A133-2D7B-B47E9E09C7D7}">
          <p14:sldIdLst>
            <p14:sldId id="268"/>
          </p14:sldIdLst>
        </p14:section>
        <p14:section name="6. 預期效益與落地評估" id="{9CBBC8C7-9A1F-88F3-3F30-4777D23FA61D}">
          <p14:sldIdLst>
            <p14:sldId id="269"/>
            <p14:sldId id="270"/>
          </p14:sldIdLst>
        </p14:section>
        <p14:section name="7. 補充資料" id="{2B2E700C-9DF9-7CFD-1393-2761E56E075E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45" d="100"/>
          <a:sy n="145" d="100"/>
        </p:scale>
        <p:origin x="-168" y="-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照片數</c:v>
                </c:pt>
              </c:strCache>
            </c:strRef>
          </c:tx>
          <c:spPr>
            <a:solidFill>
              <a:srgbClr val="C9C9C9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9C9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47D-2F48-82C6-FCFA3DB752B7}"/>
              </c:ext>
            </c:extLst>
          </c:dPt>
          <c:dPt>
            <c:idx val="1"/>
            <c:invertIfNegative val="0"/>
            <c:bubble3D val="0"/>
            <c:spPr>
              <a:solidFill>
                <a:srgbClr val="C9C9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47D-2F48-82C6-FCFA3DB752B7}"/>
              </c:ext>
            </c:extLst>
          </c:dPt>
          <c:dPt>
            <c:idx val="2"/>
            <c:invertIfNegative val="0"/>
            <c:bubble3D val="0"/>
            <c:spPr>
              <a:solidFill>
                <a:srgbClr val="C9C9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47D-2F48-82C6-FCFA3DB752B7}"/>
              </c:ext>
            </c:extLst>
          </c:dPt>
          <c:dPt>
            <c:idx val="3"/>
            <c:invertIfNegative val="0"/>
            <c:bubble3D val="0"/>
            <c:spPr>
              <a:solidFill>
                <a:srgbClr val="C9C9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47D-2F48-82C6-FCFA3DB752B7}"/>
              </c:ext>
            </c:extLst>
          </c:dPt>
          <c:dPt>
            <c:idx val="4"/>
            <c:invertIfNegative val="0"/>
            <c:bubble3D val="0"/>
            <c:spPr>
              <a:solidFill>
                <a:srgbClr val="C9C9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47D-2F48-82C6-FCFA3DB752B7}"/>
              </c:ext>
            </c:extLst>
          </c:dPt>
          <c:dPt>
            <c:idx val="5"/>
            <c:invertIfNegative val="0"/>
            <c:bubble3D val="0"/>
            <c:spPr>
              <a:solidFill>
                <a:srgbClr val="C9C9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47D-2F48-82C6-FCFA3DB752B7}"/>
              </c:ext>
            </c:extLst>
          </c:dPt>
          <c:dPt>
            <c:idx val="6"/>
            <c:invertIfNegative val="0"/>
            <c:bubble3D val="0"/>
            <c:spPr>
              <a:solidFill>
                <a:srgbClr val="C9C9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47D-2F48-82C6-FCFA3DB752B7}"/>
              </c:ext>
            </c:extLst>
          </c:dPt>
          <c:dPt>
            <c:idx val="7"/>
            <c:invertIfNegative val="0"/>
            <c:bubble3D val="0"/>
            <c:spPr>
              <a:solidFill>
                <a:srgbClr val="C9C9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047D-2F48-82C6-FCFA3DB752B7}"/>
              </c:ext>
            </c:extLst>
          </c:dPt>
          <c:dPt>
            <c:idx val="8"/>
            <c:invertIfNegative val="0"/>
            <c:bubble3D val="0"/>
            <c:spPr>
              <a:solidFill>
                <a:srgbClr val="C9C9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047D-2F48-82C6-FCFA3DB752B7}"/>
              </c:ext>
            </c:extLst>
          </c:dPt>
          <c:dPt>
            <c:idx val="9"/>
            <c:invertIfNegative val="0"/>
            <c:bubble3D val="0"/>
            <c:spPr>
              <a:solidFill>
                <a:srgbClr val="C9C9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047D-2F48-82C6-FCFA3DB752B7}"/>
              </c:ext>
            </c:extLst>
          </c:dPt>
          <c:dPt>
            <c:idx val="10"/>
            <c:invertIfNegative val="0"/>
            <c:bubble3D val="0"/>
            <c:spPr>
              <a:solidFill>
                <a:srgbClr val="C9C9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047D-2F48-82C6-FCFA3DB752B7}"/>
              </c:ext>
            </c:extLst>
          </c:dPt>
          <c:dPt>
            <c:idx val="11"/>
            <c:invertIfNegative val="0"/>
            <c:bubble3D val="0"/>
            <c:spPr>
              <a:solidFill>
                <a:srgbClr val="C9C9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047D-2F48-82C6-FCFA3DB752B7}"/>
              </c:ext>
            </c:extLst>
          </c:dPt>
          <c:dPt>
            <c:idx val="12"/>
            <c:invertIfNegative val="0"/>
            <c:bubble3D val="0"/>
            <c:spPr>
              <a:solidFill>
                <a:srgbClr val="C9C9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047D-2F48-82C6-FCFA3DB752B7}"/>
              </c:ext>
            </c:extLst>
          </c:dPt>
          <c:dPt>
            <c:idx val="13"/>
            <c:invertIfNegative val="0"/>
            <c:bubble3D val="0"/>
            <c:spPr>
              <a:solidFill>
                <a:srgbClr val="C9C9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047D-2F48-82C6-FCFA3DB752B7}"/>
              </c:ext>
            </c:extLst>
          </c:dPt>
          <c:dPt>
            <c:idx val="14"/>
            <c:invertIfNegative val="0"/>
            <c:bubble3D val="0"/>
            <c:spPr>
              <a:solidFill>
                <a:srgbClr val="C9C9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D-047D-2F48-82C6-FCFA3DB752B7}"/>
              </c:ext>
            </c:extLst>
          </c:dPt>
          <c:dPt>
            <c:idx val="15"/>
            <c:invertIfNegative val="0"/>
            <c:bubble3D val="0"/>
            <c:spPr>
              <a:solidFill>
                <a:srgbClr val="C9C9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F-047D-2F48-82C6-FCFA3DB752B7}"/>
              </c:ext>
            </c:extLst>
          </c:dPt>
          <c:dPt>
            <c:idx val="16"/>
            <c:invertIfNegative val="0"/>
            <c:bubble3D val="0"/>
            <c:spPr>
              <a:solidFill>
                <a:srgbClr val="D7000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1-047D-2F48-82C6-FCFA3DB752B7}"/>
              </c:ext>
            </c:extLst>
          </c:dPt>
          <c:dPt>
            <c:idx val="17"/>
            <c:invertIfNegative val="0"/>
            <c:bubble3D val="0"/>
            <c:spPr>
              <a:solidFill>
                <a:srgbClr val="EF9A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3-047D-2F48-82C6-FCFA3DB752B7}"/>
              </c:ext>
            </c:extLst>
          </c:dPt>
          <c:dPt>
            <c:idx val="18"/>
            <c:invertIfNegative val="0"/>
            <c:bubble3D val="0"/>
            <c:spPr>
              <a:solidFill>
                <a:srgbClr val="EF9A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5-047D-2F48-82C6-FCFA3DB752B7}"/>
              </c:ext>
            </c:extLst>
          </c:dPt>
          <c:dPt>
            <c:idx val="19"/>
            <c:invertIfNegative val="0"/>
            <c:bubble3D val="0"/>
            <c:spPr>
              <a:solidFill>
                <a:srgbClr val="EF9A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7-047D-2F48-82C6-FCFA3DB752B7}"/>
              </c:ext>
            </c:extLst>
          </c:dPt>
          <c:dPt>
            <c:idx val="20"/>
            <c:invertIfNegative val="0"/>
            <c:bubble3D val="0"/>
            <c:spPr>
              <a:solidFill>
                <a:srgbClr val="EF9A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9-047D-2F48-82C6-FCFA3DB752B7}"/>
              </c:ext>
            </c:extLst>
          </c:dPt>
          <c:dPt>
            <c:idx val="21"/>
            <c:invertIfNegative val="0"/>
            <c:bubble3D val="0"/>
            <c:spPr>
              <a:solidFill>
                <a:srgbClr val="EF9A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B-047D-2F48-82C6-FCFA3DB752B7}"/>
              </c:ext>
            </c:extLst>
          </c:dPt>
          <c:dPt>
            <c:idx val="22"/>
            <c:invertIfNegative val="0"/>
            <c:bubble3D val="0"/>
            <c:spPr>
              <a:solidFill>
                <a:srgbClr val="EF9A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D-047D-2F48-82C6-FCFA3DB752B7}"/>
              </c:ext>
            </c:extLst>
          </c:dPt>
          <c:dPt>
            <c:idx val="23"/>
            <c:invertIfNegative val="0"/>
            <c:bubble3D val="0"/>
            <c:spPr>
              <a:solidFill>
                <a:srgbClr val="EF9A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F-047D-2F48-82C6-FCFA3DB752B7}"/>
              </c:ext>
            </c:extLst>
          </c:dPt>
          <c:cat>
            <c:strRef>
              <c:f>Sheet1!$A$2:$A$25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1126</c:v>
                </c:pt>
                <c:pt idx="1">
                  <c:v>1019</c:v>
                </c:pt>
                <c:pt idx="2">
                  <c:v>704</c:v>
                </c:pt>
                <c:pt idx="3">
                  <c:v>466</c:v>
                </c:pt>
                <c:pt idx="4">
                  <c:v>345</c:v>
                </c:pt>
                <c:pt idx="5">
                  <c:v>316</c:v>
                </c:pt>
                <c:pt idx="6">
                  <c:v>280</c:v>
                </c:pt>
                <c:pt idx="7">
                  <c:v>390</c:v>
                </c:pt>
                <c:pt idx="8">
                  <c:v>638</c:v>
                </c:pt>
                <c:pt idx="9">
                  <c:v>611</c:v>
                </c:pt>
                <c:pt idx="10">
                  <c:v>664</c:v>
                </c:pt>
                <c:pt idx="11">
                  <c:v>676</c:v>
                </c:pt>
                <c:pt idx="12">
                  <c:v>1068</c:v>
                </c:pt>
                <c:pt idx="13">
                  <c:v>1329</c:v>
                </c:pt>
                <c:pt idx="14">
                  <c:v>1361</c:v>
                </c:pt>
                <c:pt idx="15">
                  <c:v>1619</c:v>
                </c:pt>
                <c:pt idx="16">
                  <c:v>2144</c:v>
                </c:pt>
                <c:pt idx="17">
                  <c:v>1988</c:v>
                </c:pt>
                <c:pt idx="18">
                  <c:v>1761</c:v>
                </c:pt>
                <c:pt idx="19">
                  <c:v>1584</c:v>
                </c:pt>
                <c:pt idx="20">
                  <c:v>1510</c:v>
                </c:pt>
                <c:pt idx="21">
                  <c:v>1977</c:v>
                </c:pt>
                <c:pt idx="22">
                  <c:v>2068</c:v>
                </c:pt>
                <c:pt idx="23">
                  <c:v>1674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047D-2F48-82C6-FCFA3DB752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8C8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00"/>
        </c:scaling>
        <c:delete val="0"/>
        <c:axPos val="l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8C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8887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封面。iRent+：AI 智能車況管家，團隊 pp。一句話：拍照當場把關、AI 前後比對、問題自動派工，讓每天 2.7 萬張取還車照片，從需要 10–20 人檢視變成 1–2 人確認。右邊是主辦方資料集的實際判讀：取車時完好、還車時左前受損，AI 三次判讀都判定為新車損。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提案摘要（不計入 15 頁）。欄位名稱與順序依官方範本。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提案概述。核心價值：照片不再只是存檔，而是拍的當下就把關、送出後由 AI 比對、發現問題自動派工。目標：人力 10–20 人降到 1–2 人、不合格照片當場重拍；主辦方 144 組照片實測，車損召回率 100%、誤報率 3%。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標對象：租車用戶與營運團隊。兩者都卡在車況照片。現行流程（依主辦方還車流程圖）：拍卡夾、車內、車身四角、其他車損，送出後由後台人員查看。三個斷點：拍照時沒人檢查、送出後人工看不完、出問題時前後照片對不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營運端痛點。主辦方資料：一天 27,367 張照片、4,820 筆取還車；16 點尖峰 2,144 張，每 1.7 秒一張；下午 4 點到午夜每小時都超過 1,500 張。若每筆都人工看，以 1–2 分鐘計，一天 80–160 工時，約 10–20 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用戶端痛點。我們做了評論管理後台，收集 Google Play、App Store、PTT、Dcard 共 924 則評論（同一篇只算一次），依關鍵字規則分成 7 類；其中 208 則（22.5%）跟車況有關。拍照流程類 145 則、髒亂類 60 則、車損類 49 則，常見的抱怨是拍照耗時常被要求重拍、接到上一位留下的髒車、車損賠償說不清責任。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整體架構：三個環節、9 個機制，補上三個斷點。拍照時（手機）：已知車損提前告知、疊影對齊、即時檢查畫質車牌角度、還車先拍車內再鎖門。送出後（後台 AI）：取車比上次、還車比取車；每張判讀三次取多數決。發現問題後：自動開工單與暫停出租、營運確認或駁回（嚴重車損先送修，小損傷記成已知車損後恢復出租，誤報駁回）、用戶確認單。9 個機制都已在原型實作。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取還車流程。取車：先看到這台車已記錄的損傷；拍照時疊著上一次同角度的照片，手機每 0.5 秒檢查畫質、讀車牌判斷角度與遠近、比對光線，不合格當場重拍；可補拍損傷特寫後確認取車。還車：按開始還車，計費就停止；5 分鐘內先拍卡夾和前後座，下車關門後鎖門，鎖門不用等照片上傳；再拍車外四角與停車位置。之後在歷史訂單看得到取還車確認單。這直接回應評論裡「鎖門後才要拍內部照片」的抱怨。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營運流程。VLM 檢查後寫入預警，資料庫自動開工單：車內髒汙排清潔、高嚴重度新車損排檢修，兩者都暫停出租；缺卡片或遺留物排聯絡用戶。營運人員在預警頁一次處理一筆取還車，最嚴重、等最久的排前面。確認是新車損時：嚴重的維持檢修工單，修好前暫停出租；小損傷恢復出租，並記成這台車的已知車損，下一位取車時會被提醒拍下來。駁回誤報時，工單自動取消、車輛恢復出租。左邊與右下都是原型的實機畫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手機端把關拍照、後台 AI 判讀車況。手機端要快，全部在手機上運算（App 內建模型，原型以網頁版驗證）：畫質（清晰度、亮度、過曝，門檻用 1,200 張還車照片校準）；車牌（PaddleOCR 每 0.5 秒讀一次，整張車牌入鏡時 92% 讀對，從未認成別台車）；角度與遠近（比對上一張同角度照片的車牌位置與大小，站對的 95% 通過、站錯的 77% 被抓到）；光線（比上一張暗很多就提醒）。後台要準：自架 Qwen 系列視覺語言模型，看車身四角、車內、卡夾、核對用戶回報；每張判讀 3 次取多數決，整潔度意見不一取較髒，無法比對的送人工。選用原因：VLM 不必先標註大量資料；自架讓照片不外流、每天約 8.2 萬次判讀不按次付費；檢查放手機才能在用戶離開前回饋；車牌用開源 PaddleOCR，約 15 MB，在手機上執行。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實測結果。用主辦方提供的 144 組取還車照片評估（24 組有索賠、120 組沒有），搭配拍照時的角度審核與光線判斷：有索賠的 24 組全部判為新車損，召回率 100%；沒有索賠的 120 組，誤報率 3%。右邊是實際判讀：白天左前、夜間左後的車損，三次判讀都一致；車內照片能分出乾淨與髒汙，並說出髒在哪裡。照片來自主辦方資料集，車牌已遮蔽。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導入後的系統架構。用戶手機：iRent App 內嵌 iRent+ 拍照模組，疊影對齊、畫質、車牌 OCR、角度遠近與光線都在手機上運算，不合格當場重拍。iRent 既有系統：會員與訂單、計費（按下還車即停）、車機遠端開鎖鎖門、照片儲存，以 API 與事件串接。iRent+ 平台部署在 iRent 自己的環境：車況資料庫記錄取還車、判讀、預警、工單與已知車損，用資料庫觸發器自動開工單、暫停出租；判讀任務佇列讓多台判讀服務不重複領取、失敗自動重試；自架 GPU 判讀服務跑 Qwen 系列視覺語言模型（vLLM），每張照片判讀 3 次取多數決，結果寫回資料庫。營運端：營運後台處理預警的確認或駁回、工單、車輛與已知車損、顧客評論；通知與派工把確認單推給用戶、把清潔檢修派給廠商。容量：每天約 8.2 萬次判讀、尖峰約每秒 1.8 次，加機器即可擴充。營運每次確認或駁回都累積成標註資料，重新訓練、離線評估召回率與誤報率，影子模式驗證後更新判讀服務。綠色標籤是原型已經在跑的部分；虛線是導入時要串接的 iRent 既有系統。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與現行做法比較：照片從事後存證，變成拍的當下把關、送出後立即比對、發現問題自動處理；還車不用鎖門後再開門拍車內；人從每筆都看，變成只確認 AI 標記的部分；用戶每次都有確認單。難以複製的地方：營運確認的結果是只有 iRent 能累積的訓練資料；每張照片都有比對基準；拍照流程是為 AI 設計的；從判讀到派工是閉環。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預期效益。若每筆取還車都要人工看，一天 80–160 工時、約 10–20 人；導入後人只確認 AI 標記的部分，以 10% 估算是 482 筆、8–16 工時、約 1–2 人，工時減少約 90%，以每人每年 60 萬元估約少 540–1,080 萬元人事成本（GPU 與導入成本另計）。實測誤報率 3%，所以 10% 是保守估計；就算 20% 也只需 2–4 人。用戶端：每天約 550–820 張不合格照片當場重拍；髒車與嚴重車損自動暫停出租；新車損對應到該筆租用；直接對應 208 則與車況有關的評論。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落地評估。四階段：第 1–2 個月擴大驗證（主辦方 144 組已完成，召回率 100%、誤報率 3%，再用更多歷史照片確認）；第 3–4 個月影子模式，App 拍照模組先上線，判讀服務只寫預警、不派工，與人工結果比對；第 5–6 個月區域試點，開啟自動工單、暫停出租與確認單，串接派工與推播；第 7 個月起依實測吞吐量擴充 GPU 到全車隊，資料回訓迴圈每月重新訓練。資源：GPU 伺服器自架模型（尖峰約每秒 1.8 次判讀，試點先 1 台）、App 拍照頁（車牌模型約 15 MB）與後台串接、營運確認 1–2 人；導入期需要工程人力，上線後併入既有團隊維運。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補充資料：資料來源、GitHub 程式碼（github.com/Allenwang2004/irent，README 有給評審的說明）與概念原型。程式碼：mobile 手機 App、web 營運後台、worker VLM 檢查服務、eval 評估腳本、supabase 資料表與自動工單。右邊是原型的實機畫面：營運後台預警頁、手機選擇車輛頁（整備中的車不能借）與還車確認單。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</a:rPr>
              <a:t>iRent+｜AI 智能車況管家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28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</a:rPr>
              <a:t>iRent+｜AI 智能車況管家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3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g"/><Relationship Id="rId3" Type="http://schemas.openxmlformats.org/officeDocument/2006/relationships/image" Target="../media/image1.jpg"/><Relationship Id="rId7" Type="http://schemas.openxmlformats.org/officeDocument/2006/relationships/image" Target="../media/image2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10" Type="http://schemas.openxmlformats.org/officeDocument/2006/relationships/image" Target="../media/image23.jpg"/><Relationship Id="rId4" Type="http://schemas.openxmlformats.org/officeDocument/2006/relationships/image" Target="../media/image2.jpg"/><Relationship Id="rId9" Type="http://schemas.openxmlformats.org/officeDocument/2006/relationships/image" Target="../media/image22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llenwang2004/irent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28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accent2"/>
                </a:solidFill>
              </a:rPr>
              <a:t>2026 和泰 AI 黑客松｜iRent 企業挑戰題</a:t>
            </a:r>
            <a:endParaRPr lang="zh-TW" sz="14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41148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00200"/>
            <a:ext cx="64008" cy="4114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0" y="1600200"/>
            <a:ext cx="41148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19672" y="1600200"/>
            <a:ext cx="64008" cy="4114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4050792"/>
            <a:ext cx="41148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703320"/>
            <a:ext cx="64008" cy="4114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4050792"/>
            <a:ext cx="411480" cy="640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3703320"/>
            <a:ext cx="64008" cy="4114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1810512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8800" b="1" dirty="0">
                <a:solidFill>
                  <a:schemeClr val="accent1"/>
                </a:solidFill>
              </a:rPr>
              <a:t>iRent+</a:t>
            </a:r>
            <a:endParaRPr lang="zh-TW" sz="88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127248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3600" b="1" dirty="0">
                <a:solidFill>
                  <a:schemeClr val="tx1"/>
                </a:solidFill>
              </a:rPr>
              <a:t>AI 智能車況管家</a:t>
            </a:r>
            <a:endParaRPr lang="zh-TW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4348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zh-TW" altLang="en-US" sz="1700" dirty="0">
                <a:solidFill>
                  <a:schemeClr val="tx2"/>
                </a:solidFill>
              </a:rPr>
              <a:t>拍照當場把關、AI 前後比對、問題自動派工</a:t>
            </a:r>
            <a:endParaRPr lang="zh-TW" sz="1700" dirty="0"/>
          </a:p>
          <a:p>
            <a:pPr marL="0" indent="0">
              <a:spcAft>
                <a:spcPts val="600"/>
              </a:spcAft>
              <a:buNone/>
            </a:pPr>
            <a:r>
              <a:rPr lang="zh-TW" altLang="en-US" sz="1700" dirty="0">
                <a:solidFill>
                  <a:schemeClr val="tx2"/>
                </a:solidFill>
              </a:rPr>
              <a:t>每天 2.7 萬張車況照片，從 10–20 人檢視變成 1–2 人確認</a:t>
            </a:r>
            <a:endParaRPr lang="zh-TW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943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solidFill>
                  <a:schemeClr val="accent2"/>
                </a:solidFill>
              </a:rPr>
              <a:t>團隊名稱：pp</a:t>
            </a:r>
            <a:endParaRPr lang="zh-TW" sz="1400" dirty="0"/>
          </a:p>
        </p:txBody>
      </p:sp>
      <p:pic>
        <p:nvPicPr>
          <p:cNvPr id="15" name="Image 0" descr="主辦方照片：取車時車身左前完好（車牌已遮蔽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914400"/>
            <a:ext cx="2211705" cy="393192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7141464" y="969264"/>
            <a:ext cx="457200" cy="219456"/>
          </a:xfrm>
          <a:prstGeom prst="roundRect">
            <a:avLst>
              <a:gd name="adj" fmla="val 20833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950" b="1" dirty="0">
                <a:solidFill>
                  <a:schemeClr val="bg1"/>
                </a:solidFill>
              </a:rPr>
              <a:t>取車</a:t>
            </a:r>
            <a:endParaRPr lang="zh-TW" sz="950" dirty="0"/>
          </a:p>
        </p:txBody>
      </p:sp>
      <p:pic>
        <p:nvPicPr>
          <p:cNvPr id="17" name="Image 1" descr="主辦方照片：還車時車身左前嚴重受損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9745" y="914400"/>
            <a:ext cx="2211705" cy="393192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444609" y="969264"/>
            <a:ext cx="457200" cy="219456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950" b="1" dirty="0">
                <a:solidFill>
                  <a:schemeClr val="bg1"/>
                </a:solidFill>
              </a:rPr>
              <a:t>還車</a:t>
            </a:r>
            <a:endParaRPr lang="zh-TW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7086600" y="5010912"/>
            <a:ext cx="451485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AI 比對：左前新車損・3 次判讀都一致</a:t>
            </a:r>
            <a:endParaRPr lang="zh-TW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7086600" y="5486400"/>
            <a:ext cx="45148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000" dirty="0">
                <a:solidFill>
                  <a:schemeClr val="accent2"/>
                </a:solidFill>
              </a:rPr>
              <a:t>主辦方資料集實測，車牌已遮蔽</a:t>
            </a:r>
            <a:endParaRPr lang="zh-TW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提案摘要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444519"/>
              </p:ext>
            </p:extLst>
          </p:nvPr>
        </p:nvGraphicFramePr>
        <p:xfrm>
          <a:off x="492980" y="1236428"/>
          <a:ext cx="11205733" cy="4599432"/>
        </p:xfrm>
        <a:graphic>
          <a:graphicData uri="http://schemas.openxmlformats.org/drawingml/2006/table">
            <a:tbl>
              <a:tblPr/>
              <a:tblGrid>
                <a:gridCol w="1744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0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團隊名稱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pp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產品/服務名稱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iRent+ AI 智能車況管家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企業挑戰題目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iRent｜運用 AI 打造 iRent 智能車況管家：優化租還車體驗與營運效率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目標對象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iRent 自助取還車的租車用戶，以及負責檢視車況、安排清潔與檢修的營運團隊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解決方案設計重點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(至多3項)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 </a:t>
                      </a:r>
                      <a:r>
                        <a:rPr lang="en-US" sz="1300" dirty="0" err="1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拍照當下就把關：疊影對齊上次照片</a:t>
                      </a:r>
                      <a:r>
                        <a:rPr lang="en-US" sz="13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，</a:t>
                      </a:r>
                      <a:r>
                        <a:rPr lang="zh-TW" altLang="en-US" sz="13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手機每 </a:t>
                      </a:r>
                      <a:r>
                        <a:rPr lang="en-US" altLang="zh-TW" sz="13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0.5 </a:t>
                      </a:r>
                      <a:r>
                        <a:rPr lang="zh-TW" altLang="en-US" sz="13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秒辨識車牌、檢查畫質與站位，不合格當場重拍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2. 送出後比對：後台 VLM 比對前後照片，判讀新車損、車內整潔、遺留物與卡片，三次判讀取多數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 </a:t>
                      </a:r>
                      <a:r>
                        <a:rPr lang="en-US" sz="1300" dirty="0" err="1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發現問題自動處理：自動開工單、暫停出租；嚴重車損先送修，小損傷記錄後恢復出租</a:t>
                      </a:r>
                      <a:r>
                        <a:rPr lang="en-US" sz="13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；</a:t>
                      </a:r>
                      <a:r>
                        <a:rPr lang="zh-TW" altLang="en-US" sz="13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用戶可查看 </a:t>
                      </a:r>
                      <a:r>
                        <a:rPr lang="en-US" sz="13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 </a:t>
                      </a:r>
                      <a:r>
                        <a:rPr lang="zh-TW" altLang="en-US" sz="13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判讀與營運確認結果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運用到的AI技術、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服務或模型等資源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Qwen 系列開源視覺語言模型（以 vLLM 自架推論，照片不外流）；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手機端：PaddleOCR PP-OCRv4 車牌辨識（App 用 ONNX Runtime Mobile，原型以 onnxruntime-web </a:t>
                      </a:r>
                      <a:r>
                        <a:rPr lang="en-US" sz="1300" dirty="0" err="1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驗證</a:t>
                      </a:r>
                      <a:r>
                        <a:rPr lang="en-US" sz="13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）</a:t>
                      </a:r>
                      <a:br>
                        <a:rPr lang="en-US" sz="13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</a:br>
                      <a:r>
                        <a:rPr lang="en-US" sz="1300" dirty="0" err="1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與畫質檢查，都在手機上運算</a:t>
                      </a:r>
                      <a:r>
                        <a:rPr lang="en-US" sz="13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；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架構：App 拍照模組 → 車況資料庫 → 判讀佇列 → 自架 GPU 判讀服務 → 營運後台；確認結果回訓模型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預期效益簡述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主辦方 144 組取還車照片實測：車損召回率 100%、誤報率 3%。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每天約 4,820 筆取還車全數檢查，所需人力由約 10–20 人降至 1–2 人（約 −90%）；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每天約 </a:t>
                      </a:r>
                      <a:r>
                        <a:rPr lang="en-US" altLang="zh-TW" sz="13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550–820 </a:t>
                      </a:r>
                      <a:r>
                        <a:rPr lang="zh-TW" altLang="en-US" sz="13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張不合格照片當場重拍</a:t>
                      </a:r>
                      <a:r>
                        <a:rPr lang="en-US" sz="13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；</a:t>
                      </a:r>
                      <a:r>
                        <a:rPr lang="en-US" sz="1300" dirty="0" err="1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髒車與嚴重車損自動暫停出租；每次取還車都有確認單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63500" marB="635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　提案概述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把取還車照片，變成會自己處理的車況紀錄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819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100" dirty="0">
                <a:solidFill>
                  <a:schemeClr val="accent2"/>
                </a:solidFill>
              </a:rPr>
              <a:t>提案名稱</a:t>
            </a:r>
            <a:endParaRPr lang="zh-TW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2000" b="1" dirty="0">
                <a:solidFill>
                  <a:schemeClr val="accent1"/>
                </a:solidFill>
              </a:rPr>
              <a:t>iRent+ AI 智能車況管家</a:t>
            </a:r>
            <a:endParaRPr lang="zh-TW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1581912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100" dirty="0">
                <a:solidFill>
                  <a:schemeClr val="accent2"/>
                </a:solidFill>
              </a:rPr>
              <a:t>核心價值主張</a:t>
            </a:r>
            <a:endParaRPr lang="zh-TW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828800"/>
            <a:ext cx="6812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500" dirty="0">
                <a:solidFill>
                  <a:schemeClr val="tx1"/>
                </a:solidFill>
              </a:rPr>
              <a:t>照片在拍的當下就把關，送出後由 AI 比對前後照片，發現問題自動派工。</a:t>
            </a:r>
            <a:endParaRPr lang="zh-TW" sz="1500" dirty="0"/>
          </a:p>
          <a:p>
            <a:pPr marL="0" indent="0">
              <a:buNone/>
            </a:pPr>
            <a:r>
              <a:rPr lang="zh-TW" altLang="en-US" sz="1500" dirty="0">
                <a:solidFill>
                  <a:schemeClr val="tx1"/>
                </a:solidFill>
              </a:rPr>
              <a:t>營運只確認 AI 標記的部分，用戶每次都看得到判定結果。</a:t>
            </a:r>
            <a:endParaRPr lang="zh-TW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3423818" cy="3429000"/>
          </a:xfrm>
          <a:prstGeom prst="roundRect">
            <a:avLst>
              <a:gd name="adj" fmla="val 2671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971800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要解決的核心問題</a:t>
            </a:r>
            <a:endParaRPr lang="zh-TW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018178" y="41376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3600" b="1" dirty="0">
                <a:solidFill>
                  <a:schemeClr val="accent1"/>
                </a:solidFill>
              </a:rPr>
              <a:t>›</a:t>
            </a:r>
            <a:endParaRPr lang="zh-TW" sz="3600" dirty="0"/>
          </a:p>
        </p:txBody>
      </p:sp>
      <p:sp>
        <p:nvSpPr>
          <p:cNvPr id="12" name="Shape 10"/>
          <p:cNvSpPr/>
          <p:nvPr/>
        </p:nvSpPr>
        <p:spPr>
          <a:xfrm>
            <a:off x="4383938" y="2743200"/>
            <a:ext cx="3423818" cy="3429000"/>
          </a:xfrm>
          <a:prstGeom prst="roundRect">
            <a:avLst>
              <a:gd name="adj" fmla="val 2671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58258" y="2971800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我們的做法</a:t>
            </a:r>
            <a:endParaRPr lang="zh-TW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853477" y="41376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3600" b="1" dirty="0">
                <a:solidFill>
                  <a:schemeClr val="accent1"/>
                </a:solidFill>
              </a:rPr>
              <a:t>›</a:t>
            </a:r>
            <a:endParaRPr lang="zh-TW" sz="3600" dirty="0"/>
          </a:p>
        </p:txBody>
      </p:sp>
      <p:sp>
        <p:nvSpPr>
          <p:cNvPr id="15" name="Shape 13"/>
          <p:cNvSpPr/>
          <p:nvPr/>
        </p:nvSpPr>
        <p:spPr>
          <a:xfrm>
            <a:off x="8219237" y="2743200"/>
            <a:ext cx="3423818" cy="3429000"/>
          </a:xfrm>
          <a:prstGeom prst="roundRect">
            <a:avLst>
              <a:gd name="adj" fmla="val 2671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93557" y="2971800"/>
            <a:ext cx="28751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目標與實測</a:t>
            </a:r>
            <a:endParaRPr lang="zh-TW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383280"/>
            <a:ext cx="287517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營運端</a:t>
            </a:r>
            <a:endParaRPr lang="zh-TW" sz="1400" dirty="0"/>
          </a:p>
          <a:p>
            <a:pPr marL="0" indent="0">
              <a:spcAft>
                <a:spcPts val="200"/>
              </a:spcAft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每天約 2.7 萬張車況照片，</a:t>
            </a:r>
            <a:endParaRPr lang="zh-TW" sz="1400" dirty="0"/>
          </a:p>
          <a:p>
            <a:pPr marL="0" indent="0">
              <a:spcAft>
                <a:spcPts val="200"/>
              </a:spcAft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要每筆都看需 10–20 人；</a:t>
            </a:r>
            <a:endParaRPr lang="zh-TW" sz="1400" dirty="0"/>
          </a:p>
          <a:p>
            <a:pPr marL="0" indent="0">
              <a:spcAft>
                <a:spcPts val="1400"/>
              </a:spcAft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問題常等下一位用戶取車才發現</a:t>
            </a:r>
            <a:endParaRPr lang="zh-TW" sz="1400" dirty="0"/>
          </a:p>
          <a:p>
            <a:pPr marL="0" indent="0">
              <a:spcAft>
                <a:spcPts val="200"/>
              </a:spcAft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用戶端</a:t>
            </a:r>
            <a:endParaRPr lang="zh-TW" sz="1400" dirty="0"/>
          </a:p>
          <a:p>
            <a:pPr marL="0" indent="0">
              <a:spcAft>
                <a:spcPts val="200"/>
              </a:spcAft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924 則評論中 208 則與車況有關：</a:t>
            </a:r>
            <a:endParaRPr lang="zh-TW" sz="1400" dirty="0"/>
          </a:p>
          <a:p>
            <a:pPr marL="0" indent="0">
              <a:spcAft>
                <a:spcPts val="200"/>
              </a:spcAft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拍照常被要求重拍、接到髒車、</a:t>
            </a:r>
            <a:endParaRPr lang="zh-TW" sz="1400" dirty="0"/>
          </a:p>
          <a:p>
            <a:pPr marL="0" indent="0">
              <a:spcAft>
                <a:spcPts val="200"/>
              </a:spcAft>
              <a:buNone/>
            </a:pPr>
            <a:r>
              <a:rPr lang="zh-TW" altLang="en-US" sz="1400" dirty="0">
                <a:solidFill>
                  <a:schemeClr val="tx1"/>
                </a:solidFill>
              </a:rPr>
              <a:t>車損責任說不清</a:t>
            </a:r>
            <a:endParaRPr lang="zh-TW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658258" y="333756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2200" b="1" dirty="0">
                <a:solidFill>
                  <a:schemeClr val="tx1"/>
                </a:solidFill>
              </a:rPr>
              <a:t>3 個環節・9 個機制</a:t>
            </a:r>
            <a:endParaRPr lang="zh-TW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658258" y="397764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chemeClr val="bg1"/>
                </a:solidFill>
              </a:rPr>
              <a:t>1</a:t>
            </a:r>
            <a:endParaRPr lang="zh-TW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115458" y="3872286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拍照時</a:t>
            </a:r>
            <a:endParaRPr lang="zh-TW" sz="1350" dirty="0"/>
          </a:p>
          <a:p>
            <a:pPr marL="0" indent="0">
              <a:buNone/>
            </a:pPr>
            <a:r>
              <a:rPr lang="zh-TW" altLang="en-US" sz="1350" dirty="0">
                <a:solidFill>
                  <a:schemeClr val="tx1"/>
                </a:solidFill>
              </a:rPr>
              <a:t>手機當場檢查畫質、車牌與角度，</a:t>
            </a:r>
            <a:endParaRPr lang="zh-TW" sz="1350" dirty="0"/>
          </a:p>
          <a:p>
            <a:pPr marL="0" indent="0">
              <a:buNone/>
            </a:pPr>
            <a:r>
              <a:rPr lang="zh-TW" altLang="en-US" sz="1350" dirty="0">
                <a:solidFill>
                  <a:schemeClr val="tx1"/>
                </a:solidFill>
              </a:rPr>
              <a:t>還車先拍車內再鎖門</a:t>
            </a:r>
            <a:endParaRPr lang="zh-TW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658258" y="466344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chemeClr val="bg1"/>
                </a:solidFill>
              </a:rPr>
              <a:t>2</a:t>
            </a:r>
            <a:endParaRPr lang="zh-TW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115458" y="4617720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送出後</a:t>
            </a:r>
            <a:endParaRPr lang="zh-TW" sz="1350" dirty="0"/>
          </a:p>
          <a:p>
            <a:pPr marL="0" indent="0">
              <a:buNone/>
            </a:pPr>
            <a:r>
              <a:rPr lang="zh-TW" altLang="en-US" sz="1350" dirty="0">
                <a:solidFill>
                  <a:schemeClr val="tx1"/>
                </a:solidFill>
              </a:rPr>
              <a:t>後台 AI 比對前後照片</a:t>
            </a:r>
            <a:endParaRPr lang="zh-TW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658258" y="534924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chemeClr val="bg1"/>
                </a:solidFill>
              </a:rPr>
              <a:t>3</a:t>
            </a:r>
            <a:endParaRPr lang="zh-TW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115458" y="5241897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發現問題後</a:t>
            </a:r>
            <a:endParaRPr lang="zh-TW" sz="1350" dirty="0"/>
          </a:p>
          <a:p>
            <a:pPr marL="0" indent="0">
              <a:buNone/>
            </a:pPr>
            <a:r>
              <a:rPr lang="zh-TW" altLang="en-US" sz="1350" dirty="0">
                <a:solidFill>
                  <a:schemeClr val="tx1"/>
                </a:solidFill>
              </a:rPr>
              <a:t>自動開工單、嚴重車損先送修，</a:t>
            </a:r>
            <a:endParaRPr lang="zh-TW" sz="1350" dirty="0"/>
          </a:p>
          <a:p>
            <a:r>
              <a:rPr lang="zh-TW" altLang="en-US" sz="1350" dirty="0"/>
              <a:t>用戶看得到判讀與確認結果</a:t>
            </a:r>
            <a:endParaRPr lang="zh-TW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493557" y="33375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2400" b="1" dirty="0">
                <a:solidFill>
                  <a:schemeClr val="accent1"/>
                </a:solidFill>
              </a:rPr>
              <a:t>1–2 人</a:t>
            </a:r>
            <a:endParaRPr lang="zh-TW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8493557" y="374904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每天 4,820 筆取還車全數檢查</a:t>
            </a:r>
            <a:endParaRPr lang="zh-TW" sz="1300" dirty="0"/>
          </a:p>
          <a:p>
            <a:pPr marL="0" indent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所需人力（全人工需 10–20 人）</a:t>
            </a:r>
            <a:endParaRPr lang="zh-TW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493557" y="42519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2400" b="1" dirty="0">
                <a:solidFill>
                  <a:schemeClr val="accent1"/>
                </a:solidFill>
              </a:rPr>
              <a:t>召回率 100%</a:t>
            </a:r>
            <a:endParaRPr lang="zh-TW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8493557" y="466344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主辦方 144 組照片實測，</a:t>
            </a:r>
            <a:endParaRPr lang="zh-TW" sz="1300" dirty="0"/>
          </a:p>
          <a:p>
            <a:pPr marL="0" indent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車損全部抓到，誤報率 3%</a:t>
            </a:r>
            <a:endParaRPr lang="zh-TW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493557" y="516636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TW" altLang="en-US" sz="2400" b="1" dirty="0">
                <a:solidFill>
                  <a:schemeClr val="accent1"/>
                </a:solidFill>
              </a:rPr>
              <a:t>當場重拍</a:t>
            </a:r>
            <a:endParaRPr lang="zh-TW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8493557" y="5577840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不合格照片在手機上就擋下</a:t>
            </a:r>
            <a:endParaRPr lang="zh-TW" sz="13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　目標對象與痛點分析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兩個目標對象，卡在同一個環節：車況照片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87188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18516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664208"/>
            <a:ext cx="4015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租車用戶</a:t>
            </a:r>
            <a:endParaRPr lang="zh-TW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075688"/>
            <a:ext cx="40613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zh-TW" altLang="en-US" sz="1400" dirty="0">
                <a:solidFill>
                  <a:schemeClr val="tx1"/>
                </a:solidFill>
              </a:rPr>
              <a:t>iRent 會員已突破 200 萬人¹</a:t>
            </a:r>
            <a:endParaRPr lang="zh-TW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zh-TW" altLang="en-US" sz="1400" dirty="0">
                <a:solidFill>
                  <a:schemeClr val="tx1"/>
                </a:solidFill>
              </a:rPr>
              <a:t>自助取還車，現場沒有人員點交</a:t>
            </a:r>
            <a:endParaRPr lang="zh-TW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zh-TW" altLang="en-US" sz="1400" dirty="0">
                <a:solidFill>
                  <a:schemeClr val="tx1"/>
                </a:solidFill>
              </a:rPr>
              <a:t>還車要拍 7 張必拍照片</a:t>
            </a:r>
            <a:endParaRPr lang="zh-TW" sz="1400" dirty="0"/>
          </a:p>
        </p:txBody>
      </p:sp>
      <p:sp>
        <p:nvSpPr>
          <p:cNvPr id="9" name="Shape 6"/>
          <p:cNvSpPr/>
          <p:nvPr/>
        </p:nvSpPr>
        <p:spPr>
          <a:xfrm>
            <a:off x="6255868" y="1463040"/>
            <a:ext cx="5387188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0188" y="169164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208" y="18516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53148" y="1664208"/>
            <a:ext cx="4015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營運團隊</a:t>
            </a:r>
            <a:endParaRPr lang="zh-TW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353148" y="2075688"/>
            <a:ext cx="40613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zh-TW" altLang="en-US" sz="1400" dirty="0">
                <a:solidFill>
                  <a:schemeClr val="tx1"/>
                </a:solidFill>
              </a:rPr>
              <a:t>每天約 4,820 筆取還車、27,367 張照片²</a:t>
            </a:r>
            <a:endParaRPr lang="zh-TW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zh-TW" altLang="en-US" sz="1400" dirty="0">
                <a:solidFill>
                  <a:schemeClr val="tx1"/>
                </a:solidFill>
              </a:rPr>
              <a:t>照片送出後，才由後台人員查看</a:t>
            </a:r>
            <a:endParaRPr lang="zh-TW" sz="14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zh-TW" altLang="en-US" sz="1400" dirty="0">
                <a:solidFill>
                  <a:schemeClr val="tx1"/>
                </a:solidFill>
              </a:rPr>
              <a:t>清潔、檢修靠人工判斷與安排</a:t>
            </a:r>
            <a:endParaRPr lang="zh-TW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33375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現行拍照流程與三個斷點</a:t>
            </a:r>
            <a:endParaRPr lang="zh-TW" sz="1500" dirty="0"/>
          </a:p>
        </p:txBody>
      </p:sp>
      <p:sp>
        <p:nvSpPr>
          <p:cNvPr id="15" name="Shape 11"/>
          <p:cNvSpPr/>
          <p:nvPr/>
        </p:nvSpPr>
        <p:spPr>
          <a:xfrm>
            <a:off x="548640" y="3730752"/>
            <a:ext cx="1572768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94360" y="3730752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加油卡／停車卡</a:t>
            </a:r>
            <a:endParaRPr lang="zh-TW" sz="1300" dirty="0"/>
          </a:p>
        </p:txBody>
      </p:sp>
      <p:sp>
        <p:nvSpPr>
          <p:cNvPr id="17" name="Shape 13"/>
          <p:cNvSpPr/>
          <p:nvPr/>
        </p:nvSpPr>
        <p:spPr>
          <a:xfrm>
            <a:off x="2167128" y="4014216"/>
            <a:ext cx="240121" cy="914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2452969" y="3730752"/>
            <a:ext cx="1572768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2498689" y="3730752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車內前座、後座</a:t>
            </a:r>
            <a:endParaRPr lang="zh-TW" sz="1300" dirty="0"/>
          </a:p>
        </p:txBody>
      </p:sp>
      <p:sp>
        <p:nvSpPr>
          <p:cNvPr id="20" name="Shape 16"/>
          <p:cNvSpPr/>
          <p:nvPr/>
        </p:nvSpPr>
        <p:spPr>
          <a:xfrm>
            <a:off x="4071457" y="4014216"/>
            <a:ext cx="240121" cy="914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4357299" y="3730752"/>
            <a:ext cx="1572768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403019" y="3730752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車身四角</a:t>
            </a:r>
            <a:endParaRPr lang="zh-TW" sz="1300" dirty="0"/>
          </a:p>
          <a:p>
            <a:pPr marL="0" indent="0" algn="ctr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（含車牌）</a:t>
            </a:r>
            <a:endParaRPr lang="zh-TW" sz="1300" dirty="0"/>
          </a:p>
        </p:txBody>
      </p:sp>
      <p:sp>
        <p:nvSpPr>
          <p:cNvPr id="23" name="Shape 19"/>
          <p:cNvSpPr/>
          <p:nvPr/>
        </p:nvSpPr>
        <p:spPr>
          <a:xfrm>
            <a:off x="5975787" y="4014216"/>
            <a:ext cx="240121" cy="914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4" name="Shape 20"/>
          <p:cNvSpPr/>
          <p:nvPr/>
        </p:nvSpPr>
        <p:spPr>
          <a:xfrm>
            <a:off x="6261628" y="3730752"/>
            <a:ext cx="1572768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307348" y="3730752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其他車損</a:t>
            </a:r>
            <a:endParaRPr lang="zh-TW" sz="1300" dirty="0"/>
          </a:p>
          <a:p>
            <a:pPr marL="0" indent="0" algn="ctr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（最多 4 張）</a:t>
            </a:r>
            <a:endParaRPr lang="zh-TW" sz="1300" dirty="0"/>
          </a:p>
        </p:txBody>
      </p:sp>
      <p:sp>
        <p:nvSpPr>
          <p:cNvPr id="26" name="Shape 22"/>
          <p:cNvSpPr/>
          <p:nvPr/>
        </p:nvSpPr>
        <p:spPr>
          <a:xfrm>
            <a:off x="7880116" y="4014216"/>
            <a:ext cx="240121" cy="914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7" name="Shape 23"/>
          <p:cNvSpPr/>
          <p:nvPr/>
        </p:nvSpPr>
        <p:spPr>
          <a:xfrm>
            <a:off x="8165958" y="3730752"/>
            <a:ext cx="1572768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211678" y="3730752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送出照片</a:t>
            </a:r>
            <a:endParaRPr lang="zh-TW" sz="1300" dirty="0"/>
          </a:p>
        </p:txBody>
      </p:sp>
      <p:sp>
        <p:nvSpPr>
          <p:cNvPr id="29" name="Shape 25"/>
          <p:cNvSpPr/>
          <p:nvPr/>
        </p:nvSpPr>
        <p:spPr>
          <a:xfrm>
            <a:off x="9784446" y="4014216"/>
            <a:ext cx="240121" cy="914"/>
          </a:xfrm>
          <a:prstGeom prst="line">
            <a:avLst/>
          </a:prstGeom>
          <a:noFill/>
          <a:ln w="158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10070287" y="3730752"/>
            <a:ext cx="1572768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10116007" y="3730752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後台人員查看</a:t>
            </a:r>
            <a:endParaRPr lang="zh-TW" sz="1300" dirty="0"/>
          </a:p>
        </p:txBody>
      </p:sp>
      <p:sp>
        <p:nvSpPr>
          <p:cNvPr id="32" name="Shape 28"/>
          <p:cNvSpPr/>
          <p:nvPr/>
        </p:nvSpPr>
        <p:spPr>
          <a:xfrm>
            <a:off x="548640" y="4407408"/>
            <a:ext cx="7285756" cy="320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165958" y="4407408"/>
            <a:ext cx="3477097" cy="320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548640" y="46177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chemeClr val="bg1"/>
                </a:solidFill>
              </a:rPr>
              <a:t>1</a:t>
            </a:r>
            <a:endParaRPr lang="zh-TW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987552" y="45720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拍照時沒人檢查</a:t>
            </a:r>
            <a:endParaRPr lang="zh-TW" sz="1450" dirty="0"/>
          </a:p>
          <a:p>
            <a:r>
              <a:rPr lang="zh-TW" altLang="en-US" sz="1250" dirty="0">
                <a:solidFill>
                  <a:schemeClr val="tx2"/>
                </a:solidFill>
              </a:rPr>
              <a:t>拍糊、拍歪照樣送出，事後才被要求重拍</a:t>
            </a:r>
            <a:endParaRPr lang="zh-TW" sz="1450" dirty="0"/>
          </a:p>
        </p:txBody>
      </p:sp>
      <p:sp>
        <p:nvSpPr>
          <p:cNvPr id="36" name="Text 32"/>
          <p:cNvSpPr txBox="1"/>
          <p:nvPr/>
        </p:nvSpPr>
        <p:spPr>
          <a:xfrm>
            <a:off x="8165958" y="46177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chemeClr val="bg1"/>
                </a:solidFill>
              </a:rPr>
              <a:t>2</a:t>
            </a:r>
            <a:endParaRPr lang="zh-TW" sz="1100" dirty="0"/>
          </a:p>
        </p:txBody>
      </p:sp>
      <p:sp>
        <p:nvSpPr>
          <p:cNvPr id="37" name="Text 33"/>
          <p:cNvSpPr txBox="1"/>
          <p:nvPr/>
        </p:nvSpPr>
        <p:spPr>
          <a:xfrm>
            <a:off x="8604870" y="4572000"/>
            <a:ext cx="301989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送出後人工看不完</a:t>
            </a:r>
            <a:endParaRPr lang="zh-TW" sz="1450" dirty="0"/>
          </a:p>
          <a:p>
            <a:pPr marL="0" indent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看不完，也看得太晚</a:t>
            </a:r>
            <a:endParaRPr lang="zh-TW" sz="1450" dirty="0"/>
          </a:p>
        </p:txBody>
      </p:sp>
      <p:sp>
        <p:nvSpPr>
          <p:cNvPr id="38" name="Text 34"/>
          <p:cNvSpPr txBox="1"/>
          <p:nvPr/>
        </p:nvSpPr>
        <p:spPr>
          <a:xfrm>
            <a:off x="548640" y="5401719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chemeClr val="bg1"/>
                </a:solidFill>
              </a:rPr>
              <a:t>3</a:t>
            </a:r>
            <a:endParaRPr lang="zh-TW" sz="1100" dirty="0"/>
          </a:p>
        </p:txBody>
      </p:sp>
      <p:sp>
        <p:nvSpPr>
          <p:cNvPr id="39" name="Text 35"/>
          <p:cNvSpPr txBox="1"/>
          <p:nvPr/>
        </p:nvSpPr>
        <p:spPr>
          <a:xfrm>
            <a:off x="988712" y="5359974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出問題時前後對不上</a:t>
            </a:r>
            <a:endParaRPr lang="zh-TW" sz="1450" dirty="0"/>
          </a:p>
          <a:p>
            <a:pPr marL="0" indent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取車、還車照片角度不同，很難比對責任</a:t>
            </a:r>
            <a:endParaRPr lang="zh-TW" sz="1450" dirty="0"/>
          </a:p>
        </p:txBody>
      </p:sp>
      <p:sp>
        <p:nvSpPr>
          <p:cNvPr id="40" name="Text 36"/>
          <p:cNvSpPr txBox="1"/>
          <p:nvPr/>
        </p:nvSpPr>
        <p:spPr>
          <a:xfrm>
            <a:off x="960493" y="5029200"/>
            <a:ext cx="34770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150" i="1" dirty="0">
                <a:solidFill>
                  <a:schemeClr val="tx2"/>
                </a:solidFill>
              </a:rPr>
              <a:t>主辦方：「實際照片內容常與所選分類不一致」</a:t>
            </a:r>
            <a:endParaRPr lang="zh-TW" sz="1150" dirty="0"/>
          </a:p>
        </p:txBody>
      </p:sp>
      <p:sp>
        <p:nvSpPr>
          <p:cNvPr id="41" name="Text 37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000" dirty="0">
                <a:solidFill>
                  <a:schemeClr val="accent2"/>
                </a:solidFill>
              </a:rPr>
              <a:t>¹ 旺得富理財網〈iRent共享車平台 用戶突破200萬大關〉，2026/2/6　² 主辦方照片上傳清單，2026/4/22 全天</a:t>
            </a:r>
            <a:endParaRPr lang="zh-TW" sz="10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　目標對象與痛點分析｜營運端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每天約 2.7 萬張照片，要每筆都看需 10–20 人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2026/4/22 每小時上傳的車況照片（張）</a:t>
            </a:r>
            <a:endParaRPr lang="zh-TW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83080"/>
          <a:ext cx="69494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2880360" y="1847088"/>
            <a:ext cx="2148840" cy="53035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尖峰 16 時：2,144 張</a:t>
            </a:r>
            <a:endParaRPr lang="zh-TW" sz="1400" dirty="0"/>
          </a:p>
          <a:p>
            <a:pPr marL="0" indent="0" algn="r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每 1.7 秒就有一張</a:t>
            </a:r>
            <a:endParaRPr lang="zh-TW" sz="1400" dirty="0"/>
          </a:p>
        </p:txBody>
      </p:sp>
      <p:sp>
        <p:nvSpPr>
          <p:cNvPr id="7" name="Shape 4"/>
          <p:cNvSpPr/>
          <p:nvPr/>
        </p:nvSpPr>
        <p:spPr>
          <a:xfrm>
            <a:off x="5047488" y="2103120"/>
            <a:ext cx="146304" cy="201168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548640" y="550468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350" dirty="0">
                <a:solidFill>
                  <a:schemeClr val="tx2"/>
                </a:solidFill>
              </a:rPr>
              <a:t>下午 4 點到午夜每小時都超過 1,500 張：最需要即時處理時，照片也最多</a:t>
            </a:r>
            <a:endParaRPr lang="zh-TW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726680" y="1463040"/>
            <a:ext cx="3916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如果每一筆都靠人工檢視</a:t>
            </a:r>
            <a:endParaRPr lang="zh-TW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726680" y="1874520"/>
            <a:ext cx="3916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2800" b="1" dirty="0">
                <a:solidFill>
                  <a:schemeClr val="tx1"/>
                </a:solidFill>
              </a:rPr>
              <a:t>4,820 筆</a:t>
            </a:r>
            <a:endParaRPr lang="zh-TW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7726680" y="2331720"/>
            <a:ext cx="3916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取還車／天（照片 27,367 張）</a:t>
            </a:r>
            <a:endParaRPr lang="zh-TW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726680" y="2743200"/>
            <a:ext cx="3916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2800" b="1" dirty="0">
                <a:solidFill>
                  <a:schemeClr val="tx1"/>
                </a:solidFill>
              </a:rPr>
              <a:t>× 1–2 分鐘</a:t>
            </a:r>
            <a:endParaRPr lang="zh-TW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7726680" y="3200400"/>
            <a:ext cx="3916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每筆人工檢視</a:t>
            </a:r>
            <a:endParaRPr lang="zh-TW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726680" y="3611880"/>
            <a:ext cx="3916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2800" b="1" dirty="0">
                <a:solidFill>
                  <a:schemeClr val="tx1"/>
                </a:solidFill>
              </a:rPr>
              <a:t>= 80–160 工時</a:t>
            </a:r>
            <a:endParaRPr lang="zh-TW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7726680" y="4069080"/>
            <a:ext cx="3916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每天</a:t>
            </a:r>
            <a:endParaRPr lang="zh-TW" sz="1250" dirty="0"/>
          </a:p>
        </p:txBody>
      </p:sp>
      <p:sp>
        <p:nvSpPr>
          <p:cNvPr id="16" name="Shape 13"/>
          <p:cNvSpPr/>
          <p:nvPr/>
        </p:nvSpPr>
        <p:spPr>
          <a:xfrm>
            <a:off x="7543800" y="4434840"/>
            <a:ext cx="201168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43800" y="4434840"/>
            <a:ext cx="41148" cy="20116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1441887" y="4434840"/>
            <a:ext cx="201168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601907" y="4434840"/>
            <a:ext cx="41148" cy="20116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543800" y="5673852"/>
            <a:ext cx="201168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43800" y="5513832"/>
            <a:ext cx="41148" cy="20116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1441887" y="5673852"/>
            <a:ext cx="201168" cy="4114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1601907" y="5513832"/>
            <a:ext cx="41148" cy="20116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863840" y="4553712"/>
            <a:ext cx="3596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4000" b="1" dirty="0">
                <a:solidFill>
                  <a:schemeClr val="accent1"/>
                </a:solidFill>
              </a:rPr>
              <a:t>≈ 10–20</a:t>
            </a:r>
            <a:r>
              <a:rPr lang="zh-TW" altLang="en-US" sz="2200" b="1" dirty="0">
                <a:solidFill>
                  <a:schemeClr val="accent1"/>
                </a:solidFill>
              </a:rPr>
              <a:t> 人</a:t>
            </a:r>
            <a:endParaRPr lang="zh-TW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863840" y="5230368"/>
            <a:ext cx="3596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每人每天 8 小時</a:t>
            </a:r>
            <a:endParaRPr lang="zh-TW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000" dirty="0">
                <a:solidFill>
                  <a:schemeClr val="accent2"/>
                </a:solidFill>
              </a:rPr>
              <a:t>估算假設：每筆人工檢視 1–2 分鐘、每人每天 8 小時。資料：主辦方照片上傳清單（2026/4/22 全天，4,820 筆取還車）</a:t>
            </a:r>
            <a:endParaRPr lang="zh-TW" sz="10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　目標對象與痛點分析｜用戶端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924 則評論裡，208 則跟車況有關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TW" altLang="en-US" sz="1300" b="1" dirty="0">
                <a:solidFill>
                  <a:schemeClr val="tx1"/>
                </a:solidFill>
              </a:rPr>
              <a:t>我們做的評論管理後台（原型實機畫面）：924 則</a:t>
            </a:r>
            <a:r>
              <a:rPr lang="zh-TW" altLang="en-US" sz="1300" b="1" dirty="0"/>
              <a:t>依關鍵字規則自動分類</a:t>
            </a:r>
            <a:endParaRPr lang="zh-TW" sz="1300" dirty="0"/>
          </a:p>
        </p:txBody>
      </p:sp>
      <p:pic>
        <p:nvPicPr>
          <p:cNvPr id="5" name="Image 0" descr="營運後台顧客評論頁實機截圖：924 則評論、App 平均 2.1 星、問題分類長條圖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10512"/>
            <a:ext cx="5897880" cy="34252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810512"/>
            <a:ext cx="5897880" cy="3425266"/>
          </a:xfrm>
          <a:prstGeom prst="rect">
            <a:avLst/>
          </a:prstGeom>
          <a:ln w="9525">
            <a:solidFill>
              <a:srgbClr val="C9C9C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4976" y="4058343"/>
            <a:ext cx="5587465" cy="192671"/>
          </a:xfrm>
          <a:prstGeom prst="roundRect">
            <a:avLst>
              <a:gd name="adj" fmla="val 18984"/>
            </a:avLst>
          </a:prstGeom>
          <a:ln w="25400">
            <a:solidFill>
              <a:schemeClr val="accent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4976" y="4422277"/>
            <a:ext cx="5587465" cy="192671"/>
          </a:xfrm>
          <a:prstGeom prst="roundRect">
            <a:avLst>
              <a:gd name="adj" fmla="val 18984"/>
            </a:avLst>
          </a:prstGeom>
          <a:ln w="25400">
            <a:solidFill>
              <a:schemeClr val="accent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4976" y="4780860"/>
            <a:ext cx="5587465" cy="192671"/>
          </a:xfrm>
          <a:prstGeom prst="roundRect">
            <a:avLst>
              <a:gd name="adj" fmla="val 18984"/>
            </a:avLst>
          </a:prstGeom>
          <a:ln w="254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535838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000" dirty="0">
                <a:solidFill>
                  <a:schemeClr val="accent2"/>
                </a:solidFill>
              </a:rPr>
              <a:t>紅框：跟車況有關的三類。來源：Google Play 682、PTT 130、Dcard 107、App Store 5 則</a:t>
            </a:r>
            <a:endParaRPr lang="zh-TW" sz="1000" dirty="0"/>
          </a:p>
          <a:p>
            <a:pPr marL="0" indent="0">
              <a:buNone/>
            </a:pPr>
            <a:r>
              <a:rPr lang="zh-TW" altLang="en-US" sz="1000" dirty="0">
                <a:solidFill>
                  <a:schemeClr val="accent2"/>
                </a:solidFill>
              </a:rPr>
              <a:t>（同一篇只算一次，2026/10/7 擷取；一則可屬多類）</a:t>
            </a:r>
            <a:endParaRPr lang="zh-TW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720840" y="1417320"/>
            <a:ext cx="4922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3600" b="1" dirty="0">
                <a:solidFill>
                  <a:schemeClr val="accent1"/>
                </a:solidFill>
              </a:rPr>
              <a:t>208 則</a:t>
            </a:r>
            <a:r>
              <a:rPr lang="zh-TW" altLang="en-US" sz="1500" b="1" dirty="0">
                <a:solidFill>
                  <a:schemeClr val="tx1"/>
                </a:solidFill>
              </a:rPr>
              <a:t>　跟車況有關，占全部評論 22.5%</a:t>
            </a:r>
            <a:endParaRPr lang="zh-TW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720840" y="2029968"/>
            <a:ext cx="4922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100" dirty="0">
                <a:solidFill>
                  <a:schemeClr val="accent2"/>
                </a:solidFill>
              </a:rPr>
              <a:t>拍照、髒亂、車損三類任一，重複只算一次</a:t>
            </a:r>
            <a:endParaRPr lang="zh-TW" sz="1100" dirty="0"/>
          </a:p>
        </p:txBody>
      </p:sp>
      <p:sp>
        <p:nvSpPr>
          <p:cNvPr id="13" name="Shape 10"/>
          <p:cNvSpPr/>
          <p:nvPr/>
        </p:nvSpPr>
        <p:spPr>
          <a:xfrm>
            <a:off x="6720840" y="2423160"/>
            <a:ext cx="4922215" cy="1078992"/>
          </a:xfrm>
          <a:prstGeom prst="roundRect">
            <a:avLst>
              <a:gd name="adj" fmla="val 84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49440" y="2551176"/>
            <a:ext cx="2819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拍照耗時，常被要求重拍</a:t>
            </a:r>
            <a:endParaRPr lang="zh-TW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768535" y="25511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TW" altLang="en-US" sz="1150" b="1" dirty="0">
                <a:solidFill>
                  <a:schemeClr val="accent1"/>
                </a:solidFill>
              </a:rPr>
              <a:t>拍照流程類 145 則</a:t>
            </a:r>
            <a:endParaRPr lang="zh-TW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6949440" y="2953512"/>
            <a:ext cx="4556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i="1" dirty="0">
                <a:solidFill>
                  <a:schemeClr val="tx2"/>
                </a:solidFill>
              </a:rPr>
              <a:t>「還車拍照四邊都拍了，還一直要我重拍，耗時好幾分鐘。」</a:t>
            </a:r>
            <a:endParaRPr lang="zh-TW" sz="1200" dirty="0"/>
          </a:p>
          <a:p>
            <a:pPr marL="0" indent="0">
              <a:buNone/>
            </a:pPr>
            <a:r>
              <a:rPr lang="zh-TW" altLang="en-US" sz="1000" dirty="0">
                <a:solidFill>
                  <a:schemeClr val="accent2"/>
                </a:solidFill>
              </a:rPr>
              <a:t>Google Play・2026/06/10</a:t>
            </a:r>
            <a:endParaRPr lang="zh-TW" sz="1200" dirty="0"/>
          </a:p>
        </p:txBody>
      </p:sp>
      <p:sp>
        <p:nvSpPr>
          <p:cNvPr id="17" name="Shape 14"/>
          <p:cNvSpPr/>
          <p:nvPr/>
        </p:nvSpPr>
        <p:spPr>
          <a:xfrm>
            <a:off x="6720840" y="3639312"/>
            <a:ext cx="4922215" cy="1078992"/>
          </a:xfrm>
          <a:prstGeom prst="roundRect">
            <a:avLst>
              <a:gd name="adj" fmla="val 84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49440" y="3767328"/>
            <a:ext cx="2819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接到上一位留下的髒車</a:t>
            </a:r>
            <a:endParaRPr lang="zh-TW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9768535" y="37673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TW" altLang="en-US" sz="1150" b="1" dirty="0">
                <a:solidFill>
                  <a:schemeClr val="accent1"/>
                </a:solidFill>
              </a:rPr>
              <a:t>髒亂類 60 則</a:t>
            </a:r>
            <a:endParaRPr lang="zh-TW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6949440" y="4169664"/>
            <a:ext cx="4556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i="1" dirty="0">
                <a:solidFill>
                  <a:schemeClr val="tx2"/>
                </a:solidFill>
              </a:rPr>
              <a:t>「最近很多⋯⋯喜歡丟垃圾在車上，建議⋯⋯罰款清潔費」</a:t>
            </a:r>
            <a:endParaRPr lang="zh-TW" sz="1200" dirty="0"/>
          </a:p>
          <a:p>
            <a:pPr marL="0" indent="0">
              <a:buNone/>
            </a:pPr>
            <a:r>
              <a:rPr lang="zh-TW" altLang="en-US" sz="1000" dirty="0">
                <a:solidFill>
                  <a:schemeClr val="accent2"/>
                </a:solidFill>
              </a:rPr>
              <a:t>Google Play・2026/07/12</a:t>
            </a:r>
            <a:endParaRPr lang="zh-TW" sz="1200" dirty="0"/>
          </a:p>
        </p:txBody>
      </p:sp>
      <p:sp>
        <p:nvSpPr>
          <p:cNvPr id="21" name="Shape 18"/>
          <p:cNvSpPr/>
          <p:nvPr/>
        </p:nvSpPr>
        <p:spPr>
          <a:xfrm>
            <a:off x="6720840" y="4855464"/>
            <a:ext cx="4922215" cy="1078992"/>
          </a:xfrm>
          <a:prstGeom prst="roundRect">
            <a:avLst>
              <a:gd name="adj" fmla="val 84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949440" y="4983480"/>
            <a:ext cx="2819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車損賠償，說不清責任</a:t>
            </a:r>
            <a:endParaRPr lang="zh-TW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768535" y="4983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TW" altLang="en-US" sz="1150" b="1" dirty="0">
                <a:solidFill>
                  <a:schemeClr val="accent1"/>
                </a:solidFill>
              </a:rPr>
              <a:t>車損類 49 則</a:t>
            </a:r>
            <a:endParaRPr lang="zh-TW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6949440" y="5385816"/>
            <a:ext cx="4556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i="1" dirty="0">
                <a:solidFill>
                  <a:schemeClr val="tx2"/>
                </a:solidFill>
              </a:rPr>
              <a:t>「3 個月內都有可能會被坑說是你用的，要你賠。」</a:t>
            </a:r>
            <a:endParaRPr lang="zh-TW" sz="1200" dirty="0"/>
          </a:p>
          <a:p>
            <a:pPr marL="0" indent="0">
              <a:buNone/>
            </a:pPr>
            <a:r>
              <a:rPr lang="zh-TW" altLang="en-US" sz="1000" dirty="0">
                <a:solidFill>
                  <a:schemeClr val="accent2"/>
                </a:solidFill>
              </a:rPr>
              <a:t>Google Play・2026/02/20</a:t>
            </a:r>
            <a:endParaRPr lang="zh-TW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　解決方案設計｜整體架構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三個環節、9 個機制，補上三個斷點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35213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補斷點 ① 拍照沒人檢查、③ 前後對不上</a:t>
            </a:r>
            <a:endParaRPr lang="zh-TW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1354" cy="361188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3521354" cy="621792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783080"/>
            <a:ext cx="30641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000" b="1" dirty="0">
                <a:solidFill>
                  <a:schemeClr val="bg1"/>
                </a:solidFill>
              </a:rPr>
              <a:t>拍照時</a:t>
            </a:r>
            <a:r>
              <a:rPr lang="zh-TW" altLang="en-US" sz="1300" dirty="0">
                <a:solidFill>
                  <a:schemeClr val="bg1"/>
                </a:solidFill>
              </a:rPr>
              <a:t>　手機</a:t>
            </a:r>
            <a:endParaRPr lang="zh-TW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7860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1</a:t>
            </a:r>
            <a:endParaRPr lang="zh-TW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2560320"/>
            <a:ext cx="26069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已知車損提前告知</a:t>
            </a:r>
            <a:endParaRPr lang="zh-TW" sz="1400" dirty="0"/>
          </a:p>
          <a:p>
            <a:pPr marL="0" indent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取車時先列出已記錄的損傷</a:t>
            </a:r>
            <a:endParaRPr lang="zh-TW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2918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2</a:t>
            </a:r>
            <a:endParaRPr lang="zh-TW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3273552"/>
            <a:ext cx="26069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上次照片疊影對齊</a:t>
            </a:r>
            <a:endParaRPr lang="zh-TW" sz="1400" dirty="0"/>
          </a:p>
          <a:p>
            <a:pPr marL="0" indent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上一次同角度照片疊在畫面上</a:t>
            </a:r>
            <a:endParaRPr lang="zh-TW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00507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3</a:t>
            </a:r>
            <a:endParaRPr lang="zh-TW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3986784"/>
            <a:ext cx="26069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即時檢查畫質、車牌、角度</a:t>
            </a:r>
            <a:endParaRPr lang="zh-TW" sz="1400" dirty="0"/>
          </a:p>
          <a:p>
            <a:r>
              <a:rPr lang="zh-TW" altLang="en-US" sz="1250" dirty="0">
                <a:solidFill>
                  <a:schemeClr val="tx2"/>
                </a:solidFill>
              </a:rPr>
              <a:t>每 </a:t>
            </a:r>
            <a:r>
              <a:rPr lang="en-US" altLang="zh-TW" sz="1250" dirty="0">
                <a:solidFill>
                  <a:schemeClr val="tx2"/>
                </a:solidFill>
              </a:rPr>
              <a:t>0.5 </a:t>
            </a:r>
            <a:r>
              <a:rPr lang="zh-TW" altLang="en-US" sz="1250" dirty="0">
                <a:solidFill>
                  <a:schemeClr val="tx2"/>
                </a:solidFill>
              </a:rPr>
              <a:t>秒提醒一次：站錯角度、太暗</a:t>
            </a:r>
            <a:endParaRPr lang="zh-TW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71830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4</a:t>
            </a:r>
            <a:endParaRPr lang="zh-TW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12164" y="4645152"/>
            <a:ext cx="26069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先拍車內，鎖門再拍車外</a:t>
            </a:r>
            <a:endParaRPr lang="zh-TW" sz="1400" dirty="0"/>
          </a:p>
          <a:p>
            <a:r>
              <a:rPr lang="zh-TW" altLang="en-US" sz="1250" dirty="0">
                <a:solidFill>
                  <a:schemeClr val="tx2"/>
                </a:solidFill>
              </a:rPr>
              <a:t>按下還車就停止計費，</a:t>
            </a:r>
            <a:r>
              <a:rPr lang="en-US" altLang="zh-TW" sz="1250" dirty="0">
                <a:solidFill>
                  <a:schemeClr val="tx2"/>
                </a:solidFill>
              </a:rPr>
              <a:t>5 </a:t>
            </a:r>
            <a:r>
              <a:rPr lang="zh-TW" altLang="en-US" sz="1250" dirty="0">
                <a:solidFill>
                  <a:schemeClr val="tx2"/>
                </a:solidFill>
              </a:rPr>
              <a:t>分鐘內未鎖門則還車取消</a:t>
            </a:r>
            <a:endParaRPr lang="zh-TW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335170" y="1444752"/>
            <a:ext cx="35213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zh-TW" altLang="en-US" sz="1200" b="1" dirty="0">
                <a:solidFill>
                  <a:schemeClr val="accent1"/>
                </a:solidFill>
              </a:rPr>
              <a:t>補斷點 ② 人工看不完、③ 前後對不上</a:t>
            </a:r>
            <a:endParaRPr lang="zh-TW" sz="1200" dirty="0"/>
          </a:p>
        </p:txBody>
      </p:sp>
      <p:sp>
        <p:nvSpPr>
          <p:cNvPr id="17" name="Shape 15"/>
          <p:cNvSpPr/>
          <p:nvPr/>
        </p:nvSpPr>
        <p:spPr>
          <a:xfrm>
            <a:off x="4335170" y="1783080"/>
            <a:ext cx="3521354" cy="361188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35170" y="1783080"/>
            <a:ext cx="3521354" cy="621792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63770" y="1783080"/>
            <a:ext cx="30641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000" b="1" dirty="0">
                <a:solidFill>
                  <a:schemeClr val="bg1"/>
                </a:solidFill>
              </a:rPr>
              <a:t>送出後</a:t>
            </a:r>
            <a:r>
              <a:rPr lang="zh-TW" altLang="en-US" sz="1300" dirty="0">
                <a:solidFill>
                  <a:schemeClr val="bg1"/>
                </a:solidFill>
              </a:rPr>
              <a:t>　後台 AI</a:t>
            </a:r>
            <a:endParaRPr lang="zh-TW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63770" y="257860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5</a:t>
            </a:r>
            <a:endParaRPr lang="zh-TW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084978" y="2560320"/>
            <a:ext cx="26069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取車比上次、還車比取車</a:t>
            </a:r>
            <a:endParaRPr lang="zh-TW" sz="1400" dirty="0"/>
          </a:p>
          <a:p>
            <a:pPr marL="0" indent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差異歸屬到對的人</a:t>
            </a:r>
            <a:endParaRPr lang="zh-TW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63770" y="32918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6</a:t>
            </a:r>
            <a:endParaRPr lang="zh-TW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084978" y="3273552"/>
            <a:ext cx="26069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三次判讀、多數決</a:t>
            </a:r>
            <a:endParaRPr lang="zh-TW" sz="1400" dirty="0"/>
          </a:p>
          <a:p>
            <a:pPr marL="0" indent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無法比對的照片送人工確認</a:t>
            </a:r>
            <a:endParaRPr lang="zh-TW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63770" y="3892179"/>
            <a:ext cx="3292754" cy="244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50" dirty="0"/>
              <a:t>照片送出後自動檢查，用戶不必在現場等結果</a:t>
            </a:r>
            <a:endParaRPr lang="zh-TW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121701" y="1444752"/>
            <a:ext cx="35213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補斷點 ② 看得太晚、處理靠人工</a:t>
            </a:r>
            <a:endParaRPr lang="zh-TW" sz="1200" dirty="0"/>
          </a:p>
        </p:txBody>
      </p:sp>
      <p:sp>
        <p:nvSpPr>
          <p:cNvPr id="26" name="Shape 24"/>
          <p:cNvSpPr/>
          <p:nvPr/>
        </p:nvSpPr>
        <p:spPr>
          <a:xfrm>
            <a:off x="8121701" y="1783080"/>
            <a:ext cx="3521354" cy="361188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21701" y="1783080"/>
            <a:ext cx="3521354" cy="621792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50301" y="1783080"/>
            <a:ext cx="306415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000" b="1" dirty="0">
                <a:solidFill>
                  <a:schemeClr val="bg1"/>
                </a:solidFill>
              </a:rPr>
              <a:t>發現問題後</a:t>
            </a:r>
            <a:r>
              <a:rPr lang="zh-TW" altLang="en-US" sz="1300" dirty="0">
                <a:solidFill>
                  <a:schemeClr val="bg1"/>
                </a:solidFill>
              </a:rPr>
              <a:t>　系統・營運・用戶</a:t>
            </a:r>
            <a:endParaRPr lang="zh-TW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350301" y="257860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7</a:t>
            </a:r>
            <a:endParaRPr lang="zh-TW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871509" y="2560320"/>
            <a:ext cx="26069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自動開工單、暫停出租</a:t>
            </a:r>
            <a:endParaRPr lang="zh-TW" sz="1400" dirty="0"/>
          </a:p>
          <a:p>
            <a:pPr marL="0" indent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髒汙排清潔、嚴重車損排檢修</a:t>
            </a:r>
            <a:endParaRPr lang="zh-TW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350301" y="32918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8</a:t>
            </a:r>
            <a:endParaRPr lang="zh-TW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871509" y="3273552"/>
            <a:ext cx="26069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營運確認或駁回</a:t>
            </a:r>
            <a:endParaRPr lang="zh-TW" sz="1400" dirty="0"/>
          </a:p>
          <a:p>
            <a:pPr marL="0" indent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嚴重先送修；小損傷記錄後出租</a:t>
            </a:r>
            <a:endParaRPr lang="zh-TW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350301" y="400507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9</a:t>
            </a:r>
            <a:endParaRPr lang="zh-TW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871509" y="3986784"/>
            <a:ext cx="260695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用戶取還車確認單</a:t>
            </a:r>
            <a:endParaRPr lang="zh-TW" sz="1400" dirty="0"/>
          </a:p>
          <a:p>
            <a:pPr marL="0" indent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AI 初步判讀與營運確認狀態</a:t>
            </a:r>
            <a:endParaRPr lang="zh-TW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5559552"/>
            <a:ext cx="11094415" cy="54864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555955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350" b="1" dirty="0">
                <a:solidFill>
                  <a:schemeClr val="accent1"/>
                </a:solidFill>
              </a:rPr>
              <a:t>9 個機制都已在原型實作：</a:t>
            </a:r>
            <a:r>
              <a:rPr lang="zh-TW" altLang="en-US" sz="1350" dirty="0">
                <a:solidFill>
                  <a:schemeClr val="tx1"/>
                </a:solidFill>
              </a:rPr>
              <a:t>手機 App、AI 判讀服務與營運後台都能實際操作（第 8、9 頁為實機畫面，導入後的系統架構見第 12 頁）</a:t>
            </a:r>
            <a:endParaRPr lang="zh-TW" sz="135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　解決方案設計｜取還車流程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用戶端：拍一次就拍對，還車不用回頭開門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000" b="1" dirty="0">
                <a:solidFill>
                  <a:schemeClr val="bg1"/>
                </a:solidFill>
              </a:rPr>
              <a:t>1</a:t>
            </a:r>
            <a:endParaRPr lang="zh-TW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32688" y="143560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看已知車損</a:t>
            </a:r>
            <a:endParaRPr lang="zh-TW" sz="1350" dirty="0"/>
          </a:p>
        </p:txBody>
      </p:sp>
      <p:pic>
        <p:nvPicPr>
          <p:cNvPr id="6" name="Image 0" descr="原型實機截圖：取車拍照頁，提示這台車已記錄 1 處損傷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4520"/>
            <a:ext cx="1828800" cy="35001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1828800" cy="3500184"/>
          </a:xfrm>
          <a:prstGeom prst="rect">
            <a:avLst/>
          </a:prstGeom>
          <a:ln w="9525">
            <a:solidFill>
              <a:srgbClr val="C9C9C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5466144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150" dirty="0">
                <a:solidFill>
                  <a:schemeClr val="tx2"/>
                </a:solidFill>
              </a:rPr>
              <a:t>「這台車已記錄 1 處損傷」</a:t>
            </a:r>
            <a:endParaRPr lang="zh-TW" sz="1150" dirty="0"/>
          </a:p>
          <a:p>
            <a:pPr marL="0" indent="0">
              <a:buNone/>
            </a:pPr>
            <a:r>
              <a:rPr lang="zh-TW" altLang="en-US" sz="1150" dirty="0">
                <a:solidFill>
                  <a:schemeClr val="tx2"/>
                </a:solidFill>
              </a:rPr>
              <a:t>提醒用戶拍下來</a:t>
            </a:r>
            <a:endParaRPr lang="zh-TW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2377440" y="3396012"/>
            <a:ext cx="4876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2200" b="1" dirty="0">
                <a:solidFill>
                  <a:schemeClr val="accent1"/>
                </a:solidFill>
              </a:rPr>
              <a:t>›</a:t>
            </a:r>
            <a:endParaRPr lang="zh-TW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2865044" y="146304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000" b="1" dirty="0">
                <a:solidFill>
                  <a:schemeClr val="bg1"/>
                </a:solidFill>
              </a:rPr>
              <a:t>2</a:t>
            </a:r>
            <a:endParaRPr lang="zh-TW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3212516" y="146304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000" b="1" dirty="0">
                <a:solidFill>
                  <a:schemeClr val="bg1"/>
                </a:solidFill>
              </a:rPr>
              <a:t>3</a:t>
            </a:r>
            <a:endParaRPr lang="zh-TW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3596564" y="143560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疊影對齊</a:t>
            </a:r>
            <a:endParaRPr lang="zh-TW" sz="1350" dirty="0"/>
          </a:p>
        </p:txBody>
      </p:sp>
      <p:pic>
        <p:nvPicPr>
          <p:cNvPr id="13" name="Image 1" descr="說明影片畫面：相機疊著上一次同角度照片與車身輪廓虛線，車牌已模糊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5044" y="1874520"/>
            <a:ext cx="1828800" cy="350018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865044" y="1874520"/>
            <a:ext cx="1828800" cy="3500184"/>
          </a:xfrm>
          <a:prstGeom prst="rect">
            <a:avLst/>
          </a:prstGeom>
          <a:ln w="9525">
            <a:solidFill>
              <a:srgbClr val="C9C9C9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865044" y="5466144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150" b="1" dirty="0">
                <a:solidFill>
                  <a:schemeClr val="accent1"/>
                </a:solidFill>
              </a:rPr>
              <a:t>影片畫面・</a:t>
            </a:r>
            <a:r>
              <a:rPr lang="zh-TW" altLang="en-US" sz="1150" dirty="0">
                <a:solidFill>
                  <a:schemeClr val="tx2"/>
                </a:solidFill>
              </a:rPr>
              <a:t>疊上次照片</a:t>
            </a:r>
            <a:endParaRPr lang="zh-TW" sz="1150" dirty="0"/>
          </a:p>
          <a:p>
            <a:pPr marL="0" indent="0">
              <a:buNone/>
            </a:pPr>
            <a:r>
              <a:rPr lang="zh-TW" altLang="en-US" sz="1150" dirty="0">
                <a:solidFill>
                  <a:schemeClr val="tx2"/>
                </a:solidFill>
              </a:rPr>
              <a:t>與輪廓，不合格當場重拍</a:t>
            </a:r>
            <a:endParaRPr lang="zh-TW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4693844" y="3396012"/>
            <a:ext cx="4876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2200" b="1" dirty="0">
                <a:solidFill>
                  <a:schemeClr val="accent1"/>
                </a:solidFill>
              </a:rPr>
              <a:t>›</a:t>
            </a:r>
            <a:endParaRPr lang="zh-TW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5181448" y="146304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000" b="1" dirty="0">
                <a:solidFill>
                  <a:schemeClr val="bg1"/>
                </a:solidFill>
              </a:rPr>
              <a:t>4</a:t>
            </a:r>
            <a:endParaRPr lang="zh-TW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5565496" y="143560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先拍車內再鎖門</a:t>
            </a:r>
            <a:endParaRPr lang="zh-TW" sz="1350" dirty="0"/>
          </a:p>
        </p:txBody>
      </p:sp>
      <p:pic>
        <p:nvPicPr>
          <p:cNvPr id="19" name="Image 2" descr="說明影片畫面：還車先拍車內，倒數計時，拍完確認鎖門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1448" y="1874520"/>
            <a:ext cx="1828800" cy="3500184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181448" y="1874520"/>
            <a:ext cx="1828800" cy="3500184"/>
          </a:xfrm>
          <a:prstGeom prst="rect">
            <a:avLst/>
          </a:prstGeom>
          <a:ln w="9525">
            <a:solidFill>
              <a:srgbClr val="C9C9C9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181448" y="5466144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150" b="1" dirty="0">
                <a:solidFill>
                  <a:schemeClr val="accent1"/>
                </a:solidFill>
              </a:rPr>
              <a:t>影片畫面・</a:t>
            </a:r>
            <a:r>
              <a:rPr lang="zh-TW" altLang="en-US" sz="1150" dirty="0">
                <a:solidFill>
                  <a:schemeClr val="tx2"/>
                </a:solidFill>
              </a:rPr>
              <a:t>按下還車即停計費</a:t>
            </a:r>
            <a:endParaRPr lang="zh-TW" sz="1150" dirty="0"/>
          </a:p>
          <a:p>
            <a:pPr marL="0" indent="0">
              <a:buNone/>
            </a:pPr>
            <a:r>
              <a:rPr lang="zh-TW" altLang="en-US" sz="1150" dirty="0">
                <a:solidFill>
                  <a:schemeClr val="tx2"/>
                </a:solidFill>
              </a:rPr>
              <a:t>拍完車內、下車鎖門</a:t>
            </a:r>
            <a:endParaRPr lang="zh-TW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7010248" y="3396012"/>
            <a:ext cx="4876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2200" b="1" dirty="0">
                <a:solidFill>
                  <a:schemeClr val="accent1"/>
                </a:solidFill>
              </a:rPr>
              <a:t>›</a:t>
            </a:r>
            <a:endParaRPr lang="zh-TW" sz="2200" dirty="0"/>
          </a:p>
        </p:txBody>
      </p:sp>
      <p:sp>
        <p:nvSpPr>
          <p:cNvPr id="23" name="Text 18"/>
          <p:cNvSpPr txBox="1"/>
          <p:nvPr/>
        </p:nvSpPr>
        <p:spPr>
          <a:xfrm>
            <a:off x="7497851" y="146304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000" b="1" dirty="0">
                <a:solidFill>
                  <a:schemeClr val="bg1"/>
                </a:solidFill>
              </a:rPr>
              <a:t>9</a:t>
            </a:r>
            <a:endParaRPr lang="zh-TW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7881899" y="143560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歷史訂單</a:t>
            </a:r>
            <a:endParaRPr lang="zh-TW" sz="1350" dirty="0"/>
          </a:p>
        </p:txBody>
      </p:sp>
      <p:pic>
        <p:nvPicPr>
          <p:cNvPr id="25" name="Image 3" descr="原型實機截圖：歷史訂單，每筆列出取車確認與還車確認狀態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7851" y="1874520"/>
            <a:ext cx="1828800" cy="3500184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7497851" y="1874520"/>
            <a:ext cx="1828800" cy="3500184"/>
          </a:xfrm>
          <a:prstGeom prst="rect">
            <a:avLst/>
          </a:prstGeom>
          <a:ln w="9525">
            <a:solidFill>
              <a:srgbClr val="C9C9C9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497851" y="5466144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150" dirty="0">
                <a:solidFill>
                  <a:schemeClr val="tx2"/>
                </a:solidFill>
              </a:rPr>
              <a:t>每筆都有取車確認</a:t>
            </a:r>
            <a:endParaRPr lang="zh-TW" sz="1150" dirty="0"/>
          </a:p>
          <a:p>
            <a:pPr marL="0" indent="0">
              <a:buNone/>
            </a:pPr>
            <a:r>
              <a:rPr lang="zh-TW" altLang="en-US" sz="1150" dirty="0">
                <a:solidFill>
                  <a:schemeClr val="tx2"/>
                </a:solidFill>
              </a:rPr>
              <a:t>與還車確認</a:t>
            </a:r>
            <a:endParaRPr lang="zh-TW" sz="1150" dirty="0"/>
          </a:p>
        </p:txBody>
      </p:sp>
      <p:sp>
        <p:nvSpPr>
          <p:cNvPr id="28" name="Text 22"/>
          <p:cNvSpPr txBox="1"/>
          <p:nvPr/>
        </p:nvSpPr>
        <p:spPr>
          <a:xfrm>
            <a:off x="9326651" y="3396012"/>
            <a:ext cx="4876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2200" b="1" dirty="0">
                <a:solidFill>
                  <a:schemeClr val="accent1"/>
                </a:solidFill>
              </a:rPr>
              <a:t>›</a:t>
            </a:r>
            <a:endParaRPr lang="zh-TW" sz="2200" dirty="0"/>
          </a:p>
        </p:txBody>
      </p:sp>
      <p:sp>
        <p:nvSpPr>
          <p:cNvPr id="29" name="Text 23"/>
          <p:cNvSpPr txBox="1"/>
          <p:nvPr/>
        </p:nvSpPr>
        <p:spPr>
          <a:xfrm>
            <a:off x="9814255" y="146304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000" b="1" dirty="0">
                <a:solidFill>
                  <a:schemeClr val="bg1"/>
                </a:solidFill>
              </a:rPr>
              <a:t>9</a:t>
            </a:r>
            <a:endParaRPr lang="zh-TW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10198303" y="143560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還車確認單</a:t>
            </a:r>
            <a:endParaRPr lang="zh-TW" sz="1350" dirty="0"/>
          </a:p>
        </p:txBody>
      </p:sp>
      <p:pic>
        <p:nvPicPr>
          <p:cNvPr id="31" name="Image 4" descr="原型實機截圖：還車確認單，疑似新的車損，AI 初步判讀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4255" y="1874520"/>
            <a:ext cx="1828800" cy="3500184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9814255" y="1874520"/>
            <a:ext cx="1828800" cy="3500184"/>
          </a:xfrm>
          <a:prstGeom prst="rect">
            <a:avLst/>
          </a:prstGeom>
          <a:ln w="9525">
            <a:solidFill>
              <a:srgbClr val="C9C9C9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9814255" y="5466144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150" dirty="0">
                <a:solidFill>
                  <a:schemeClr val="tx2"/>
                </a:solidFill>
              </a:rPr>
              <a:t>AI 初步判讀，</a:t>
            </a:r>
            <a:endParaRPr lang="zh-TW" sz="1150" dirty="0"/>
          </a:p>
          <a:p>
            <a:pPr marL="0" indent="0">
              <a:buNone/>
            </a:pPr>
            <a:r>
              <a:rPr lang="zh-TW" altLang="en-US" sz="1150" dirty="0">
                <a:solidFill>
                  <a:schemeClr val="tx2"/>
                </a:solidFill>
              </a:rPr>
              <a:t>以營運人員確認為準</a:t>
            </a:r>
            <a:endParaRPr lang="zh-TW" sz="1150" dirty="0"/>
          </a:p>
        </p:txBody>
      </p:sp>
      <p:sp>
        <p:nvSpPr>
          <p:cNvPr id="34" name="Text 27"/>
          <p:cNvSpPr txBox="1"/>
          <p:nvPr/>
        </p:nvSpPr>
        <p:spPr>
          <a:xfrm>
            <a:off x="548640" y="591616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150" b="1" dirty="0">
                <a:solidFill>
                  <a:schemeClr val="accent1"/>
                </a:solidFill>
              </a:rPr>
              <a:t>對應評論：</a:t>
            </a:r>
            <a:r>
              <a:rPr lang="zh-TW" altLang="en-US" sz="1150" dirty="0">
                <a:solidFill>
                  <a:schemeClr val="tx1"/>
                </a:solidFill>
              </a:rPr>
              <a:t>「還車鎖門後才要拍內部照片，這很不合理」（Google Play・2026/07/12）</a:t>
            </a:r>
            <a:endParaRPr lang="zh-TW" sz="1150" dirty="0"/>
          </a:p>
        </p:txBody>
      </p:sp>
      <p:sp>
        <p:nvSpPr>
          <p:cNvPr id="35" name="Text 28"/>
          <p:cNvSpPr txBox="1"/>
          <p:nvPr/>
        </p:nvSpPr>
        <p:spPr>
          <a:xfrm>
            <a:off x="548640" y="6172200"/>
            <a:ext cx="110944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000" dirty="0">
                <a:solidFill>
                  <a:schemeClr val="accent2"/>
                </a:solidFill>
              </a:rPr>
              <a:t>1、4、5 為原型實機截圖；2、3 為說明影片畫面（相機需要手機鏡頭，以實拍影片重現，車牌已模糊）</a:t>
            </a:r>
            <a:endParaRPr lang="zh-TW" sz="10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　解決方案設計｜營運流程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營運端：AI 先篩、系統派工，人只做確認</a:t>
            </a:r>
            <a:endParaRPr lang="en-US" sz="2800" dirty="0"/>
          </a:p>
        </p:txBody>
      </p:sp>
      <p:pic>
        <p:nvPicPr>
          <p:cNvPr id="4" name="Image 0" descr="營運後台預警頁實機截圖：RDQ-1950 還車新車損，比對基準與這次照片並排，工單檢修進行中、車輛暫停出租，下方有確認與駁回按鈕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897880" cy="420130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463040"/>
            <a:ext cx="5897880" cy="4201303"/>
          </a:xfrm>
          <a:prstGeom prst="rect">
            <a:avLst/>
          </a:prstGeom>
          <a:ln w="9525">
            <a:solidFill>
              <a:srgbClr val="C9C9C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5737495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000" dirty="0">
                <a:solidFill>
                  <a:schemeClr val="accent2"/>
                </a:solidFill>
              </a:rPr>
              <a:t>營運後台・預警頁（原型實機畫面）：一次取還車一張卡片，最嚴重、等最久的排前面</a:t>
            </a:r>
            <a:endParaRPr lang="zh-TW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812280" y="1417320"/>
            <a:ext cx="4830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預警寫入後，資料庫自動開工單</a:t>
            </a:r>
            <a:endParaRPr lang="zh-TW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1783080"/>
          <a:ext cx="4830775" cy="14173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3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預警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暫停出租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車內髒汙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清潔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D7000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是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嚴重新車損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檢修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D7000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是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缺卡片、遺留物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聯絡用戶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否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中低嚴重度車損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由營運確認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否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812280" y="3456432"/>
            <a:ext cx="48307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000" dirty="0">
                <a:solidFill>
                  <a:schemeClr val="accent2"/>
                </a:solidFill>
              </a:rPr>
              <a:t>工單頁（原型實機畫面）：嚴重車損自動開檢修工單，車輛暫停出租</a:t>
            </a:r>
            <a:endParaRPr lang="zh-TW" sz="1000" dirty="0"/>
          </a:p>
        </p:txBody>
      </p:sp>
      <p:pic>
        <p:nvPicPr>
          <p:cNvPr id="8" name="Image 1" descr="營運後台工單頁實機截圖：檢修 RDU-6956，車輛整備中、暫停出租中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3712464"/>
            <a:ext cx="4830775" cy="85477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812280" y="3712464"/>
            <a:ext cx="4830775" cy="854775"/>
          </a:xfrm>
          <a:prstGeom prst="rect">
            <a:avLst/>
          </a:prstGeom>
          <a:ln w="9525">
            <a:solidFill>
              <a:srgbClr val="C9C9C9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812280" y="4731831"/>
            <a:ext cx="4830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營運人員只做確認或駁回</a:t>
            </a:r>
            <a:endParaRPr lang="zh-TW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6812280" y="5061015"/>
            <a:ext cx="658368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確認</a:t>
            </a:r>
            <a:endParaRPr lang="zh-TW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7589520" y="5061015"/>
            <a:ext cx="4053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250" b="1" dirty="0">
                <a:solidFill>
                  <a:schemeClr val="tx1"/>
                </a:solidFill>
              </a:rPr>
              <a:t>嚴重新車損：</a:t>
            </a:r>
            <a:r>
              <a:rPr lang="zh-TW" altLang="en-US" sz="1250" dirty="0">
                <a:solidFill>
                  <a:schemeClr val="tx1"/>
                </a:solidFill>
              </a:rPr>
              <a:t>先送修，修好前暫停出租</a:t>
            </a:r>
            <a:endParaRPr lang="zh-TW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6812280" y="5408487"/>
            <a:ext cx="658368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確認</a:t>
            </a:r>
            <a:endParaRPr lang="zh-TW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7589520" y="5408487"/>
            <a:ext cx="4053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250" b="1" dirty="0">
                <a:solidFill>
                  <a:schemeClr val="tx1"/>
                </a:solidFill>
              </a:rPr>
              <a:t>小損傷：</a:t>
            </a:r>
            <a:r>
              <a:rPr lang="zh-TW" altLang="en-US" sz="1250" dirty="0">
                <a:solidFill>
                  <a:schemeClr val="tx1"/>
                </a:solidFill>
              </a:rPr>
              <a:t>恢復出租，記成已知車損，下一位看得到</a:t>
            </a:r>
            <a:endParaRPr lang="zh-TW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6812280" y="5755959"/>
            <a:ext cx="658368" cy="310896"/>
          </a:xfrm>
          <a:prstGeom prst="roundRect">
            <a:avLst>
              <a:gd name="adj" fmla="val 23529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駁回</a:t>
            </a:r>
            <a:endParaRPr lang="zh-TW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7589520" y="5755959"/>
            <a:ext cx="4053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250" b="1" dirty="0">
                <a:solidFill>
                  <a:schemeClr val="tx1"/>
                </a:solidFill>
              </a:rPr>
              <a:t>誤報：</a:t>
            </a:r>
            <a:r>
              <a:rPr lang="zh-TW" altLang="en-US" sz="1250" dirty="0">
                <a:solidFill>
                  <a:schemeClr val="tx1"/>
                </a:solidFill>
              </a:rPr>
              <a:t>工單自動取消，車輛恢復出租</a:t>
            </a:r>
            <a:endParaRPr lang="zh-TW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4　AI 應用方法｜AI 的角色與選用原因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手機端把關拍照求快，後台 AI 判讀車況求準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7492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7880" y="1417320"/>
            <a:ext cx="5745175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73352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1815084"/>
            <a:ext cx="283464" cy="28346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160020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手機端｜即時檢查</a:t>
            </a:r>
            <a:endParaRPr lang="zh-TW" sz="1400" dirty="0"/>
          </a:p>
          <a:p>
            <a:pPr marL="0" indent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要快：在手機上運算，把不能用的照片擋在源頭</a:t>
            </a:r>
            <a:endParaRPr lang="zh-TW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286000"/>
          <a:ext cx="4526280" cy="21031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檢查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做法與實測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畫質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清晰度、亮度、過曝；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門檻用 1,200 張還車照片校準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車牌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PaddleOCR 每 0.5 秒讀車牌；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整張入鏡 92% 讀對，從未認錯車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角度、遠近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比對上次照片的車牌位置與大小；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站對 95% 通過，站錯 77% 抓到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光線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比上次暗很多就提醒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（主辦方照片約 6%）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172200" y="1673352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3932" y="1815084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903720" y="1600200"/>
            <a:ext cx="4556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800" b="1" dirty="0">
                <a:solidFill>
                  <a:schemeClr val="tx1"/>
                </a:solidFill>
              </a:rPr>
              <a:t>後台｜Qwen 系列視覺語言模型（自架）</a:t>
            </a:r>
            <a:endParaRPr lang="zh-TW" sz="1400" dirty="0"/>
          </a:p>
          <a:p>
            <a:pPr marL="0" indent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要準：用戶離開後，再仔細判讀</a:t>
            </a:r>
            <a:endParaRPr lang="zh-TW" sz="14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2286000"/>
          <a:ext cx="5196535" cy="141732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6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看哪裡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判讀什麼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車身四角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與比對基準找新車損：位置、類型、嚴重度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車內前座、後座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整潔度（乾淨／普通／髒汙）與遺留物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加油卡／停車卡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卡片是否在卡夾裡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用戶回報的損傷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核對用戶自己拍下的損傷</a:t>
                      </a:r>
                      <a:endParaRPr lang="en-US" sz="12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8"/>
          <p:cNvSpPr txBox="1"/>
          <p:nvPr/>
        </p:nvSpPr>
        <p:spPr>
          <a:xfrm>
            <a:off x="6172200" y="3813048"/>
            <a:ext cx="5196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zh-TW" altLang="en-US" sz="1300" dirty="0">
                <a:solidFill>
                  <a:schemeClr val="tx1"/>
                </a:solidFill>
              </a:rPr>
              <a:t>每張照片判讀 3 次，取多數決；整潔度意見不一致時取較髒的等級</a:t>
            </a:r>
            <a:endParaRPr lang="zh-TW" sz="13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zh-TW" altLang="en-US" sz="1300" dirty="0">
                <a:solidFill>
                  <a:schemeClr val="tx1"/>
                </a:solidFill>
              </a:rPr>
              <a:t>角度不同、無法比對的照片送人工，不當作沒問題</a:t>
            </a:r>
            <a:endParaRPr lang="zh-TW" sz="1300" dirty="0"/>
          </a:p>
        </p:txBody>
      </p:sp>
      <p:sp>
        <p:nvSpPr>
          <p:cNvPr id="15" name="Shape 9"/>
          <p:cNvSpPr/>
          <p:nvPr/>
        </p:nvSpPr>
        <p:spPr>
          <a:xfrm>
            <a:off x="548640" y="4736592"/>
            <a:ext cx="2636444" cy="932688"/>
          </a:xfrm>
          <a:prstGeom prst="roundRect">
            <a:avLst>
              <a:gd name="adj" fmla="val 9804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685800" y="486460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4960620"/>
            <a:ext cx="192024" cy="19202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143000" y="4846320"/>
            <a:ext cx="19506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為什麼用視覺語言模型</a:t>
            </a:r>
            <a:endParaRPr lang="zh-TW" sz="1300" dirty="0"/>
          </a:p>
        </p:txBody>
      </p:sp>
      <p:sp>
        <p:nvSpPr>
          <p:cNvPr id="19" name="Text 12"/>
          <p:cNvSpPr txBox="1"/>
          <p:nvPr/>
        </p:nvSpPr>
        <p:spPr>
          <a:xfrm>
            <a:off x="685800" y="5239512"/>
            <a:ext cx="23804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100" dirty="0">
                <a:solidFill>
                  <a:schemeClr val="tx2"/>
                </a:solidFill>
              </a:rPr>
              <a:t>不必先標註大量資料；一個模型看車損、整潔、遺留物、卡片</a:t>
            </a:r>
            <a:endParaRPr lang="zh-TW" sz="1100" dirty="0"/>
          </a:p>
        </p:txBody>
      </p:sp>
      <p:sp>
        <p:nvSpPr>
          <p:cNvPr id="20" name="Shape 13"/>
          <p:cNvSpPr/>
          <p:nvPr/>
        </p:nvSpPr>
        <p:spPr>
          <a:xfrm>
            <a:off x="3367964" y="4736592"/>
            <a:ext cx="2636444" cy="932688"/>
          </a:xfrm>
          <a:prstGeom prst="roundRect">
            <a:avLst>
              <a:gd name="adj" fmla="val 9804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Shape 14"/>
          <p:cNvSpPr/>
          <p:nvPr/>
        </p:nvSpPr>
        <p:spPr>
          <a:xfrm>
            <a:off x="3505124" y="486460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1136" y="4960620"/>
            <a:ext cx="192024" cy="192024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3962324" y="4846320"/>
            <a:ext cx="19506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為什麼自架 Qwen 系列</a:t>
            </a:r>
            <a:endParaRPr lang="zh-TW" sz="1300" dirty="0"/>
          </a:p>
        </p:txBody>
      </p:sp>
      <p:sp>
        <p:nvSpPr>
          <p:cNvPr id="24" name="Text 16"/>
          <p:cNvSpPr txBox="1"/>
          <p:nvPr/>
        </p:nvSpPr>
        <p:spPr>
          <a:xfrm>
            <a:off x="3505124" y="5239512"/>
            <a:ext cx="23804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100" dirty="0">
                <a:solidFill>
                  <a:schemeClr val="tx2"/>
                </a:solidFill>
              </a:rPr>
              <a:t>照片不外流；每天約 8.2 萬次判讀，不按次付費</a:t>
            </a:r>
            <a:endParaRPr lang="zh-TW" sz="1100" dirty="0"/>
          </a:p>
        </p:txBody>
      </p:sp>
      <p:sp>
        <p:nvSpPr>
          <p:cNvPr id="25" name="Shape 17"/>
          <p:cNvSpPr/>
          <p:nvPr/>
        </p:nvSpPr>
        <p:spPr>
          <a:xfrm>
            <a:off x="6187288" y="4736592"/>
            <a:ext cx="2636444" cy="932688"/>
          </a:xfrm>
          <a:prstGeom prst="roundRect">
            <a:avLst>
              <a:gd name="adj" fmla="val 9804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6324448" y="486460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460" y="4960620"/>
            <a:ext cx="192024" cy="192024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781648" y="4846320"/>
            <a:ext cx="19506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為什麼檢查放在手機</a:t>
            </a:r>
            <a:endParaRPr lang="zh-TW" sz="1300" dirty="0"/>
          </a:p>
        </p:txBody>
      </p:sp>
      <p:sp>
        <p:nvSpPr>
          <p:cNvPr id="29" name="Text 20"/>
          <p:cNvSpPr txBox="1"/>
          <p:nvPr/>
        </p:nvSpPr>
        <p:spPr>
          <a:xfrm>
            <a:off x="6324448" y="5239512"/>
            <a:ext cx="23804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100" dirty="0">
                <a:solidFill>
                  <a:schemeClr val="tx2"/>
                </a:solidFill>
              </a:rPr>
              <a:t>上傳後才檢查用戶已離開；在手機上即時回饋</a:t>
            </a:r>
            <a:endParaRPr lang="zh-TW" sz="1100" dirty="0"/>
          </a:p>
        </p:txBody>
      </p:sp>
      <p:sp>
        <p:nvSpPr>
          <p:cNvPr id="30" name="Shape 21"/>
          <p:cNvSpPr/>
          <p:nvPr/>
        </p:nvSpPr>
        <p:spPr>
          <a:xfrm>
            <a:off x="9006611" y="4736592"/>
            <a:ext cx="2636444" cy="932688"/>
          </a:xfrm>
          <a:prstGeom prst="roundRect">
            <a:avLst>
              <a:gd name="adj" fmla="val 9804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9143771" y="486460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9783" y="4960620"/>
            <a:ext cx="192024" cy="192024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9600971" y="4846320"/>
            <a:ext cx="19506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為什麼用 PaddleOCR</a:t>
            </a:r>
            <a:endParaRPr lang="zh-TW" sz="1300" dirty="0"/>
          </a:p>
        </p:txBody>
      </p:sp>
      <p:sp>
        <p:nvSpPr>
          <p:cNvPr id="34" name="Text 24"/>
          <p:cNvSpPr txBox="1"/>
          <p:nvPr/>
        </p:nvSpPr>
        <p:spPr>
          <a:xfrm>
            <a:off x="9143771" y="5239512"/>
            <a:ext cx="23804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100" dirty="0">
                <a:solidFill>
                  <a:schemeClr val="tx2"/>
                </a:solidFill>
              </a:rPr>
              <a:t>開源、約 15 MB 打包進 App，每 0.5 秒辨識；畫面不上傳</a:t>
            </a:r>
            <a:endParaRPr lang="zh-TW" sz="1100" dirty="0"/>
          </a:p>
        </p:txBody>
      </p:sp>
      <p:sp>
        <p:nvSpPr>
          <p:cNvPr id="35" name="Shape 25"/>
          <p:cNvSpPr/>
          <p:nvPr/>
        </p:nvSpPr>
        <p:spPr>
          <a:xfrm>
            <a:off x="548640" y="5806440"/>
            <a:ext cx="11094415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6" name="Text 26"/>
          <p:cNvSpPr txBox="1"/>
          <p:nvPr/>
        </p:nvSpPr>
        <p:spPr>
          <a:xfrm>
            <a:off x="777240" y="580644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設計原則：寧可多報，不要漏報。</a:t>
            </a:r>
            <a:r>
              <a:rPr lang="zh-TW" altLang="en-US" sz="1300" dirty="0">
                <a:solidFill>
                  <a:schemeClr val="tx1"/>
                </a:solidFill>
              </a:rPr>
              <a:t>漏掉一台髒車或新車損的代價，高於多一次人工確認；標記率在試點時實測並調整門檻。</a:t>
            </a:r>
            <a:endParaRPr lang="zh-TW" sz="13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4　AI 應用方法｜實測結果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主辦方 144 組照片：車損召回率 100%、誤報率 3%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51760" cy="1481328"/>
          </a:xfrm>
          <a:prstGeom prst="roundRect">
            <a:avLst>
              <a:gd name="adj" fmla="val 61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727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4000" b="1" dirty="0">
                <a:solidFill>
                  <a:schemeClr val="accent1"/>
                </a:solidFill>
              </a:rPr>
              <a:t>100%</a:t>
            </a:r>
            <a:endParaRPr lang="zh-TW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128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車損召回率</a:t>
            </a:r>
            <a:endParaRPr lang="zh-TW" sz="1400" dirty="0"/>
          </a:p>
          <a:p>
            <a:pPr marL="0" indent="0">
              <a:buNone/>
            </a:pPr>
            <a:r>
              <a:rPr lang="zh-TW" altLang="en-US" sz="1150" dirty="0">
                <a:solidFill>
                  <a:schemeClr val="tx2"/>
                </a:solidFill>
              </a:rPr>
              <a:t>24 組有索賠的照片，</a:t>
            </a:r>
            <a:endParaRPr lang="zh-TW" sz="1400" dirty="0"/>
          </a:p>
          <a:p>
            <a:pPr marL="0" indent="0">
              <a:buNone/>
            </a:pPr>
            <a:r>
              <a:rPr lang="zh-TW" altLang="en-US" sz="1150" dirty="0">
                <a:solidFill>
                  <a:schemeClr val="tx2"/>
                </a:solidFill>
              </a:rPr>
              <a:t>全部判為新車損</a:t>
            </a:r>
            <a:endParaRPr lang="zh-TW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127248"/>
            <a:ext cx="2651760" cy="1481328"/>
          </a:xfrm>
          <a:prstGeom prst="roundRect">
            <a:avLst>
              <a:gd name="adj" fmla="val 61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23697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4000" b="1" dirty="0">
                <a:solidFill>
                  <a:schemeClr val="accent1"/>
                </a:solidFill>
              </a:rPr>
              <a:t>3%</a:t>
            </a:r>
            <a:endParaRPr lang="zh-TW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877056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50" b="1" dirty="0">
                <a:solidFill>
                  <a:schemeClr val="tx1"/>
                </a:solidFill>
              </a:rPr>
              <a:t>誤報率</a:t>
            </a:r>
            <a:endParaRPr lang="zh-TW" sz="1400" dirty="0"/>
          </a:p>
          <a:p>
            <a:pPr marL="0" indent="0">
              <a:buNone/>
            </a:pPr>
            <a:r>
              <a:rPr lang="zh-TW" altLang="en-US" sz="1150" dirty="0">
                <a:solidFill>
                  <a:schemeClr val="tx2"/>
                </a:solidFill>
              </a:rPr>
              <a:t>120 組沒有索賠的照片中，</a:t>
            </a:r>
            <a:endParaRPr lang="zh-TW" sz="1400" dirty="0"/>
          </a:p>
          <a:p>
            <a:pPr marL="0" indent="0">
              <a:buNone/>
            </a:pPr>
            <a:r>
              <a:rPr lang="zh-TW" altLang="en-US" sz="1150" dirty="0">
                <a:solidFill>
                  <a:schemeClr val="tx2"/>
                </a:solidFill>
              </a:rPr>
              <a:t>被誤判的比例</a:t>
            </a:r>
            <a:endParaRPr lang="zh-TW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754880"/>
            <a:ext cx="2651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100" dirty="0">
                <a:solidFill>
                  <a:schemeClr val="tx2"/>
                </a:solidFill>
              </a:rPr>
              <a:t>評估方式：同一套提示詞與多數決規則，每組判讀 3 次；搭配拍照時的角度審核與光線判斷。右側為實際判讀結果，車牌已遮蔽。</a:t>
            </a:r>
            <a:endParaRPr lang="zh-TW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1463040"/>
            <a:ext cx="3969868" cy="2212848"/>
          </a:xfrm>
          <a:prstGeom prst="roundRect">
            <a:avLst>
              <a:gd name="adj" fmla="val 41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2" name="Image 0" descr="主辦方照片：取車時車身左前完好（車牌已遮蔽）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600200"/>
            <a:ext cx="1090422" cy="193852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3666744" y="1655064"/>
            <a:ext cx="457200" cy="219456"/>
          </a:xfrm>
          <a:prstGeom prst="roundRect">
            <a:avLst>
              <a:gd name="adj" fmla="val 20833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950" b="1" dirty="0">
                <a:solidFill>
                  <a:schemeClr val="bg1"/>
                </a:solidFill>
              </a:rPr>
              <a:t>取車</a:t>
            </a:r>
            <a:endParaRPr lang="zh-TW" sz="950" dirty="0"/>
          </a:p>
        </p:txBody>
      </p:sp>
      <p:pic>
        <p:nvPicPr>
          <p:cNvPr id="14" name="Image 1" descr="主辦方照片：還車時車身左前嚴重受損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7166" y="1600200"/>
            <a:ext cx="1090422" cy="193852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812030" y="1655064"/>
            <a:ext cx="457200" cy="219456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950" b="1" dirty="0">
                <a:solidFill>
                  <a:schemeClr val="bg1"/>
                </a:solidFill>
              </a:rPr>
              <a:t>還車</a:t>
            </a:r>
            <a:endParaRPr lang="zh-TW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5993892" y="1600200"/>
            <a:ext cx="1313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050" dirty="0">
                <a:solidFill>
                  <a:schemeClr val="accent2"/>
                </a:solidFill>
              </a:rPr>
              <a:t>車身左前・白天</a:t>
            </a:r>
            <a:endParaRPr lang="zh-TW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5993892" y="1874520"/>
            <a:ext cx="1313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800" b="1" dirty="0">
                <a:solidFill>
                  <a:schemeClr val="accent1"/>
                </a:solidFill>
              </a:rPr>
              <a:t>新車損</a:t>
            </a:r>
            <a:endParaRPr lang="zh-TW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5993892" y="2350008"/>
            <a:ext cx="1313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150" dirty="0">
                <a:solidFill>
                  <a:schemeClr val="tx1"/>
                </a:solidFill>
              </a:rPr>
              <a:t>3 次判讀都判定新車損：保險桿破裂、大燈破損、葉子板凹陷</a:t>
            </a:r>
            <a:endParaRPr lang="zh-TW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5993892" y="3291840"/>
            <a:ext cx="1313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000" dirty="0">
                <a:solidFill>
                  <a:schemeClr val="accent2"/>
                </a:solidFill>
              </a:rPr>
              <a:t>信心 0.98–0.99</a:t>
            </a:r>
            <a:endParaRPr lang="zh-TW" sz="1000" dirty="0"/>
          </a:p>
        </p:txBody>
      </p:sp>
      <p:sp>
        <p:nvSpPr>
          <p:cNvPr id="20" name="Shape 16"/>
          <p:cNvSpPr/>
          <p:nvPr/>
        </p:nvSpPr>
        <p:spPr>
          <a:xfrm>
            <a:off x="7673188" y="1463040"/>
            <a:ext cx="3969868" cy="2212848"/>
          </a:xfrm>
          <a:prstGeom prst="roundRect">
            <a:avLst>
              <a:gd name="adj" fmla="val 41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1" name="Image 2" descr="主辦方照片：夜間取車時車身左後完好（車牌已遮蔽）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348" y="1600200"/>
            <a:ext cx="1090422" cy="193852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865212" y="1655064"/>
            <a:ext cx="457200" cy="219456"/>
          </a:xfrm>
          <a:prstGeom prst="roundRect">
            <a:avLst>
              <a:gd name="adj" fmla="val 20833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950" b="1" dirty="0">
                <a:solidFill>
                  <a:schemeClr val="bg1"/>
                </a:solidFill>
              </a:rPr>
              <a:t>取車</a:t>
            </a:r>
            <a:endParaRPr lang="zh-TW" sz="950" dirty="0"/>
          </a:p>
        </p:txBody>
      </p:sp>
      <p:pic>
        <p:nvPicPr>
          <p:cNvPr id="23" name="Image 3" descr="主辦方照片：夜間還車時車身左後保險桿凹陷破裂（車牌已遮蔽）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5634" y="1600200"/>
            <a:ext cx="1090422" cy="193852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010498" y="1655064"/>
            <a:ext cx="457200" cy="219456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950" b="1" dirty="0">
                <a:solidFill>
                  <a:schemeClr val="bg1"/>
                </a:solidFill>
              </a:rPr>
              <a:t>還車</a:t>
            </a:r>
            <a:endParaRPr lang="zh-TW" sz="950" dirty="0"/>
          </a:p>
        </p:txBody>
      </p:sp>
      <p:sp>
        <p:nvSpPr>
          <p:cNvPr id="25" name="Text 19"/>
          <p:cNvSpPr txBox="1"/>
          <p:nvPr/>
        </p:nvSpPr>
        <p:spPr>
          <a:xfrm>
            <a:off x="10192360" y="1600200"/>
            <a:ext cx="1313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050" dirty="0">
                <a:solidFill>
                  <a:schemeClr val="accent2"/>
                </a:solidFill>
              </a:rPr>
              <a:t>車身左後・夜間</a:t>
            </a:r>
            <a:endParaRPr lang="zh-TW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10192360" y="1874520"/>
            <a:ext cx="1313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800" b="1" dirty="0">
                <a:solidFill>
                  <a:schemeClr val="accent1"/>
                </a:solidFill>
              </a:rPr>
              <a:t>新車損</a:t>
            </a:r>
            <a:endParaRPr lang="zh-TW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10192360" y="2350008"/>
            <a:ext cx="1313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150" dirty="0">
                <a:solidFill>
                  <a:schemeClr val="tx1"/>
                </a:solidFill>
              </a:rPr>
              <a:t>3 次判讀都判定新車損：保險桿凹陷破裂、葉子板凹陷</a:t>
            </a:r>
            <a:endParaRPr lang="zh-TW" sz="1150" dirty="0"/>
          </a:p>
        </p:txBody>
      </p:sp>
      <p:sp>
        <p:nvSpPr>
          <p:cNvPr id="28" name="Text 22"/>
          <p:cNvSpPr txBox="1"/>
          <p:nvPr/>
        </p:nvSpPr>
        <p:spPr>
          <a:xfrm>
            <a:off x="10192360" y="3291840"/>
            <a:ext cx="1313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000" dirty="0">
                <a:solidFill>
                  <a:schemeClr val="accent2"/>
                </a:solidFill>
              </a:rPr>
              <a:t>信心 0.95–0.98</a:t>
            </a:r>
            <a:endParaRPr lang="zh-TW" sz="1000" dirty="0"/>
          </a:p>
        </p:txBody>
      </p:sp>
      <p:sp>
        <p:nvSpPr>
          <p:cNvPr id="29" name="Shape 23"/>
          <p:cNvSpPr/>
          <p:nvPr/>
        </p:nvSpPr>
        <p:spPr>
          <a:xfrm>
            <a:off x="3474720" y="3904488"/>
            <a:ext cx="3969868" cy="2212848"/>
          </a:xfrm>
          <a:prstGeom prst="roundRect">
            <a:avLst>
              <a:gd name="adj" fmla="val 41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30" name="Image 4" descr="主辦方照片：還車時前座乾淨（夜間）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4041648"/>
            <a:ext cx="1090422" cy="193852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3666744" y="4096512"/>
            <a:ext cx="457200" cy="219456"/>
          </a:xfrm>
          <a:prstGeom prst="roundRect">
            <a:avLst>
              <a:gd name="adj" fmla="val 20833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950" b="1" dirty="0">
                <a:solidFill>
                  <a:schemeClr val="bg1"/>
                </a:solidFill>
              </a:rPr>
              <a:t>前座</a:t>
            </a:r>
            <a:endParaRPr lang="zh-TW" sz="950" dirty="0"/>
          </a:p>
        </p:txBody>
      </p:sp>
      <p:pic>
        <p:nvPicPr>
          <p:cNvPr id="32" name="Image 5" descr="主辦方照片：還車時後座座椅有碎屑、地墊有沙土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7166" y="4041648"/>
            <a:ext cx="1090422" cy="193852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4812030" y="4096512"/>
            <a:ext cx="457200" cy="219456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950" b="1" dirty="0">
                <a:solidFill>
                  <a:schemeClr val="bg1"/>
                </a:solidFill>
              </a:rPr>
              <a:t>後座</a:t>
            </a:r>
            <a:endParaRPr lang="zh-TW" sz="950" dirty="0"/>
          </a:p>
        </p:txBody>
      </p:sp>
      <p:sp>
        <p:nvSpPr>
          <p:cNvPr id="34" name="Text 26"/>
          <p:cNvSpPr txBox="1"/>
          <p:nvPr/>
        </p:nvSpPr>
        <p:spPr>
          <a:xfrm>
            <a:off x="5993892" y="4041648"/>
            <a:ext cx="1313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050" dirty="0">
                <a:solidFill>
                  <a:schemeClr val="accent2"/>
                </a:solidFill>
              </a:rPr>
              <a:t>還車車內・夜間</a:t>
            </a:r>
            <a:endParaRPr lang="zh-TW" sz="1050" dirty="0"/>
          </a:p>
        </p:txBody>
      </p:sp>
      <p:sp>
        <p:nvSpPr>
          <p:cNvPr id="35" name="Text 27"/>
          <p:cNvSpPr txBox="1"/>
          <p:nvPr/>
        </p:nvSpPr>
        <p:spPr>
          <a:xfrm>
            <a:off x="5993892" y="4315968"/>
            <a:ext cx="1313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前座 </a:t>
            </a:r>
            <a:r>
              <a:rPr lang="zh-TW" altLang="en-US" sz="1400" b="1" dirty="0">
                <a:solidFill>
                  <a:schemeClr val="accent5"/>
                </a:solidFill>
              </a:rPr>
              <a:t>乾淨</a:t>
            </a:r>
            <a:endParaRPr lang="zh-TW" sz="1400" dirty="0"/>
          </a:p>
          <a:p>
            <a:pPr marL="0" indent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後座 </a:t>
            </a:r>
            <a:r>
              <a:rPr lang="zh-TW" altLang="en-US" sz="1400" b="1" dirty="0">
                <a:solidFill>
                  <a:schemeClr val="accent1"/>
                </a:solidFill>
              </a:rPr>
              <a:t>髒汙</a:t>
            </a:r>
            <a:endParaRPr lang="zh-TW" sz="1400" dirty="0"/>
          </a:p>
        </p:txBody>
      </p:sp>
      <p:sp>
        <p:nvSpPr>
          <p:cNvPr id="36" name="Text 28"/>
          <p:cNvSpPr txBox="1"/>
          <p:nvPr/>
        </p:nvSpPr>
        <p:spPr>
          <a:xfrm>
            <a:off x="5993892" y="4974336"/>
            <a:ext cx="1313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150" dirty="0">
                <a:solidFill>
                  <a:schemeClr val="tx1"/>
                </a:solidFill>
              </a:rPr>
              <a:t>後座座椅有碎屑、地墊有沙土，需要清潔</a:t>
            </a:r>
            <a:endParaRPr lang="zh-TW" sz="1150" dirty="0"/>
          </a:p>
        </p:txBody>
      </p:sp>
      <p:sp>
        <p:nvSpPr>
          <p:cNvPr id="37" name="Text 29"/>
          <p:cNvSpPr txBox="1"/>
          <p:nvPr/>
        </p:nvSpPr>
        <p:spPr>
          <a:xfrm>
            <a:off x="5993892" y="5733288"/>
            <a:ext cx="1313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000" dirty="0">
                <a:solidFill>
                  <a:schemeClr val="accent2"/>
                </a:solidFill>
              </a:rPr>
              <a:t>信心 0.95</a:t>
            </a:r>
            <a:endParaRPr lang="zh-TW" sz="1000" dirty="0"/>
          </a:p>
        </p:txBody>
      </p:sp>
      <p:sp>
        <p:nvSpPr>
          <p:cNvPr id="38" name="Shape 30"/>
          <p:cNvSpPr/>
          <p:nvPr/>
        </p:nvSpPr>
        <p:spPr>
          <a:xfrm>
            <a:off x="7673188" y="3904488"/>
            <a:ext cx="3969868" cy="2212848"/>
          </a:xfrm>
          <a:prstGeom prst="roundRect">
            <a:avLst>
              <a:gd name="adj" fmla="val 41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39" name="Image 6" descr="主辦方照片：還車時前座儀表板有灰塵、腳踏墊有污漬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0348" y="4041648"/>
            <a:ext cx="1090422" cy="193852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7865212" y="4096512"/>
            <a:ext cx="457200" cy="219456"/>
          </a:xfrm>
          <a:prstGeom prst="roundRect">
            <a:avLst>
              <a:gd name="adj" fmla="val 2083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950" b="1" dirty="0">
                <a:solidFill>
                  <a:schemeClr val="bg1"/>
                </a:solidFill>
              </a:rPr>
              <a:t>前座</a:t>
            </a:r>
            <a:endParaRPr lang="zh-TW" sz="950" dirty="0"/>
          </a:p>
        </p:txBody>
      </p:sp>
      <p:pic>
        <p:nvPicPr>
          <p:cNvPr id="41" name="Image 7" descr="主辦方照片：還車時後座乾淨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55634" y="4041648"/>
            <a:ext cx="1090422" cy="1938528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010498" y="4096512"/>
            <a:ext cx="457200" cy="219456"/>
          </a:xfrm>
          <a:prstGeom prst="roundRect">
            <a:avLst>
              <a:gd name="adj" fmla="val 20833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950" b="1" dirty="0">
                <a:solidFill>
                  <a:schemeClr val="bg1"/>
                </a:solidFill>
              </a:rPr>
              <a:t>後座</a:t>
            </a:r>
            <a:endParaRPr lang="zh-TW" sz="950" dirty="0"/>
          </a:p>
        </p:txBody>
      </p:sp>
      <p:sp>
        <p:nvSpPr>
          <p:cNvPr id="43" name="Text 33"/>
          <p:cNvSpPr txBox="1"/>
          <p:nvPr/>
        </p:nvSpPr>
        <p:spPr>
          <a:xfrm>
            <a:off x="10192360" y="4041648"/>
            <a:ext cx="1313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050" dirty="0">
                <a:solidFill>
                  <a:schemeClr val="accent2"/>
                </a:solidFill>
              </a:rPr>
              <a:t>還車車內・白天</a:t>
            </a:r>
            <a:endParaRPr lang="zh-TW" sz="1050" dirty="0"/>
          </a:p>
        </p:txBody>
      </p:sp>
      <p:sp>
        <p:nvSpPr>
          <p:cNvPr id="44" name="Text 34"/>
          <p:cNvSpPr txBox="1"/>
          <p:nvPr/>
        </p:nvSpPr>
        <p:spPr>
          <a:xfrm>
            <a:off x="10192360" y="4315968"/>
            <a:ext cx="1313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前座 </a:t>
            </a:r>
            <a:r>
              <a:rPr lang="zh-TW" altLang="en-US" sz="1400" b="1" dirty="0">
                <a:solidFill>
                  <a:schemeClr val="accent1"/>
                </a:solidFill>
              </a:rPr>
              <a:t>髒汙</a:t>
            </a:r>
            <a:endParaRPr lang="zh-TW" sz="1400" dirty="0"/>
          </a:p>
          <a:p>
            <a:pPr marL="0" indent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後座 </a:t>
            </a:r>
            <a:r>
              <a:rPr lang="zh-TW" altLang="en-US" sz="1400" b="1" dirty="0">
                <a:solidFill>
                  <a:schemeClr val="accent5"/>
                </a:solidFill>
              </a:rPr>
              <a:t>乾淨</a:t>
            </a:r>
            <a:endParaRPr lang="zh-TW" sz="1400" dirty="0"/>
          </a:p>
        </p:txBody>
      </p:sp>
      <p:sp>
        <p:nvSpPr>
          <p:cNvPr id="45" name="Text 35"/>
          <p:cNvSpPr txBox="1"/>
          <p:nvPr/>
        </p:nvSpPr>
        <p:spPr>
          <a:xfrm>
            <a:off x="10192360" y="4974336"/>
            <a:ext cx="1313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150" dirty="0">
                <a:solidFill>
                  <a:schemeClr val="tx1"/>
                </a:solidFill>
              </a:rPr>
              <a:t>儀表板與中控台有灰塵，腳踏墊有深色污漬</a:t>
            </a:r>
            <a:endParaRPr lang="zh-TW" sz="1150" dirty="0"/>
          </a:p>
        </p:txBody>
      </p:sp>
      <p:sp>
        <p:nvSpPr>
          <p:cNvPr id="46" name="Text 36"/>
          <p:cNvSpPr txBox="1"/>
          <p:nvPr/>
        </p:nvSpPr>
        <p:spPr>
          <a:xfrm>
            <a:off x="10192360" y="5733288"/>
            <a:ext cx="1313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000" dirty="0">
                <a:solidFill>
                  <a:schemeClr val="accent2"/>
                </a:solidFill>
              </a:rPr>
              <a:t>信心 0.95</a:t>
            </a:r>
            <a:endParaRPr lang="zh-TW" sz="10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4　AI 應用方法｜導入後系統架構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導入後架構：手機把關、自架 AI 判讀、營運閉環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200" b="1" dirty="0">
                <a:solidFill>
                  <a:schemeClr val="tx2"/>
                </a:solidFill>
              </a:rPr>
              <a:t>用戶手機</a:t>
            </a:r>
            <a:endParaRPr lang="zh-TW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148840" cy="292608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37360" y="1783080"/>
            <a:ext cx="868680" cy="237744"/>
          </a:xfrm>
          <a:prstGeom prst="roundRect">
            <a:avLst>
              <a:gd name="adj" fmla="val 19231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950" b="1" dirty="0">
                <a:solidFill>
                  <a:schemeClr val="bg1"/>
                </a:solidFill>
              </a:rPr>
              <a:t>原型已實作</a:t>
            </a:r>
            <a:endParaRPr lang="zh-TW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075688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iRent App</a:t>
            </a:r>
            <a:endParaRPr lang="zh-TW" sz="1400" dirty="0"/>
          </a:p>
          <a:p>
            <a:pPr marL="0" indent="0">
              <a:buNone/>
            </a:pPr>
            <a:r>
              <a:rPr lang="zh-TW" altLang="en-US" sz="1150" b="1" dirty="0">
                <a:solidFill>
                  <a:schemeClr val="accent1"/>
                </a:solidFill>
              </a:rPr>
              <a:t>內嵌 iRent+ 拍照模組</a:t>
            </a:r>
            <a:endParaRPr lang="zh-TW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69748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zh-TW" altLang="en-US" sz="1150" dirty="0">
                <a:solidFill>
                  <a:schemeClr val="tx1"/>
                </a:solidFill>
              </a:rPr>
              <a:t>疊上次照片對齊</a:t>
            </a:r>
            <a:endParaRPr lang="zh-TW" sz="11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zh-TW" altLang="en-US" sz="1150" dirty="0">
                <a:solidFill>
                  <a:schemeClr val="tx1"/>
                </a:solidFill>
              </a:rPr>
              <a:t>畫質：清晰度、亮度</a:t>
            </a:r>
            <a:endParaRPr lang="zh-TW" sz="11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zh-TW" altLang="en-US" sz="1150" dirty="0">
                <a:solidFill>
                  <a:schemeClr val="tx1"/>
                </a:solidFill>
              </a:rPr>
              <a:t>車牌辨識（PaddleOCR）</a:t>
            </a:r>
            <a:endParaRPr lang="zh-TW" sz="11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zh-TW" altLang="en-US" sz="1150" dirty="0">
                <a:solidFill>
                  <a:schemeClr val="tx1"/>
                </a:solidFill>
              </a:rPr>
              <a:t>角度、遠近、光線</a:t>
            </a:r>
            <a:endParaRPr lang="zh-TW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7216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050" dirty="0">
                <a:solidFill>
                  <a:schemeClr val="tx2"/>
                </a:solidFill>
              </a:rPr>
              <a:t>全部在手機上運算，</a:t>
            </a:r>
            <a:endParaRPr lang="zh-TW" sz="1050" dirty="0"/>
          </a:p>
          <a:p>
            <a:pPr marL="0" indent="0">
              <a:buNone/>
            </a:pPr>
            <a:r>
              <a:rPr lang="zh-TW" altLang="en-US" sz="1050" dirty="0">
                <a:solidFill>
                  <a:schemeClr val="tx2"/>
                </a:solidFill>
              </a:rPr>
              <a:t>不合格當場重拍</a:t>
            </a:r>
            <a:endParaRPr lang="zh-TW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4160520"/>
            <a:ext cx="18745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4215384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zh-TW" altLang="en-US" sz="1150" b="1" dirty="0">
                <a:solidFill>
                  <a:schemeClr val="tx1"/>
                </a:solidFill>
              </a:rPr>
              <a:t>取還車確認單</a:t>
            </a:r>
            <a:endParaRPr lang="zh-TW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154680" y="1371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200" b="1" dirty="0">
                <a:solidFill>
                  <a:schemeClr val="tx2"/>
                </a:solidFill>
              </a:rPr>
              <a:t>iRent 既有系統</a:t>
            </a:r>
            <a:endParaRPr lang="zh-TW" sz="1200" dirty="0"/>
          </a:p>
        </p:txBody>
      </p:sp>
      <p:sp>
        <p:nvSpPr>
          <p:cNvPr id="13" name="Shape 11"/>
          <p:cNvSpPr/>
          <p:nvPr/>
        </p:nvSpPr>
        <p:spPr>
          <a:xfrm>
            <a:off x="3154680" y="1691640"/>
            <a:ext cx="1691640" cy="566928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3264408" y="1746504"/>
            <a:ext cx="1472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會員與訂單</a:t>
            </a:r>
            <a:endParaRPr lang="zh-TW" sz="1400" dirty="0"/>
          </a:p>
          <a:p>
            <a:pPr marL="0" indent="0">
              <a:spcAft>
                <a:spcPts val="100"/>
              </a:spcAft>
              <a:buNone/>
            </a:pPr>
            <a:r>
              <a:rPr lang="zh-TW" altLang="en-US" sz="1050" dirty="0">
                <a:solidFill>
                  <a:schemeClr val="tx2"/>
                </a:solidFill>
              </a:rPr>
              <a:t>取還車事件</a:t>
            </a:r>
            <a:endParaRPr lang="zh-TW" sz="1400" dirty="0"/>
          </a:p>
        </p:txBody>
      </p:sp>
      <p:sp>
        <p:nvSpPr>
          <p:cNvPr id="15" name="Shape 13"/>
          <p:cNvSpPr/>
          <p:nvPr/>
        </p:nvSpPr>
        <p:spPr>
          <a:xfrm>
            <a:off x="3154680" y="2395728"/>
            <a:ext cx="1691640" cy="566928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3264408" y="2450592"/>
            <a:ext cx="1472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計費</a:t>
            </a:r>
            <a:endParaRPr lang="zh-TW" sz="1400" dirty="0"/>
          </a:p>
          <a:p>
            <a:pPr marL="0" indent="0">
              <a:spcAft>
                <a:spcPts val="100"/>
              </a:spcAft>
              <a:buNone/>
            </a:pPr>
            <a:r>
              <a:rPr lang="zh-TW" altLang="en-US" sz="1050" dirty="0">
                <a:solidFill>
                  <a:schemeClr val="tx2"/>
                </a:solidFill>
              </a:rPr>
              <a:t>按下還車即停止</a:t>
            </a:r>
            <a:endParaRPr lang="zh-TW" sz="1400" dirty="0"/>
          </a:p>
        </p:txBody>
      </p:sp>
      <p:sp>
        <p:nvSpPr>
          <p:cNvPr id="17" name="Shape 15"/>
          <p:cNvSpPr/>
          <p:nvPr/>
        </p:nvSpPr>
        <p:spPr>
          <a:xfrm>
            <a:off x="3154680" y="3099816"/>
            <a:ext cx="1691640" cy="566928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3264408" y="3154680"/>
            <a:ext cx="1472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車機</a:t>
            </a:r>
            <a:endParaRPr lang="zh-TW" sz="1400" dirty="0"/>
          </a:p>
          <a:p>
            <a:pPr marL="0" indent="0">
              <a:spcAft>
                <a:spcPts val="100"/>
              </a:spcAft>
              <a:buNone/>
            </a:pPr>
            <a:r>
              <a:rPr lang="zh-TW" altLang="en-US" sz="1050" dirty="0">
                <a:solidFill>
                  <a:schemeClr val="tx2"/>
                </a:solidFill>
              </a:rPr>
              <a:t>遠端開鎖、鎖門</a:t>
            </a:r>
            <a:endParaRPr lang="zh-TW" sz="1400" dirty="0"/>
          </a:p>
        </p:txBody>
      </p:sp>
      <p:sp>
        <p:nvSpPr>
          <p:cNvPr id="19" name="Shape 17"/>
          <p:cNvSpPr/>
          <p:nvPr/>
        </p:nvSpPr>
        <p:spPr>
          <a:xfrm>
            <a:off x="3154680" y="3803904"/>
            <a:ext cx="1691640" cy="566928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3264408" y="3858768"/>
            <a:ext cx="1472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照片儲存</a:t>
            </a:r>
            <a:endParaRPr lang="zh-TW" sz="1400" dirty="0"/>
          </a:p>
          <a:p>
            <a:pPr marL="0" indent="0">
              <a:spcAft>
                <a:spcPts val="100"/>
              </a:spcAft>
              <a:buNone/>
            </a:pPr>
            <a:r>
              <a:rPr lang="zh-TW" altLang="en-US" sz="1050" dirty="0">
                <a:solidFill>
                  <a:schemeClr val="tx2"/>
                </a:solidFill>
              </a:rPr>
              <a:t>原圖與縮圖</a:t>
            </a:r>
            <a:endParaRPr lang="zh-TW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154680" y="447141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000" dirty="0">
                <a:solidFill>
                  <a:schemeClr val="accent2"/>
                </a:solidFill>
              </a:rPr>
              <a:t>以 API／事件串接</a:t>
            </a:r>
            <a:endParaRPr lang="zh-TW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13716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200" b="1" dirty="0">
                <a:solidFill>
                  <a:schemeClr val="tx2"/>
                </a:solidFill>
              </a:rPr>
              <a:t>iRent+ 平台（部署在 iRent 環境）</a:t>
            </a:r>
            <a:endParaRPr lang="zh-TW" sz="1200" dirty="0"/>
          </a:p>
        </p:txBody>
      </p:sp>
      <p:sp>
        <p:nvSpPr>
          <p:cNvPr id="23" name="Shape 21"/>
          <p:cNvSpPr/>
          <p:nvPr/>
        </p:nvSpPr>
        <p:spPr>
          <a:xfrm>
            <a:off x="5303520" y="1691640"/>
            <a:ext cx="3611880" cy="2926080"/>
          </a:xfrm>
          <a:prstGeom prst="roundRect">
            <a:avLst>
              <a:gd name="adj" fmla="val 3125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0" y="1783080"/>
            <a:ext cx="868680" cy="237744"/>
          </a:xfrm>
          <a:prstGeom prst="roundRect">
            <a:avLst>
              <a:gd name="adj" fmla="val 19231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950" b="1" dirty="0">
                <a:solidFill>
                  <a:schemeClr val="bg1"/>
                </a:solidFill>
              </a:rPr>
              <a:t>原型已實作</a:t>
            </a:r>
            <a:endParaRPr lang="zh-TW" sz="950" dirty="0"/>
          </a:p>
        </p:txBody>
      </p:sp>
      <p:sp>
        <p:nvSpPr>
          <p:cNvPr id="25" name="Shape 23"/>
          <p:cNvSpPr/>
          <p:nvPr/>
        </p:nvSpPr>
        <p:spPr>
          <a:xfrm>
            <a:off x="5440680" y="2075688"/>
            <a:ext cx="3063240" cy="804672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550408" y="2130552"/>
            <a:ext cx="28437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車況資料庫</a:t>
            </a:r>
            <a:endParaRPr lang="zh-TW" sz="1400" dirty="0"/>
          </a:p>
          <a:p>
            <a:pPr marL="0" indent="0">
              <a:spcAft>
                <a:spcPts val="100"/>
              </a:spcAft>
              <a:buNone/>
            </a:pPr>
            <a:r>
              <a:rPr lang="zh-TW" altLang="en-US" sz="1050" dirty="0">
                <a:solidFill>
                  <a:schemeClr val="tx2"/>
                </a:solidFill>
              </a:rPr>
              <a:t>取還車、判讀結果、預警、工單、已知車損</a:t>
            </a:r>
            <a:endParaRPr lang="zh-TW" sz="1400" dirty="0"/>
          </a:p>
          <a:p>
            <a:pPr marL="0" indent="0">
              <a:spcAft>
                <a:spcPts val="100"/>
              </a:spcAft>
              <a:buNone/>
            </a:pPr>
            <a:r>
              <a:rPr lang="zh-TW" altLang="en-US" sz="1050" dirty="0">
                <a:solidFill>
                  <a:schemeClr val="accent1"/>
                </a:solidFill>
              </a:rPr>
              <a:t>觸發器：預警 → 工單 → 暫停出租</a:t>
            </a:r>
            <a:endParaRPr lang="zh-TW" sz="1400" dirty="0"/>
          </a:p>
        </p:txBody>
      </p:sp>
      <p:sp>
        <p:nvSpPr>
          <p:cNvPr id="27" name="Shape 25"/>
          <p:cNvSpPr/>
          <p:nvPr/>
        </p:nvSpPr>
        <p:spPr>
          <a:xfrm>
            <a:off x="5440680" y="3108960"/>
            <a:ext cx="3063240" cy="530352"/>
          </a:xfrm>
          <a:prstGeom prst="roundRect">
            <a:avLst>
              <a:gd name="adj" fmla="val 103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550408" y="3163824"/>
            <a:ext cx="2843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判讀任務佇列</a:t>
            </a:r>
            <a:endParaRPr lang="zh-TW" sz="1400" dirty="0"/>
          </a:p>
          <a:p>
            <a:pPr marL="0" indent="0">
              <a:spcAft>
                <a:spcPts val="100"/>
              </a:spcAft>
              <a:buNone/>
            </a:pPr>
            <a:r>
              <a:rPr lang="zh-TW" altLang="en-US" sz="1050" dirty="0">
                <a:solidFill>
                  <a:schemeClr val="tx2"/>
                </a:solidFill>
              </a:rPr>
              <a:t>多台判讀服務不重複領取，失敗自動重試</a:t>
            </a:r>
            <a:endParaRPr lang="zh-TW" sz="1400" dirty="0"/>
          </a:p>
        </p:txBody>
      </p:sp>
      <p:sp>
        <p:nvSpPr>
          <p:cNvPr id="29" name="Shape 27"/>
          <p:cNvSpPr/>
          <p:nvPr/>
        </p:nvSpPr>
        <p:spPr>
          <a:xfrm>
            <a:off x="5440680" y="3867912"/>
            <a:ext cx="3063240" cy="658368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550408" y="3922776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自架 GPU 判讀服務</a:t>
            </a:r>
            <a:endParaRPr lang="zh-TW" sz="1400" dirty="0"/>
          </a:p>
          <a:p>
            <a:pPr marL="0" indent="0">
              <a:spcAft>
                <a:spcPts val="100"/>
              </a:spcAft>
              <a:buNone/>
            </a:pPr>
            <a:r>
              <a:rPr lang="zh-TW" altLang="en-US" sz="1050" dirty="0">
                <a:solidFill>
                  <a:schemeClr val="tx2"/>
                </a:solidFill>
              </a:rPr>
              <a:t>Qwen 系列視覺語言模型（vLLM）</a:t>
            </a:r>
            <a:endParaRPr lang="zh-TW" sz="1400" dirty="0"/>
          </a:p>
          <a:p>
            <a:pPr marL="0" indent="0">
              <a:spcAft>
                <a:spcPts val="100"/>
              </a:spcAft>
              <a:buNone/>
            </a:pPr>
            <a:r>
              <a:rPr lang="zh-TW" altLang="en-US" sz="1050" dirty="0">
                <a:solidFill>
                  <a:schemeClr val="tx2"/>
                </a:solidFill>
              </a:rPr>
              <a:t>比對車損、整潔遺留物、卡片；3 次多數決</a:t>
            </a:r>
            <a:endParaRPr lang="zh-TW" sz="1400" dirty="0"/>
          </a:p>
        </p:txBody>
      </p:sp>
      <p:sp>
        <p:nvSpPr>
          <p:cNvPr id="31" name="Shape 29"/>
          <p:cNvSpPr/>
          <p:nvPr/>
        </p:nvSpPr>
        <p:spPr>
          <a:xfrm>
            <a:off x="5897880" y="2898648"/>
            <a:ext cx="914" cy="19202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897880" y="3657600"/>
            <a:ext cx="914" cy="19202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503920" y="4197096"/>
            <a:ext cx="155448" cy="91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59368" y="2478024"/>
            <a:ext cx="914" cy="1719072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>
            <a:off x="8513064" y="2478024"/>
            <a:ext cx="146304" cy="91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8275320" y="331927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zh-TW" altLang="en-US" sz="900" b="1" dirty="0">
                <a:solidFill>
                  <a:schemeClr val="accent1"/>
                </a:solidFill>
              </a:rPr>
              <a:t>寫回</a:t>
            </a:r>
            <a:endParaRPr lang="zh-TW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9372600" y="1371600"/>
            <a:ext cx="2270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200" b="1" dirty="0">
                <a:solidFill>
                  <a:schemeClr val="tx2"/>
                </a:solidFill>
              </a:rPr>
              <a:t>營運端</a:t>
            </a:r>
            <a:endParaRPr lang="zh-TW" sz="1200" dirty="0"/>
          </a:p>
        </p:txBody>
      </p:sp>
      <p:sp>
        <p:nvSpPr>
          <p:cNvPr id="38" name="Shape 36"/>
          <p:cNvSpPr/>
          <p:nvPr/>
        </p:nvSpPr>
        <p:spPr>
          <a:xfrm>
            <a:off x="9372600" y="1691640"/>
            <a:ext cx="2270455" cy="1783080"/>
          </a:xfrm>
          <a:prstGeom prst="roundRect">
            <a:avLst>
              <a:gd name="adj" fmla="val 51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682935" y="1783080"/>
            <a:ext cx="868680" cy="237744"/>
          </a:xfrm>
          <a:prstGeom prst="roundRect">
            <a:avLst>
              <a:gd name="adj" fmla="val 19231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950" b="1" dirty="0">
                <a:solidFill>
                  <a:schemeClr val="bg1"/>
                </a:solidFill>
              </a:rPr>
              <a:t>原型已實作</a:t>
            </a:r>
            <a:endParaRPr lang="zh-TW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9509760" y="2075688"/>
            <a:ext cx="1996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營運後台</a:t>
            </a:r>
            <a:endParaRPr lang="zh-TW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9509760" y="2423160"/>
            <a:ext cx="19961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zh-TW" altLang="en-US" sz="1150" dirty="0">
                <a:solidFill>
                  <a:schemeClr val="tx1"/>
                </a:solidFill>
              </a:rPr>
              <a:t>預警：確認或駁回</a:t>
            </a:r>
            <a:endParaRPr lang="zh-TW" sz="11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zh-TW" altLang="en-US" sz="1150" dirty="0">
                <a:solidFill>
                  <a:schemeClr val="tx1"/>
                </a:solidFill>
              </a:rPr>
              <a:t>工單：清潔、檢修</a:t>
            </a:r>
            <a:endParaRPr lang="zh-TW" sz="11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zh-TW" altLang="en-US" sz="1150" dirty="0">
                <a:solidFill>
                  <a:schemeClr val="tx1"/>
                </a:solidFill>
              </a:rPr>
              <a:t>車輛與已知車損</a:t>
            </a:r>
            <a:endParaRPr lang="zh-TW" sz="11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zh-TW" altLang="en-US" sz="1150" dirty="0">
                <a:solidFill>
                  <a:schemeClr val="tx1"/>
                </a:solidFill>
              </a:rPr>
              <a:t>顧客評論分類</a:t>
            </a:r>
            <a:endParaRPr lang="zh-TW" sz="1150" dirty="0"/>
          </a:p>
        </p:txBody>
      </p:sp>
      <p:sp>
        <p:nvSpPr>
          <p:cNvPr id="42" name="Shape 40"/>
          <p:cNvSpPr/>
          <p:nvPr/>
        </p:nvSpPr>
        <p:spPr>
          <a:xfrm>
            <a:off x="9372600" y="3639312"/>
            <a:ext cx="2270455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dash"/>
          </a:ln>
        </p:spPr>
      </p:sp>
      <p:sp>
        <p:nvSpPr>
          <p:cNvPr id="43" name="Text 41"/>
          <p:cNvSpPr txBox="1"/>
          <p:nvPr/>
        </p:nvSpPr>
        <p:spPr>
          <a:xfrm>
            <a:off x="9482328" y="3694176"/>
            <a:ext cx="20509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通知與派工</a:t>
            </a:r>
            <a:endParaRPr lang="zh-TW" sz="1400" dirty="0"/>
          </a:p>
          <a:p>
            <a:pPr marL="0" indent="0">
              <a:spcAft>
                <a:spcPts val="100"/>
              </a:spcAft>
              <a:buNone/>
            </a:pPr>
            <a:r>
              <a:rPr lang="zh-TW" altLang="en-US" sz="1050" dirty="0">
                <a:solidFill>
                  <a:schemeClr val="tx2"/>
                </a:solidFill>
              </a:rPr>
              <a:t>確認單推播給用戶；</a:t>
            </a:r>
            <a:endParaRPr lang="zh-TW" sz="1400" dirty="0"/>
          </a:p>
          <a:p>
            <a:pPr marL="0" indent="0">
              <a:spcAft>
                <a:spcPts val="100"/>
              </a:spcAft>
              <a:buNone/>
            </a:pPr>
            <a:r>
              <a:rPr lang="zh-TW" altLang="en-US" sz="1050" dirty="0">
                <a:solidFill>
                  <a:schemeClr val="tx2"/>
                </a:solidFill>
              </a:rPr>
              <a:t>清潔、維修廠商派工</a:t>
            </a:r>
            <a:endParaRPr lang="zh-TW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9372600" y="4370832"/>
            <a:ext cx="2270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chemeClr val="accent1"/>
                </a:solidFill>
              </a:rPr>
              <a:t>營運只需 1–2 人確認</a:t>
            </a:r>
            <a:endParaRPr lang="zh-TW" sz="1100" dirty="0"/>
          </a:p>
        </p:txBody>
      </p:sp>
      <p:sp>
        <p:nvSpPr>
          <p:cNvPr id="45" name="Shape 43"/>
          <p:cNvSpPr/>
          <p:nvPr/>
        </p:nvSpPr>
        <p:spPr>
          <a:xfrm>
            <a:off x="2724912" y="2606040"/>
            <a:ext cx="402336" cy="91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2706624" y="2240280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zh-TW" altLang="en-US" sz="900" b="1" dirty="0">
                <a:solidFill>
                  <a:schemeClr val="accent1"/>
                </a:solidFill>
              </a:rPr>
              <a:t>照片</a:t>
            </a:r>
            <a:endParaRPr lang="zh-TW" sz="900" dirty="0"/>
          </a:p>
          <a:p>
            <a:pPr marL="0" indent="0" algn="ctr">
              <a:buNone/>
            </a:pPr>
            <a:r>
              <a:rPr lang="zh-TW" altLang="en-US" sz="900" b="1" dirty="0">
                <a:solidFill>
                  <a:schemeClr val="accent1"/>
                </a:solidFill>
              </a:rPr>
              <a:t>上傳</a:t>
            </a:r>
            <a:endParaRPr lang="zh-TW" sz="900" dirty="0"/>
          </a:p>
        </p:txBody>
      </p:sp>
      <p:sp>
        <p:nvSpPr>
          <p:cNvPr id="47" name="Shape 45"/>
          <p:cNvSpPr/>
          <p:nvPr/>
        </p:nvSpPr>
        <p:spPr>
          <a:xfrm>
            <a:off x="4873752" y="1975104"/>
            <a:ext cx="402336" cy="91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4855464" y="161848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zh-TW" altLang="en-US" sz="900" b="1" dirty="0">
                <a:solidFill>
                  <a:schemeClr val="accent1"/>
                </a:solidFill>
              </a:rPr>
              <a:t>送出</a:t>
            </a:r>
            <a:endParaRPr lang="zh-TW" sz="900" dirty="0"/>
          </a:p>
          <a:p>
            <a:pPr marL="0" indent="0" algn="ctr">
              <a:buNone/>
            </a:pPr>
            <a:r>
              <a:rPr lang="zh-TW" altLang="en-US" sz="900" b="1" dirty="0">
                <a:solidFill>
                  <a:schemeClr val="accent1"/>
                </a:solidFill>
              </a:rPr>
              <a:t>事件</a:t>
            </a:r>
            <a:endParaRPr lang="zh-TW" sz="900" dirty="0"/>
          </a:p>
        </p:txBody>
      </p:sp>
      <p:sp>
        <p:nvSpPr>
          <p:cNvPr id="49" name="Shape 47"/>
          <p:cNvSpPr/>
          <p:nvPr/>
        </p:nvSpPr>
        <p:spPr>
          <a:xfrm>
            <a:off x="8942832" y="2258568"/>
            <a:ext cx="402336" cy="91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50" name="Text 48"/>
          <p:cNvSpPr txBox="1"/>
          <p:nvPr/>
        </p:nvSpPr>
        <p:spPr>
          <a:xfrm>
            <a:off x="8924544" y="189280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zh-TW" altLang="en-US" sz="900" b="1" dirty="0">
                <a:solidFill>
                  <a:schemeClr val="accent1"/>
                </a:solidFill>
              </a:rPr>
              <a:t>預警</a:t>
            </a:r>
            <a:endParaRPr lang="zh-TW" sz="900" dirty="0"/>
          </a:p>
          <a:p>
            <a:pPr marL="0" indent="0" algn="ctr">
              <a:buNone/>
            </a:pPr>
            <a:r>
              <a:rPr lang="zh-TW" altLang="en-US" sz="900" b="1" dirty="0">
                <a:solidFill>
                  <a:schemeClr val="accent1"/>
                </a:solidFill>
              </a:rPr>
              <a:t>工單</a:t>
            </a:r>
            <a:endParaRPr lang="zh-TW" sz="900" dirty="0"/>
          </a:p>
        </p:txBody>
      </p:sp>
      <p:sp>
        <p:nvSpPr>
          <p:cNvPr id="51" name="Shape 49"/>
          <p:cNvSpPr/>
          <p:nvPr/>
        </p:nvSpPr>
        <p:spPr>
          <a:xfrm flipH="1">
            <a:off x="8942832" y="2926080"/>
            <a:ext cx="402336" cy="91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52" name="Text 50"/>
          <p:cNvSpPr txBox="1"/>
          <p:nvPr/>
        </p:nvSpPr>
        <p:spPr>
          <a:xfrm>
            <a:off x="8924544" y="2560320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zh-TW" altLang="en-US" sz="900" b="1" dirty="0">
                <a:solidFill>
                  <a:schemeClr val="accent1"/>
                </a:solidFill>
              </a:rPr>
              <a:t>確認</a:t>
            </a:r>
            <a:endParaRPr lang="zh-TW" sz="900" dirty="0"/>
          </a:p>
          <a:p>
            <a:pPr marL="0" indent="0" algn="ctr">
              <a:buNone/>
            </a:pPr>
            <a:r>
              <a:rPr lang="zh-TW" altLang="en-US" sz="900" b="1" dirty="0">
                <a:solidFill>
                  <a:schemeClr val="accent1"/>
                </a:solidFill>
              </a:rPr>
              <a:t>駁回</a:t>
            </a:r>
            <a:endParaRPr lang="zh-TW" sz="900" dirty="0"/>
          </a:p>
        </p:txBody>
      </p:sp>
      <p:sp>
        <p:nvSpPr>
          <p:cNvPr id="53" name="Shape 51"/>
          <p:cNvSpPr/>
          <p:nvPr/>
        </p:nvSpPr>
        <p:spPr>
          <a:xfrm>
            <a:off x="8942832" y="3977640"/>
            <a:ext cx="402336" cy="91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54" name="Text 52"/>
          <p:cNvSpPr txBox="1"/>
          <p:nvPr/>
        </p:nvSpPr>
        <p:spPr>
          <a:xfrm>
            <a:off x="8924544" y="3611880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zh-TW" altLang="en-US" sz="900" b="1" dirty="0">
                <a:solidFill>
                  <a:schemeClr val="accent1"/>
                </a:solidFill>
              </a:rPr>
              <a:t>派工</a:t>
            </a:r>
            <a:endParaRPr lang="zh-TW" sz="900" dirty="0"/>
          </a:p>
          <a:p>
            <a:pPr marL="0" indent="0" algn="ctr">
              <a:buNone/>
            </a:pPr>
            <a:r>
              <a:rPr lang="zh-TW" altLang="en-US" sz="900" b="1" dirty="0">
                <a:solidFill>
                  <a:schemeClr val="accent1"/>
                </a:solidFill>
              </a:rPr>
              <a:t>通知</a:t>
            </a:r>
            <a:endParaRPr lang="zh-TW" sz="900" dirty="0"/>
          </a:p>
        </p:txBody>
      </p:sp>
      <p:sp>
        <p:nvSpPr>
          <p:cNvPr id="55" name="Shape 53"/>
          <p:cNvSpPr/>
          <p:nvPr/>
        </p:nvSpPr>
        <p:spPr>
          <a:xfrm flipH="1">
            <a:off x="2724912" y="4343400"/>
            <a:ext cx="402336" cy="91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56" name="Text 54"/>
          <p:cNvSpPr txBox="1"/>
          <p:nvPr/>
        </p:nvSpPr>
        <p:spPr>
          <a:xfrm>
            <a:off x="2706624" y="3977640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zh-TW" altLang="en-US" sz="900" b="1" dirty="0">
                <a:solidFill>
                  <a:schemeClr val="accent1"/>
                </a:solidFill>
              </a:rPr>
              <a:t>確認單</a:t>
            </a:r>
            <a:endParaRPr lang="zh-TW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4206240" y="4672584"/>
            <a:ext cx="5806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000" dirty="0">
                <a:solidFill>
                  <a:schemeClr val="accent2"/>
                </a:solidFill>
              </a:rPr>
              <a:t>每天約 8.2 萬次判讀、尖峰約 1.8 次／秒；判讀服務加機器即可擴充，照片不離開 iRent 環境</a:t>
            </a:r>
            <a:endParaRPr lang="zh-TW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548640" y="507492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資料回訓迴圈</a:t>
            </a:r>
            <a:endParaRPr lang="zh-TW" sz="1400" dirty="0"/>
          </a:p>
          <a:p>
            <a:pPr marL="0" indent="0">
              <a:buNone/>
            </a:pPr>
            <a:r>
              <a:rPr lang="zh-TW" altLang="en-US" sz="1100" dirty="0">
                <a:solidFill>
                  <a:schemeClr val="tx2"/>
                </a:solidFill>
              </a:rPr>
              <a:t>營運判斷越多，模型越準</a:t>
            </a:r>
            <a:endParaRPr lang="zh-TW" sz="1400" dirty="0"/>
          </a:p>
        </p:txBody>
      </p:sp>
      <p:sp>
        <p:nvSpPr>
          <p:cNvPr id="59" name="Shape 57"/>
          <p:cNvSpPr/>
          <p:nvPr/>
        </p:nvSpPr>
        <p:spPr>
          <a:xfrm>
            <a:off x="2697480" y="5074920"/>
            <a:ext cx="1481328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2743200" y="5074920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150" b="1" dirty="0">
                <a:solidFill>
                  <a:schemeClr val="tx1"/>
                </a:solidFill>
              </a:rPr>
              <a:t>營運確認／駁回</a:t>
            </a:r>
            <a:endParaRPr lang="zh-TW" sz="1150" dirty="0"/>
          </a:p>
        </p:txBody>
      </p:sp>
      <p:sp>
        <p:nvSpPr>
          <p:cNvPr id="61" name="Shape 59"/>
          <p:cNvSpPr/>
          <p:nvPr/>
        </p:nvSpPr>
        <p:spPr>
          <a:xfrm>
            <a:off x="4215384" y="5376672"/>
            <a:ext cx="311582" cy="91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4563542" y="5074920"/>
            <a:ext cx="1481328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609262" y="5074920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150" b="1" dirty="0">
                <a:solidFill>
                  <a:schemeClr val="tx1"/>
                </a:solidFill>
              </a:rPr>
              <a:t>累積標註資料</a:t>
            </a:r>
            <a:endParaRPr lang="zh-TW" sz="1150" dirty="0"/>
          </a:p>
        </p:txBody>
      </p:sp>
      <p:sp>
        <p:nvSpPr>
          <p:cNvPr id="64" name="Shape 62"/>
          <p:cNvSpPr/>
          <p:nvPr/>
        </p:nvSpPr>
        <p:spPr>
          <a:xfrm>
            <a:off x="6081446" y="5376672"/>
            <a:ext cx="311582" cy="91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6429604" y="5074920"/>
            <a:ext cx="1481328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475324" y="5074920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150" b="1" dirty="0">
                <a:solidFill>
                  <a:schemeClr val="tx1"/>
                </a:solidFill>
              </a:rPr>
              <a:t>重新訓練、微調</a:t>
            </a:r>
            <a:endParaRPr lang="zh-TW" sz="1150" dirty="0"/>
          </a:p>
        </p:txBody>
      </p:sp>
      <p:sp>
        <p:nvSpPr>
          <p:cNvPr id="67" name="Shape 65"/>
          <p:cNvSpPr/>
          <p:nvPr/>
        </p:nvSpPr>
        <p:spPr>
          <a:xfrm>
            <a:off x="7947508" y="5376672"/>
            <a:ext cx="311582" cy="91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8295665" y="5074920"/>
            <a:ext cx="1481328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8341385" y="5074920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150" b="1" dirty="0">
                <a:solidFill>
                  <a:schemeClr val="tx1"/>
                </a:solidFill>
              </a:rPr>
              <a:t>離線評估</a:t>
            </a:r>
            <a:endParaRPr lang="zh-TW" sz="1150" dirty="0"/>
          </a:p>
          <a:p>
            <a:pPr marL="0" indent="0" algn="ctr">
              <a:buNone/>
            </a:pPr>
            <a:r>
              <a:rPr lang="zh-TW" altLang="en-US" sz="1150" b="1" dirty="0">
                <a:solidFill>
                  <a:schemeClr val="tx1"/>
                </a:solidFill>
              </a:rPr>
              <a:t>召回率・誤報率</a:t>
            </a:r>
            <a:endParaRPr lang="zh-TW" sz="1150" dirty="0"/>
          </a:p>
        </p:txBody>
      </p:sp>
      <p:sp>
        <p:nvSpPr>
          <p:cNvPr id="70" name="Shape 68"/>
          <p:cNvSpPr/>
          <p:nvPr/>
        </p:nvSpPr>
        <p:spPr>
          <a:xfrm>
            <a:off x="9813569" y="5376672"/>
            <a:ext cx="311582" cy="91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10161727" y="5074920"/>
            <a:ext cx="1481328" cy="603504"/>
          </a:xfrm>
          <a:prstGeom prst="roundRect">
            <a:avLst>
              <a:gd name="adj" fmla="val 12121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0207447" y="5074920"/>
            <a:ext cx="13898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150" b="1" dirty="0">
                <a:solidFill>
                  <a:schemeClr val="tx1"/>
                </a:solidFill>
              </a:rPr>
              <a:t>影子模式驗證後</a:t>
            </a:r>
            <a:endParaRPr lang="zh-TW" sz="1150" dirty="0"/>
          </a:p>
          <a:p>
            <a:pPr marL="0" indent="0" algn="ctr">
              <a:buNone/>
            </a:pPr>
            <a:r>
              <a:rPr lang="zh-TW" altLang="en-US" sz="1150" b="1" dirty="0">
                <a:solidFill>
                  <a:schemeClr val="tx1"/>
                </a:solidFill>
              </a:rPr>
              <a:t>更新判讀服務</a:t>
            </a:r>
            <a:endParaRPr lang="zh-TW" sz="1150" dirty="0"/>
          </a:p>
        </p:txBody>
      </p:sp>
      <p:sp>
        <p:nvSpPr>
          <p:cNvPr id="73" name="Text 71"/>
          <p:cNvSpPr txBox="1"/>
          <p:nvPr/>
        </p:nvSpPr>
        <p:spPr>
          <a:xfrm>
            <a:off x="548640" y="5943600"/>
            <a:ext cx="868680" cy="237744"/>
          </a:xfrm>
          <a:prstGeom prst="roundRect">
            <a:avLst>
              <a:gd name="adj" fmla="val 19231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950" b="1" dirty="0">
                <a:solidFill>
                  <a:schemeClr val="bg1"/>
                </a:solidFill>
              </a:rPr>
              <a:t>原型已實作</a:t>
            </a:r>
            <a:endParaRPr lang="zh-TW" sz="950" dirty="0"/>
          </a:p>
        </p:txBody>
      </p:sp>
      <p:sp>
        <p:nvSpPr>
          <p:cNvPr id="74" name="Text 72"/>
          <p:cNvSpPr txBox="1"/>
          <p:nvPr/>
        </p:nvSpPr>
        <p:spPr>
          <a:xfrm>
            <a:off x="1508760" y="594360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000" dirty="0">
                <a:solidFill>
                  <a:schemeClr val="tx2"/>
                </a:solidFill>
              </a:rPr>
              <a:t>原型已在跑：網頁版 App、Supabase、實驗室 GPU + vLLM、營運後台</a:t>
            </a:r>
            <a:endParaRPr lang="zh-TW" sz="1000" dirty="0"/>
          </a:p>
        </p:txBody>
      </p:sp>
      <p:sp>
        <p:nvSpPr>
          <p:cNvPr id="75" name="Shape 73"/>
          <p:cNvSpPr/>
          <p:nvPr/>
        </p:nvSpPr>
        <p:spPr>
          <a:xfrm>
            <a:off x="6355080" y="5961888"/>
            <a:ext cx="457200" cy="201168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dash"/>
          </a:ln>
        </p:spPr>
      </p:sp>
      <p:sp>
        <p:nvSpPr>
          <p:cNvPr id="76" name="Text 74"/>
          <p:cNvSpPr txBox="1"/>
          <p:nvPr/>
        </p:nvSpPr>
        <p:spPr>
          <a:xfrm>
            <a:off x="6903720" y="5943600"/>
            <a:ext cx="4739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000" dirty="0">
                <a:solidFill>
                  <a:schemeClr val="tx2"/>
                </a:solidFill>
              </a:rPr>
              <a:t>導入時串接；並把網頁版換成 App 模組、資料庫與 GPU 移到 iRent 環境</a:t>
            </a:r>
            <a:endParaRPr lang="zh-TW" sz="1000" dirty="0"/>
          </a:p>
        </p:txBody>
      </p:sp>
      <p:sp>
        <p:nvSpPr>
          <p:cNvPr id="7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5　獨特優勢與差異化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從事後存證變成即時處理，資料越用越準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573182"/>
              </p:ext>
            </p:extLst>
          </p:nvPr>
        </p:nvGraphicFramePr>
        <p:xfrm>
          <a:off x="548640" y="1417320"/>
          <a:ext cx="11094415" cy="3035808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7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現行做法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8C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iRent+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00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拍照品質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5454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送出後才發現拍糊，常被要求重拍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 0.5 秒檢查畫質、車牌與角度，當場重拍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拍攝角度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5454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每次自由拍，前後角度不同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疊上上次照片，用車牌位置判斷站位與遠近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還車順序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5454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鎖門後才要拍車內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先拍車內再鎖門，計費停在按下還車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檢查方式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 err="1">
                          <a:solidFill>
                            <a:srgbClr val="45454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靠人工查看，耗費人力且不即時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 每筆都看，人只確認 AI 標記的部分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責任歸屬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5454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事後翻照片，說不清是誰造成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取車比上次、還車比取車，差異歸到對的人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髒車與車損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5454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下一位用戶取車才發現、客訴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髒車排清潔、嚴重車損先送修，都暫停出租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用戶透明度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5454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看不到判定結果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每次取還車都有確認單與營運確認狀態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27000" marR="127000" marT="38100" marB="381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645152"/>
            <a:ext cx="2602154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482803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4942332"/>
            <a:ext cx="228600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4828032"/>
            <a:ext cx="17334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iRent 專屬的資料</a:t>
            </a:r>
            <a:endParaRPr lang="zh-TW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5394960"/>
            <a:ext cx="22363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150" dirty="0">
                <a:solidFill>
                  <a:schemeClr val="tx2"/>
                </a:solidFill>
              </a:rPr>
              <a:t>營運確認的結果就是訓練資料，</a:t>
            </a:r>
            <a:endParaRPr lang="zh-TW" sz="1150" dirty="0"/>
          </a:p>
          <a:p>
            <a:pPr marL="0" indent="0">
              <a:buNone/>
            </a:pPr>
            <a:r>
              <a:rPr lang="zh-TW" altLang="en-US" sz="1150" dirty="0">
                <a:solidFill>
                  <a:schemeClr val="tx2"/>
                </a:solidFill>
              </a:rPr>
              <a:t>用得越久越準</a:t>
            </a:r>
            <a:endParaRPr lang="zh-TW" sz="1150" dirty="0"/>
          </a:p>
        </p:txBody>
      </p:sp>
      <p:sp>
        <p:nvSpPr>
          <p:cNvPr id="10" name="Shape 6"/>
          <p:cNvSpPr/>
          <p:nvPr/>
        </p:nvSpPr>
        <p:spPr>
          <a:xfrm>
            <a:off x="3379394" y="4645152"/>
            <a:ext cx="2602154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562274" y="482803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6574" y="4942332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110914" y="4828032"/>
            <a:ext cx="17334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每張照片都有比對基準</a:t>
            </a:r>
            <a:endParaRPr lang="zh-TW" sz="1350" dirty="0"/>
          </a:p>
        </p:txBody>
      </p:sp>
      <p:sp>
        <p:nvSpPr>
          <p:cNvPr id="4" name="Text 9"/>
          <p:cNvSpPr txBox="1"/>
          <p:nvPr/>
        </p:nvSpPr>
        <p:spPr>
          <a:xfrm>
            <a:off x="3562274" y="5394960"/>
            <a:ext cx="22363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150" dirty="0">
                <a:solidFill>
                  <a:schemeClr val="tx2"/>
                </a:solidFill>
              </a:rPr>
              <a:t>取車比上次、還車比取車，</a:t>
            </a:r>
            <a:endParaRPr lang="zh-TW" sz="1150" dirty="0"/>
          </a:p>
          <a:p>
            <a:pPr marL="0" indent="0">
              <a:buNone/>
            </a:pPr>
            <a:r>
              <a:rPr lang="zh-TW" altLang="en-US" sz="1150" dirty="0">
                <a:solidFill>
                  <a:schemeClr val="tx2"/>
                </a:solidFill>
              </a:rPr>
              <a:t>爭議時有照片可查</a:t>
            </a:r>
            <a:endParaRPr lang="zh-TW" sz="1150" dirty="0"/>
          </a:p>
        </p:txBody>
      </p:sp>
      <p:sp>
        <p:nvSpPr>
          <p:cNvPr id="15" name="Shape 10"/>
          <p:cNvSpPr/>
          <p:nvPr/>
        </p:nvSpPr>
        <p:spPr>
          <a:xfrm>
            <a:off x="6210148" y="4645152"/>
            <a:ext cx="2602154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393028" y="482803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7328" y="4942332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941668" y="4828032"/>
            <a:ext cx="17334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為 AI 設計的拍照流程</a:t>
            </a:r>
            <a:endParaRPr lang="zh-TW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6393028" y="5394960"/>
            <a:ext cx="22363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150" dirty="0">
                <a:solidFill>
                  <a:schemeClr val="tx2"/>
                </a:solidFill>
              </a:rPr>
              <a:t>疊影、車牌與角度檢查，</a:t>
            </a:r>
            <a:endParaRPr lang="zh-TW" sz="1150" dirty="0"/>
          </a:p>
          <a:p>
            <a:pPr marL="0" indent="0">
              <a:buNone/>
            </a:pPr>
            <a:r>
              <a:rPr lang="zh-TW" altLang="en-US" sz="1150" dirty="0">
                <a:solidFill>
                  <a:schemeClr val="tx2"/>
                </a:solidFill>
              </a:rPr>
              <a:t>讓前後照片比得起來</a:t>
            </a:r>
            <a:endParaRPr lang="zh-TW" sz="1150" dirty="0"/>
          </a:p>
        </p:txBody>
      </p:sp>
      <p:sp>
        <p:nvSpPr>
          <p:cNvPr id="20" name="Shape 14"/>
          <p:cNvSpPr/>
          <p:nvPr/>
        </p:nvSpPr>
        <p:spPr>
          <a:xfrm>
            <a:off x="9040901" y="4645152"/>
            <a:ext cx="2602154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9223781" y="482803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8081" y="4942332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772421" y="4828032"/>
            <a:ext cx="17334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從判讀到派工的閉環</a:t>
            </a:r>
            <a:endParaRPr lang="zh-TW" sz="1350" dirty="0"/>
          </a:p>
        </p:txBody>
      </p:sp>
      <p:sp>
        <p:nvSpPr>
          <p:cNvPr id="24" name="Text 17"/>
          <p:cNvSpPr txBox="1"/>
          <p:nvPr/>
        </p:nvSpPr>
        <p:spPr>
          <a:xfrm>
            <a:off x="9223781" y="5394960"/>
            <a:ext cx="22363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150" dirty="0">
                <a:solidFill>
                  <a:schemeClr val="tx2"/>
                </a:solidFill>
              </a:rPr>
              <a:t>預警自動開工單、暫停出租，</a:t>
            </a:r>
            <a:endParaRPr lang="zh-TW" sz="1150" dirty="0"/>
          </a:p>
          <a:p>
            <a:pPr marL="0" indent="0">
              <a:buNone/>
            </a:pPr>
            <a:r>
              <a:rPr lang="zh-TW" altLang="en-US" sz="1150" dirty="0">
                <a:solidFill>
                  <a:schemeClr val="tx2"/>
                </a:solidFill>
              </a:rPr>
              <a:t>不需人工轉單</a:t>
            </a:r>
            <a:endParaRPr lang="zh-TW" sz="1150" dirty="0"/>
          </a:p>
        </p:txBody>
      </p:sp>
      <p:sp>
        <p:nvSpPr>
          <p:cNvPr id="25" name="Text 18"/>
          <p:cNvSpPr txBox="1"/>
          <p:nvPr/>
        </p:nvSpPr>
        <p:spPr>
          <a:xfrm>
            <a:off x="548640" y="6108192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000" dirty="0">
                <a:solidFill>
                  <a:schemeClr val="accent2"/>
                </a:solidFill>
              </a:rPr>
              <a:t>現行做法依主辦方提供的還車流程圖與 924 則顧客評論整理</a:t>
            </a:r>
            <a:endParaRPr lang="zh-TW" sz="10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6　預期效益與落地評估｜預期效益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要每筆都檢查：人力從 10–20 人降到 1–2 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227168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15888" y="1463040"/>
            <a:ext cx="5227168" cy="2148840"/>
          </a:xfrm>
          <a:prstGeom prst="roundRect">
            <a:avLst>
              <a:gd name="adj" fmla="val 425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12968" y="22174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3600" b="1" dirty="0">
                <a:solidFill>
                  <a:schemeClr val="accent1"/>
                </a:solidFill>
              </a:rPr>
              <a:t>›</a:t>
            </a:r>
            <a:endParaRPr lang="zh-TW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691640"/>
            <a:ext cx="458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b="1" dirty="0">
                <a:solidFill>
                  <a:schemeClr val="tx2"/>
                </a:solidFill>
              </a:rPr>
              <a:t>全靠人工</a:t>
            </a:r>
            <a:endParaRPr lang="zh-TW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084832"/>
            <a:ext cx="458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600" dirty="0">
                <a:solidFill>
                  <a:schemeClr val="tx1"/>
                </a:solidFill>
              </a:rPr>
              <a:t>4,820 筆 × 每筆 1–2 分鐘</a:t>
            </a:r>
            <a:endParaRPr lang="zh-TW" sz="1600" dirty="0"/>
          </a:p>
          <a:p>
            <a:pPr marL="0" indent="0">
              <a:buNone/>
            </a:pPr>
            <a:r>
              <a:rPr lang="zh-TW" altLang="en-US" sz="1600" dirty="0">
                <a:solidFill>
                  <a:schemeClr val="tx1"/>
                </a:solidFill>
              </a:rPr>
              <a:t>= 每天 80–160 工時</a:t>
            </a:r>
            <a:endParaRPr lang="zh-TW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88920"/>
            <a:ext cx="458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3600" b="1" dirty="0">
                <a:solidFill>
                  <a:schemeClr val="tx1"/>
                </a:solidFill>
              </a:rPr>
              <a:t>≈ 10–20 人</a:t>
            </a:r>
            <a:endParaRPr lang="zh-TW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735928" y="1691640"/>
            <a:ext cx="458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導入 iRent+</a:t>
            </a:r>
            <a:endParaRPr lang="zh-TW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735928" y="2084832"/>
            <a:ext cx="4587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600" dirty="0">
                <a:solidFill>
                  <a:schemeClr val="tx1"/>
                </a:solidFill>
              </a:rPr>
              <a:t>4,820 筆 × AI 標記 10% = 482 筆</a:t>
            </a:r>
            <a:endParaRPr lang="zh-TW" sz="1600" dirty="0"/>
          </a:p>
          <a:p>
            <a:pPr marL="0" indent="0">
              <a:buNone/>
            </a:pPr>
            <a:r>
              <a:rPr lang="zh-TW" altLang="en-US" sz="1600" dirty="0">
                <a:solidFill>
                  <a:schemeClr val="tx1"/>
                </a:solidFill>
              </a:rPr>
              <a:t>× 每筆 1–2 分鐘 = 每天 8–16 工時</a:t>
            </a:r>
            <a:endParaRPr lang="zh-TW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735928" y="2788920"/>
            <a:ext cx="4587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3600" b="1" dirty="0">
                <a:solidFill>
                  <a:schemeClr val="accent1"/>
                </a:solidFill>
              </a:rPr>
              <a:t>≈ 1–2 人</a:t>
            </a:r>
            <a:endParaRPr lang="zh-TW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03320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600" b="1" dirty="0">
                <a:solidFill>
                  <a:schemeClr val="accent1"/>
                </a:solidFill>
              </a:rPr>
              <a:t>檢視工時約減少 90%，</a:t>
            </a:r>
            <a:r>
              <a:rPr lang="zh-TW" altLang="en-US" sz="1600" b="1" dirty="0">
                <a:solidFill>
                  <a:schemeClr val="tx1"/>
                </a:solidFill>
              </a:rPr>
              <a:t>人事成本每年約少 540–1,080 萬元（GPU 與導入成本見下頁）。</a:t>
            </a:r>
            <a:endParaRPr lang="zh-TW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0416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300" dirty="0">
                <a:solidFill>
                  <a:schemeClr val="tx2"/>
                </a:solidFill>
              </a:rPr>
              <a:t>實測誤報率 3%，10% 標記率是保守估計；就算標記率 20%，也只需 2–4 人（964 筆 × 1–2 分鐘 = 16–32 工時）。</a:t>
            </a:r>
            <a:endParaRPr lang="zh-TW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2602154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590288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000" b="1" dirty="0">
                <a:solidFill>
                  <a:schemeClr val="accent1"/>
                </a:solidFill>
              </a:rPr>
              <a:t>550–820 張／天</a:t>
            </a:r>
            <a:endParaRPr lang="zh-TW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093208"/>
            <a:ext cx="223639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不合格照片（約 2–3%）</a:t>
            </a:r>
            <a:endParaRPr lang="zh-TW" sz="1250" dirty="0"/>
          </a:p>
          <a:p>
            <a:pPr marL="0" indent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當場重拍，不必事後補拍</a:t>
            </a:r>
            <a:endParaRPr lang="zh-TW" sz="1250" dirty="0"/>
          </a:p>
        </p:txBody>
      </p:sp>
      <p:sp>
        <p:nvSpPr>
          <p:cNvPr id="18" name="Shape 16"/>
          <p:cNvSpPr/>
          <p:nvPr/>
        </p:nvSpPr>
        <p:spPr>
          <a:xfrm>
            <a:off x="3379394" y="4480560"/>
            <a:ext cx="2602154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62274" y="4590288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000" b="1" dirty="0">
                <a:solidFill>
                  <a:schemeClr val="accent1"/>
                </a:solidFill>
              </a:rPr>
              <a:t>自動暫停出租</a:t>
            </a:r>
            <a:endParaRPr lang="zh-TW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3562274" y="5093208"/>
            <a:ext cx="223639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髒車、嚴重車損自動排清潔</a:t>
            </a:r>
            <a:endParaRPr lang="zh-TW" sz="1250" dirty="0"/>
          </a:p>
          <a:p>
            <a:pPr marL="0" indent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或檢修，不交給下一位</a:t>
            </a:r>
            <a:endParaRPr lang="zh-TW" sz="1250" dirty="0"/>
          </a:p>
        </p:txBody>
      </p:sp>
      <p:sp>
        <p:nvSpPr>
          <p:cNvPr id="21" name="Shape 19"/>
          <p:cNvSpPr/>
          <p:nvPr/>
        </p:nvSpPr>
        <p:spPr>
          <a:xfrm>
            <a:off x="6210148" y="4480560"/>
            <a:ext cx="2602154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93028" y="4590288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000" b="1" dirty="0">
                <a:solidFill>
                  <a:schemeClr val="accent1"/>
                </a:solidFill>
              </a:rPr>
              <a:t>車損可追償</a:t>
            </a:r>
            <a:endParaRPr lang="zh-TW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393028" y="5093208"/>
            <a:ext cx="223639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新車損對應到該筆租用，</a:t>
            </a:r>
            <a:endParaRPr lang="zh-TW" sz="1250" dirty="0"/>
          </a:p>
          <a:p>
            <a:pPr marL="0" indent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有同角度前後照片為證</a:t>
            </a:r>
            <a:endParaRPr lang="zh-TW" sz="1250" dirty="0"/>
          </a:p>
        </p:txBody>
      </p:sp>
      <p:sp>
        <p:nvSpPr>
          <p:cNvPr id="24" name="Shape 22"/>
          <p:cNvSpPr/>
          <p:nvPr/>
        </p:nvSpPr>
        <p:spPr>
          <a:xfrm>
            <a:off x="9040901" y="4480560"/>
            <a:ext cx="2602154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23781" y="4590288"/>
            <a:ext cx="22363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000" b="1" dirty="0">
                <a:solidFill>
                  <a:schemeClr val="accent1"/>
                </a:solidFill>
              </a:rPr>
              <a:t>208 則</a:t>
            </a:r>
            <a:endParaRPr lang="zh-TW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223781" y="5093208"/>
            <a:ext cx="223639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對應占 22.5% 的車況評論：</a:t>
            </a:r>
            <a:endParaRPr lang="zh-TW" sz="1250" dirty="0"/>
          </a:p>
          <a:p>
            <a:pPr marL="0" indent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拍照、髒車、車損</a:t>
            </a:r>
            <a:endParaRPr lang="zh-TW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000" dirty="0">
                <a:solidFill>
                  <a:schemeClr val="accent2"/>
                </a:solidFill>
              </a:rPr>
              <a:t>估算假設：每筆人工檢視 1–2 分鐘、每人每天 8 小時、AI 標記率 10%（試點時以實測校正）、每人每年人事成本 60 萬元；不合格比例依 1,200 張真實還車照片的校準結果</a:t>
            </a:r>
            <a:endParaRPr lang="zh-TW" sz="10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6　預期效益與落地評估｜落地評估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分四階段導入：先驗證、再試點、後擴大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7864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6459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1</a:t>
            </a:r>
            <a:endParaRPr lang="zh-TW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744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250" b="1" dirty="0">
                <a:solidFill>
                  <a:schemeClr val="accent1"/>
                </a:solidFill>
              </a:rPr>
              <a:t>第 1–2 個月</a:t>
            </a:r>
            <a:endParaRPr lang="zh-TW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03120"/>
            <a:ext cx="216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擴大驗證</a:t>
            </a:r>
            <a:endParaRPr lang="zh-TW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514600"/>
            <a:ext cx="2165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主辦方 144 組已完成；</a:t>
            </a:r>
            <a:endParaRPr lang="zh-TW" sz="1250" dirty="0"/>
          </a:p>
          <a:p>
            <a:pPr marL="0" indent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再用更多歷史照片與索賠紀錄</a:t>
            </a:r>
            <a:endParaRPr lang="zh-TW" sz="1250" dirty="0"/>
          </a:p>
          <a:p>
            <a:pPr marL="0" indent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確認召回率與誤報率</a:t>
            </a:r>
            <a:endParaRPr lang="zh-TW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098216" y="210312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2400" b="1" dirty="0">
                <a:solidFill>
                  <a:schemeClr val="accent1"/>
                </a:solidFill>
              </a:rPr>
              <a:t>›</a:t>
            </a:r>
            <a:endParaRPr lang="zh-TW" sz="2400" dirty="0"/>
          </a:p>
        </p:txBody>
      </p:sp>
      <p:sp>
        <p:nvSpPr>
          <p:cNvPr id="10" name="Shape 8"/>
          <p:cNvSpPr/>
          <p:nvPr/>
        </p:nvSpPr>
        <p:spPr>
          <a:xfrm>
            <a:off x="3390824" y="1463040"/>
            <a:ext cx="2567864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91992" y="16459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2</a:t>
            </a:r>
            <a:endParaRPr lang="zh-TW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076624" y="1645920"/>
            <a:ext cx="1744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250" b="1" dirty="0">
                <a:solidFill>
                  <a:schemeClr val="accent1"/>
                </a:solidFill>
              </a:rPr>
              <a:t>第 3–4 個月</a:t>
            </a:r>
            <a:endParaRPr lang="zh-TW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591992" y="2103120"/>
            <a:ext cx="216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影子模式</a:t>
            </a:r>
            <a:endParaRPr lang="zh-TW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591992" y="2514600"/>
            <a:ext cx="2165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App 拍照模組先上線；</a:t>
            </a:r>
            <a:endParaRPr lang="zh-TW" sz="1250" dirty="0"/>
          </a:p>
          <a:p>
            <a:pPr marL="0" indent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判讀服務只寫預警、不派工，</a:t>
            </a:r>
            <a:endParaRPr lang="zh-TW" sz="1250" dirty="0"/>
          </a:p>
          <a:p>
            <a:pPr marL="0" indent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與人工結果比對</a:t>
            </a:r>
            <a:endParaRPr lang="zh-TW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940400" y="210312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2400" b="1" dirty="0">
                <a:solidFill>
                  <a:schemeClr val="accent1"/>
                </a:solidFill>
              </a:rPr>
              <a:t>›</a:t>
            </a:r>
            <a:endParaRPr lang="zh-TW" sz="2400" dirty="0"/>
          </a:p>
        </p:txBody>
      </p:sp>
      <p:sp>
        <p:nvSpPr>
          <p:cNvPr id="16" name="Shape 14"/>
          <p:cNvSpPr/>
          <p:nvPr/>
        </p:nvSpPr>
        <p:spPr>
          <a:xfrm>
            <a:off x="6233008" y="1463040"/>
            <a:ext cx="2567864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34176" y="16459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3</a:t>
            </a:r>
            <a:endParaRPr lang="zh-TW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918808" y="1645920"/>
            <a:ext cx="1744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250" b="1" dirty="0">
                <a:solidFill>
                  <a:schemeClr val="accent1"/>
                </a:solidFill>
              </a:rPr>
              <a:t>第 5–6 個月</a:t>
            </a:r>
            <a:endParaRPr lang="zh-TW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34176" y="2103120"/>
            <a:ext cx="216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區域試點</a:t>
            </a:r>
            <a:endParaRPr lang="zh-TW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434176" y="2514600"/>
            <a:ext cx="2165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1–2 個區域開啟自動工單、</a:t>
            </a:r>
            <a:endParaRPr lang="zh-TW" sz="1250" dirty="0"/>
          </a:p>
          <a:p>
            <a:pPr marL="0" indent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暫停出租與確認單，串接</a:t>
            </a:r>
            <a:endParaRPr lang="zh-TW" sz="1250" dirty="0"/>
          </a:p>
          <a:p>
            <a:pPr marL="0" indent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派工與推播，追蹤工時與客訴</a:t>
            </a:r>
            <a:endParaRPr lang="zh-TW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782583" y="2103120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2400" b="1" dirty="0">
                <a:solidFill>
                  <a:schemeClr val="accent1"/>
                </a:solidFill>
              </a:rPr>
              <a:t>›</a:t>
            </a:r>
            <a:endParaRPr lang="zh-TW" sz="2400" dirty="0"/>
          </a:p>
        </p:txBody>
      </p:sp>
      <p:sp>
        <p:nvSpPr>
          <p:cNvPr id="22" name="Shape 20"/>
          <p:cNvSpPr/>
          <p:nvPr/>
        </p:nvSpPr>
        <p:spPr>
          <a:xfrm>
            <a:off x="9075191" y="1463040"/>
            <a:ext cx="2567864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76359" y="16459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4</a:t>
            </a:r>
            <a:endParaRPr lang="zh-TW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760991" y="1645920"/>
            <a:ext cx="1744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250" b="1" dirty="0">
                <a:solidFill>
                  <a:schemeClr val="accent1"/>
                </a:solidFill>
              </a:rPr>
              <a:t>第 7 個月起</a:t>
            </a:r>
            <a:endParaRPr lang="zh-TW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9276359" y="2103120"/>
            <a:ext cx="216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700" b="1" dirty="0">
                <a:solidFill>
                  <a:schemeClr val="tx1"/>
                </a:solidFill>
              </a:rPr>
              <a:t>全面導入</a:t>
            </a:r>
            <a:endParaRPr lang="zh-TW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276359" y="2514600"/>
            <a:ext cx="21655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GPU 依實測吞吐量擴充到</a:t>
            </a:r>
            <a:endParaRPr lang="zh-TW" sz="1250" dirty="0"/>
          </a:p>
          <a:p>
            <a:pPr marL="0" indent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全車隊；資料回訓迴圈</a:t>
            </a:r>
            <a:endParaRPr lang="zh-TW" sz="1250" dirty="0"/>
          </a:p>
          <a:p>
            <a:pPr marL="0" indent="0">
              <a:buNone/>
            </a:pPr>
            <a:r>
              <a:rPr lang="zh-TW" altLang="en-US" sz="1250" dirty="0">
                <a:solidFill>
                  <a:schemeClr val="tx2"/>
                </a:solidFill>
              </a:rPr>
              <a:t>每月重新訓練模型</a:t>
            </a:r>
            <a:endParaRPr lang="zh-TW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566160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落地條件與資源需求</a:t>
            </a:r>
            <a:endParaRPr lang="zh-TW" sz="15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31920"/>
          <a:ext cx="6172200" cy="2157984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運算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GPU 伺服器自架 Qwen 系列模型；尖峰約每秒 1.8 次判讀。試點先用 1 台，實測吞吐量後再估全車隊台數與成本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App 加入拍照模組（車牌模型約 15 MB）；車況資料庫與判讀佇列串接訂單、計費、車機與派工（架構見第 12 頁）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人力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營運確認 1–2 人；導入期需 App、後台與模型工程人力，上線後併入既有團隊維運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4141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歷史照片與索賠紀錄供驗證；照片留在內部環境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" name="Text 26"/>
          <p:cNvSpPr txBox="1"/>
          <p:nvPr/>
        </p:nvSpPr>
        <p:spPr>
          <a:xfrm>
            <a:off x="7086600" y="3566160"/>
            <a:ext cx="4556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500" b="1" dirty="0">
                <a:solidFill>
                  <a:schemeClr val="tx1"/>
                </a:solidFill>
              </a:rPr>
              <a:t>上線後追蹤的指標</a:t>
            </a:r>
            <a:endParaRPr lang="zh-TW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7086600" y="3950208"/>
            <a:ext cx="45564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350" dirty="0">
                <a:solidFill>
                  <a:schemeClr val="tx1"/>
                </a:solidFill>
              </a:rPr>
              <a:t>照片當場重拍率、事後被要求重拍次數</a:t>
            </a:r>
            <a:endParaRPr lang="zh-TW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350" dirty="0">
                <a:solidFill>
                  <a:schemeClr val="tx1"/>
                </a:solidFill>
              </a:rPr>
              <a:t>AI 標記率（目標 10% 以下）</a:t>
            </a:r>
            <a:endParaRPr lang="zh-TW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350" dirty="0">
                <a:solidFill>
                  <a:schemeClr val="tx1"/>
                </a:solidFill>
              </a:rPr>
              <a:t>新車損召回率、誤報率</a:t>
            </a:r>
            <a:endParaRPr lang="zh-TW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350" dirty="0">
                <a:solidFill>
                  <a:schemeClr val="tx1"/>
                </a:solidFill>
              </a:rPr>
              <a:t>髒車客訴與車損爭議客服件數</a:t>
            </a:r>
            <a:endParaRPr lang="zh-TW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350" dirty="0">
                <a:solidFill>
                  <a:schemeClr val="tx1"/>
                </a:solidFill>
              </a:rPr>
              <a:t>預警到工單完成的時間</a:t>
            </a:r>
            <a:endParaRPr lang="zh-TW" sz="13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350" dirty="0">
                <a:solidFill>
                  <a:schemeClr val="tx1"/>
                </a:solidFill>
              </a:rPr>
              <a:t>營運每日檢視工時</a:t>
            </a:r>
            <a:endParaRPr lang="zh-TW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14476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000" dirty="0">
                <a:solidFill>
                  <a:schemeClr val="accent2"/>
                </a:solidFill>
              </a:rPr>
              <a:t>尖峰推論量：16 時 2,144 張 × 每張 3 次 ÷ 3,600 秒 ≈ 1.8 次／秒</a:t>
            </a:r>
            <a:endParaRPr lang="zh-TW" sz="10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7　補充資料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資料來源、程式碼與原型畫面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資料來源</a:t>
            </a:r>
            <a:endParaRPr lang="zh-TW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10512"/>
            <a:ext cx="5440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200" dirty="0">
                <a:solidFill>
                  <a:schemeClr val="tx1"/>
                </a:solidFill>
              </a:rPr>
              <a:t>主辦方照片上傳清單：2026/4/22，27,367 張、4,820 筆</a:t>
            </a:r>
            <a:endParaRPr lang="zh-TW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200" dirty="0">
                <a:solidFill>
                  <a:schemeClr val="tx1"/>
                </a:solidFill>
              </a:rPr>
              <a:t>主辦方〈0921_iRent 解題資源 README〉與還車流程圖</a:t>
            </a:r>
            <a:endParaRPr lang="zh-TW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200" dirty="0">
                <a:solidFill>
                  <a:schemeClr val="tx1"/>
                </a:solidFill>
              </a:rPr>
              <a:t>主辦方取還車照片 144 組（24 組有索賠）：評估與佐證圖片</a:t>
            </a:r>
            <a:endParaRPr lang="zh-TW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200" dirty="0">
                <a:solidFill>
                  <a:schemeClr val="tx1"/>
                </a:solidFill>
              </a:rPr>
              <a:t>顧客評論 924 則：Google Play、App Store、PTT、Dcard</a:t>
            </a:r>
            <a:endParaRPr lang="zh-TW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zh-TW" altLang="en-US" sz="1200" dirty="0">
                <a:solidFill>
                  <a:schemeClr val="tx1"/>
                </a:solidFill>
              </a:rPr>
              <a:t>旺得富理財網〈iRent共享車平台 用戶突破200萬大關〉，2026/2/6</a:t>
            </a:r>
            <a:endParaRPr lang="zh-TW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參考文獻與工具</a:t>
            </a:r>
            <a:endParaRPr lang="zh-TW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61104"/>
            <a:ext cx="5440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zh-TW" altLang="en-US" sz="1100" dirty="0">
                <a:solidFill>
                  <a:schemeClr val="tx1"/>
                </a:solidFill>
              </a:rPr>
              <a:t>Pech-Pacheco, J. L. et al. (2000). Diatom autofocusing in brightfield microscopy: a comparative study. ICPR.（Laplacian 清晰度量測）</a:t>
            </a:r>
            <a:endParaRPr lang="zh-TW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zh-TW" altLang="en-US" sz="1100" dirty="0">
                <a:solidFill>
                  <a:schemeClr val="tx1"/>
                </a:solidFill>
              </a:rPr>
              <a:t>Kwon, W. et al. (2023). Efficient Memory Management for Large Language Model Serving with PagedAttention. SOSP.（vLLM 推論框架）</a:t>
            </a:r>
            <a:endParaRPr lang="zh-TW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zh-TW" altLang="en-US" sz="1100" dirty="0">
                <a:solidFill>
                  <a:schemeClr val="tx1"/>
                </a:solidFill>
              </a:rPr>
              <a:t>PaddleOCR PP-OCRv4（PaddlePaddle 開源 OCR，手機端車牌辨識）</a:t>
            </a:r>
            <a:endParaRPr lang="zh-TW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4630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GitHub 程式碼</a:t>
            </a:r>
            <a:endParaRPr lang="zh-TW" sz="1400" dirty="0"/>
          </a:p>
        </p:txBody>
      </p:sp>
      <p:sp>
        <p:nvSpPr>
          <p:cNvPr id="9" name="Text 7">
            <a:hlinkClick r:id="rId3"/>
          </p:cNvPr>
          <p:cNvSpPr txBox="1"/>
          <p:nvPr/>
        </p:nvSpPr>
        <p:spPr>
          <a:xfrm>
            <a:off x="6309360" y="181051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300" b="1" u="sng" dirty="0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github.com/Allenwang2004/irent</a:t>
            </a:r>
            <a:endParaRPr lang="zh-TW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221284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50" b="1" dirty="0">
                <a:solidFill>
                  <a:schemeClr val="tx1"/>
                </a:solidFill>
              </a:rPr>
              <a:t>README.md</a:t>
            </a:r>
            <a:endParaRPr lang="zh-TW" sz="1250" dirty="0"/>
          </a:p>
          <a:p>
            <a:pPr marL="0" indent="0">
              <a:buNone/>
            </a:pPr>
            <a:r>
              <a:rPr lang="zh-TW" altLang="en-US" sz="1150" dirty="0">
                <a:solidFill>
                  <a:schemeClr val="tx2"/>
                </a:solidFill>
              </a:rPr>
              <a:t>給評審：架構、功能與執行方式</a:t>
            </a:r>
            <a:endParaRPr lang="zh-TW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76148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50" b="1" dirty="0">
                <a:solidFill>
                  <a:schemeClr val="tx1"/>
                </a:solidFill>
              </a:rPr>
              <a:t>mobile/</a:t>
            </a:r>
            <a:endParaRPr lang="zh-TW" sz="1250" dirty="0"/>
          </a:p>
          <a:p>
            <a:pPr marL="0" indent="0">
              <a:buNone/>
            </a:pPr>
            <a:r>
              <a:rPr lang="zh-TW" altLang="en-US" sz="1150" dirty="0">
                <a:solidFill>
                  <a:schemeClr val="tx2"/>
                </a:solidFill>
              </a:rPr>
              <a:t>手機 App：取還車、拍照、即時檢查</a:t>
            </a:r>
            <a:endParaRPr lang="zh-TW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331012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50" b="1" dirty="0">
                <a:solidFill>
                  <a:schemeClr val="tx1"/>
                </a:solidFill>
              </a:rPr>
              <a:t>web/</a:t>
            </a:r>
            <a:endParaRPr lang="zh-TW" sz="1250" dirty="0"/>
          </a:p>
          <a:p>
            <a:pPr marL="0" indent="0">
              <a:buNone/>
            </a:pPr>
            <a:r>
              <a:rPr lang="zh-TW" altLang="en-US" sz="1150" dirty="0">
                <a:solidFill>
                  <a:schemeClr val="tx2"/>
                </a:solidFill>
              </a:rPr>
              <a:t>營運後台：預警、工單、車輛、評論</a:t>
            </a:r>
            <a:endParaRPr lang="zh-TW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385876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50" b="1" dirty="0">
                <a:solidFill>
                  <a:schemeClr val="tx1"/>
                </a:solidFill>
              </a:rPr>
              <a:t>worker/</a:t>
            </a:r>
            <a:endParaRPr lang="zh-TW" sz="1250" dirty="0"/>
          </a:p>
          <a:p>
            <a:pPr marL="0" indent="0">
              <a:buNone/>
            </a:pPr>
            <a:r>
              <a:rPr lang="zh-TW" altLang="en-US" sz="1150" dirty="0">
                <a:solidFill>
                  <a:schemeClr val="tx2"/>
                </a:solidFill>
              </a:rPr>
              <a:t>VLM 檢查服務</a:t>
            </a:r>
            <a:endParaRPr lang="zh-TW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440740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50" b="1" dirty="0">
                <a:solidFill>
                  <a:schemeClr val="tx1"/>
                </a:solidFill>
              </a:rPr>
              <a:t>eval/</a:t>
            </a:r>
            <a:endParaRPr lang="zh-TW" sz="1250" dirty="0"/>
          </a:p>
          <a:p>
            <a:pPr marL="0" indent="0">
              <a:buNone/>
            </a:pPr>
            <a:r>
              <a:rPr lang="zh-TW" altLang="en-US" sz="1150" dirty="0">
                <a:solidFill>
                  <a:schemeClr val="tx2"/>
                </a:solidFill>
              </a:rPr>
              <a:t>VLM 與車牌辨識的評估腳本</a:t>
            </a:r>
            <a:endParaRPr lang="zh-TW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495604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250" b="1" dirty="0">
                <a:solidFill>
                  <a:schemeClr val="tx1"/>
                </a:solidFill>
              </a:rPr>
              <a:t>supabase/</a:t>
            </a:r>
            <a:endParaRPr lang="zh-TW" sz="1250" dirty="0"/>
          </a:p>
          <a:p>
            <a:pPr marL="0" indent="0">
              <a:buNone/>
            </a:pPr>
            <a:r>
              <a:rPr lang="zh-TW" altLang="en-US" sz="1150" dirty="0">
                <a:solidFill>
                  <a:schemeClr val="tx2"/>
                </a:solidFill>
              </a:rPr>
              <a:t>資料表與自動工單</a:t>
            </a:r>
            <a:endParaRPr lang="zh-TW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9738360" y="1463040"/>
            <a:ext cx="1904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原型實機畫面</a:t>
            </a:r>
            <a:endParaRPr lang="zh-TW" sz="1400" dirty="0"/>
          </a:p>
        </p:txBody>
      </p:sp>
      <p:pic>
        <p:nvPicPr>
          <p:cNvPr id="17" name="Image 0" descr="營運後台預警頁實機截圖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8360" y="1828800"/>
            <a:ext cx="1904695" cy="1356793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9738360" y="1828800"/>
            <a:ext cx="1904695" cy="1356793"/>
          </a:xfrm>
          <a:prstGeom prst="rect">
            <a:avLst/>
          </a:prstGeom>
          <a:ln w="9525">
            <a:solidFill>
              <a:srgbClr val="C9C9C9"/>
            </a:solidFill>
            <a:prstDash val="solid"/>
          </a:ln>
        </p:spPr>
      </p:sp>
      <p:pic>
        <p:nvPicPr>
          <p:cNvPr id="19" name="Image 1" descr="手機 App 選擇車輛頁實機截圖，整備中的車不能借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8360" y="3322753"/>
            <a:ext cx="883768" cy="1691464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9738360" y="3322753"/>
            <a:ext cx="883768" cy="1691464"/>
          </a:xfrm>
          <a:prstGeom prst="rect">
            <a:avLst/>
          </a:prstGeom>
          <a:ln w="9525">
            <a:solidFill>
              <a:srgbClr val="C9C9C9"/>
            </a:solidFill>
            <a:prstDash val="solid"/>
          </a:ln>
        </p:spPr>
      </p:sp>
      <p:pic>
        <p:nvPicPr>
          <p:cNvPr id="21" name="Image 2" descr="手機 App 還車確認單實機截圖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9288" y="3322753"/>
            <a:ext cx="883768" cy="169146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0759288" y="3322753"/>
            <a:ext cx="883768" cy="1691464"/>
          </a:xfrm>
          <a:prstGeom prst="rect">
            <a:avLst/>
          </a:prstGeom>
          <a:ln w="9525">
            <a:solidFill>
              <a:srgbClr val="C9C9C9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48640" y="5623560"/>
            <a:ext cx="11094415" cy="54864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22960" y="562356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800" b="1" dirty="0">
                <a:solidFill>
                  <a:schemeClr val="accent1"/>
                </a:solidFill>
              </a:rPr>
              <a:t>iRent+</a:t>
            </a:r>
            <a:r>
              <a:rPr lang="zh-TW" altLang="en-US" sz="1800" b="1" dirty="0">
                <a:solidFill>
                  <a:schemeClr val="tx1"/>
                </a:solidFill>
              </a:rPr>
              <a:t>　利用 AI，打造全台最好的租車平台</a:t>
            </a:r>
            <a:endParaRPr lang="zh-TW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2823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Rent Plus">
  <a:themeElements>
    <a:clrScheme name="iRent Plus">
      <a:dk1>
        <a:srgbClr val="141414"/>
      </a:dk1>
      <a:lt1>
        <a:srgbClr val="FFFFFF"/>
      </a:lt1>
      <a:dk2>
        <a:srgbClr val="454545"/>
      </a:dk2>
      <a:lt2>
        <a:srgbClr val="F5F5F5"/>
      </a:lt2>
      <a:accent1>
        <a:srgbClr val="D7000F"/>
      </a:accent1>
      <a:accent2>
        <a:srgbClr val="8C8C8C"/>
      </a:accent2>
      <a:accent3>
        <a:srgbClr val="E4E4E4"/>
      </a:accent3>
      <a:accent4>
        <a:srgbClr val="FCE9EA"/>
      </a:accent4>
      <a:accent5>
        <a:srgbClr val="1E8E3E"/>
      </a:accent5>
      <a:accent6>
        <a:srgbClr val="E8A100"/>
      </a:accent6>
      <a:hlink>
        <a:srgbClr val="D7000F"/>
      </a:hlink>
      <a:folHlink>
        <a:srgbClr val="8C8C8C"/>
      </a:folHlink>
    </a:clrScheme>
    <a:fontScheme name="iRent Plus">
      <a:majorFont>
        <a:latin typeface="Microsoft JhengHei"/>
        <a:ea typeface="Microsoft JhengHei"/>
        <a:cs typeface=""/>
        <a:font script="Jpan" typeface="游ゴシック Light"/>
        <a:font script="Hang" typeface="맑은 고딕"/>
        <a:font script="Hans" typeface="等线 Light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Microsoft JhengHei"/>
        <a:cs typeface=""/>
        <a:font script="Jpan" typeface="游ゴシック"/>
        <a:font script="Hang" typeface="맑은 고딕"/>
        <a:font script="Hans" typeface="等线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4330</Words>
  <Application>Microsoft Macintosh PowerPoint</Application>
  <PresentationFormat>寬螢幕</PresentationFormat>
  <Paragraphs>564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19" baseType="lpstr">
      <vt:lpstr>Microsoft JhengHei</vt:lpstr>
      <vt:lpstr>Arial</vt:lpstr>
      <vt:lpstr>iRent Plus</vt:lpstr>
      <vt:lpstr>PowerPoint 簡報</vt:lpstr>
      <vt:lpstr>提案摘要</vt:lpstr>
      <vt:lpstr>把取還車照片，變成會自己處理的車況紀錄</vt:lpstr>
      <vt:lpstr>兩個目標對象，卡在同一個環節：車況照片</vt:lpstr>
      <vt:lpstr>每天約 2.7 萬張照片，要每筆都看需 10–20 人</vt:lpstr>
      <vt:lpstr>924 則評論裡，208 則跟車況有關</vt:lpstr>
      <vt:lpstr>三個環節、9 個機制，補上三個斷點</vt:lpstr>
      <vt:lpstr>用戶端：拍一次就拍對，還車不用回頭開門</vt:lpstr>
      <vt:lpstr>營運端：AI 先篩、系統派工，人只做確認</vt:lpstr>
      <vt:lpstr>手機端把關拍照求快，後台 AI 判讀車況求準</vt:lpstr>
      <vt:lpstr>主辦方 144 組照片：車損召回率 100%、誤報率 3%</vt:lpstr>
      <vt:lpstr>導入後架構：手機把關、自架 AI 判讀、營運閉環</vt:lpstr>
      <vt:lpstr>從事後存證變成即時處理，資料越用越準</vt:lpstr>
      <vt:lpstr>要每筆都檢查：人力從 10–20 人降到 1–2 人</vt:lpstr>
      <vt:lpstr>分四階段導入：先驗證、再試點、後擴大</vt:lpstr>
      <vt:lpstr>資料來源、程式碼與原型畫面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iRent+ AI 智能車況管家｜解決方案簡報</dc:title>
  <dc:subject>2026 和泰 AI 黑客松 iRent 企業挑戰題</dc:subject>
  <dc:creator>iRent+ 團隊</dc:creator>
  <cp:lastModifiedBy>歐佳俞</cp:lastModifiedBy>
  <cp:revision>6</cp:revision>
  <dcterms:created xsi:type="dcterms:W3CDTF">2026-10-13T09:51:25Z</dcterms:created>
  <dcterms:modified xsi:type="dcterms:W3CDTF">2026-10-13T11:06:30Z</dcterms:modified>
</cp:coreProperties>
</file>