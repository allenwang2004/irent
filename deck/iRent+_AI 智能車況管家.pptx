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BC2B4F-53D2-4807-97ED-158D77B23BFF}">
  <a:tblStyle styleId="{FEBC2B4F-53D2-4807-97ED-158D77B23B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封面。iRent+：AI 智能車況管家，團隊 pp。一句話：拍照當場把關、AI 前後比對、問題自動派工，讓每天 2.7 萬張取還車照片，從需要 10–20 人檢視變成 1–2 人確認。右邊是主辦方資料集的實際判讀：取車時完好、還車時左前受損，AI 三次判讀都判定為新車損。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提案摘要（不計入 15 頁）。欄位名稱與順序依官方範本。</a:t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提案概述。核心價值：照片不再只是存檔，而是拍的當下就把關、送出後由 AI 比對、發現問題自動派工。目標：人力 10–20 人降到 1–2 人、不合格照片當場重拍；主辦方 144 組照片實測，車損召回率 100%、誤報率 3%。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目標對象：租車用戶與營運團隊。兩者都卡在車況照片。現行流程（依主辦方還車流程圖）：拍卡夾、車內、車身四角、其他車損，送出後由後台人員查看。三個斷點：拍照時沒人檢查、送出後人工看不完、出問題時前後照片對不上。</a:t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營運端痛點。主辦方資料：一天 27,367 張照片、4,820 筆取還車；16 點尖峰 2,144 張，每 1.7 秒一張；下午 4 點到午夜每小時都超過 1,500 張。若每筆都人工看，以 1–2 分鐘計，一天 80–160 工時，約 10–20 人。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用戶端痛點。我們做了評論管理後台，收集 Google Play、App Store、PTT、Dcard 共 924 則評論（同一篇只算一次），依關鍵字規則分成 7 類；其中 208 則（22.5%）跟車況有關。拍照流程類 145 則、髒亂類 60 則、車損類 49 則，常見的抱怨是拍照耗時常被要求重拍、接到上一位留下的髒車、車損賠償說不清責任。</a:t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整體架構：三個環節、9 個機制，補上三個斷點。拍照時（手機）：已知車損提前告知、疊影對齊、即時檢查畫質車牌角度、還車先拍車內再鎖門。送出後（後台 AI）：取車比上次、還車比取車；每張判讀三次取多數決。發現問題後：自動開工單與暫停出租、營運確認或駁回（嚴重車損先送修，小損傷記成已知車損後恢復出租，誤報駁回）、用戶確認單。9 個機制都已在原型實作。</a:t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取還車流程。取車：先看到這台車已記錄的損傷；拍照時疊著上一次同角度的照片，手機每 0.5 秒檢查畫質、讀車牌判斷角度與遠近、比對光線，不合格當場重拍；可補拍損傷特寫後確認取車。還車：按開始還車，計費就停止；5 分鐘內先拍卡夾和前後座，下車關門後鎖門，鎖門不用等照片上傳；再拍車外四角與停車位置。之後在歷史訂單看得到取還車確認單。這直接回應評論裡「鎖門後才要拍內部照片」的抱怨。</a:t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營運流程。VLM 檢查後寫入預警，資料庫自動開工單：車內髒汙排清潔、高嚴重度新車損排檢修，兩者都暫停出租；缺卡片或遺留物排聯絡用戶。營運人員在預警頁一次處理一筆取還車，最嚴重、等最久的排前面。確認是新車損時：嚴重的維持檢修工單，修好前暫停出租；小損傷恢復出租，並記成這台車的已知車損，下一位取車時會被提醒拍下來。駁回誤報時，工單自動取消、車輛恢復出租。左邊與右下都是原型的實機畫面。</a:t>
            </a:r>
            <a:endParaRPr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手機端把關拍照、後台 AI 判讀車況。手機端要快，全部在手機上運算（App 內建模型，原型以網頁版驗證）：畫質（清晰度、亮度、過曝，門檻用 1,200 張還車照片校準）；車牌（PaddleOCR 每 0.5 秒讀一次，整張車牌入鏡時 92% 讀對，從未認成別台車）；角度與遠近（比對上一張同角度照片的車牌位置與大小，站對的 95% 通過、站錯的 77% 被抓到）；光線（比上一張暗很多就提醒）。後台要準：自架 Qwen 系列視覺語言模型，看車身四角、車內、卡夾、核對用戶回報；每張判讀 3 次取多數決，整潔度意見不一取較髒，無法比對的送人工。選用原因：VLM 不必先標註大量資料；自架讓照片不外流、每天約 8.2 萬次判讀不按次付費；檢查放手機才能在用戶離開前回饋；車牌用開源 PaddleOCR，約 15 MB，在手機上執行。</a:t>
            </a:r>
            <a:endParaRPr/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實測結果。用主辦方提供的 144 組取還車照片評估（24 組有索賠、120 組沒有），搭配拍照時的角度審核與光線判斷：有索賠的 24 組全部判為新車損，召回率 100%；沒有索賠的 120 組，誤報率 3%。右邊是實際判讀：白天左前、夜間左後的車損，三次判讀都一致；車內照片能分出乾淨與髒汙，並說出髒在哪裡。照片來自主辦方資料集，車牌已遮蔽。</a:t>
            </a:r>
            <a:endParaRPr/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導入後的系統架構。用戶手機：iRent App 內嵌 iRent+ 拍照模組，疊影對齊、畫質、車牌 OCR、角度遠近與光線都在手機上運算，不合格當場重拍。iRent 既有系統：會員與訂單、計費（按下還車即停）、車機遠端開鎖鎖門、照片儲存，以 API 與事件串接。iRent+ 平台部署在 iRent 自己的環境：車況資料庫記錄取還車、判讀、預警、工單與已知車損，用資料庫觸發器自動開工單、暫停出租；判讀任務佇列讓多台判讀服務不重複領取、失敗自動重試；自架 GPU 判讀服務跑 Qwen 系列視覺語言模型（vLLM），每張照片判讀 3 次取多數決，結果寫回資料庫。營運端：營運後台處理預警的確認或駁回、工單、車輛與已知車損、顧客評論；通知與派工把確認單推給用戶、把清潔檢修派給廠商。容量：每天約 8.2 萬次判讀、尖峰約每秒 1.8 次，加機器即可擴充。營運每次確認或駁回都累積成標註資料，重新訓練、離線評估召回率與誤報率，影子模式驗證後更新判讀服務。綠色標籤是原型已經在跑的部分；虛線是導入時要串接的 iRent 既有系統。</a:t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與現行做法比較：照片從事後存證，變成拍的當下把關、送出後立即比對、發現問題自動處理；還車不用鎖門後再開門拍車內；人從每筆都看，變成只確認 AI 標記的部分；用戶每次都有確認單。難以複製的地方：營運確認的結果是只有 iRent 能累積的訓練資料；每張照片都有比對基準；拍照流程是為 AI 設計的；從判讀到派工是閉環。</a:t>
            </a:r>
            <a:endParaRPr/>
          </a:p>
        </p:txBody>
      </p:sp>
      <p:sp>
        <p:nvSpPr>
          <p:cNvPr id="471" name="Google Shape;47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預期效益。若每筆取還車都要人工看，一天 80–160 工時、約 10–20 人；導入後人只確認 AI 標記的部分，以 10% 估算是 482 筆、8–16 工時、約 1–2 人，工時減少約 90%，以每人每年 60 萬元估約少 540–1,080 萬元人事成本（GPU 與導入成本另計）。實測誤報率 3%，所以 10% 是保守估計；就算 20% 也只需 2–4 人。用戶端：每天約 550–820 張不合格照片當場重拍；髒車與嚴重車損自動暫停出租；新車損對應到該筆租用；直接對應 208 則與車況有關的評論。</a:t>
            </a:r>
            <a:endParaRPr/>
          </a:p>
        </p:txBody>
      </p:sp>
      <p:sp>
        <p:nvSpPr>
          <p:cNvPr id="501" name="Google Shape;50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落地評估。四階段：第 1–2 個月擴大驗證（主辦方 144 組已完成，召回率 100%、誤報率 3%，再用更多歷史照片確認）；第 3–4 個月影子模式，App 拍照模組先上線，判讀服務只寫預警、不派工，與人工結果比對；第 5–6 個月區域試點，開啟自動工單、暫停出租與確認單，串接派工與推播；第 7 個月起依實測吞吐量擴充 GPU 到全車隊，資料回訓迴圈每月重新訓練。資源：GPU 伺服器自架模型（尖峰約每秒 1.8 次判讀，試點先 1 台）、App 拍照頁（車牌模型約 15 MB）與後台串接、營運確認 1–2 人；導入期需要工程人力，上線後併入既有團隊維運。</a:t>
            </a:r>
            <a:endParaRPr/>
          </a:p>
        </p:txBody>
      </p:sp>
      <p:sp>
        <p:nvSpPr>
          <p:cNvPr id="533" name="Google Shape;53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補充資料：資料來源、GitHub 程式碼（github.com/Allenwang2004/irent，README 有給評審的說明）與概念原型。程式碼：mobile 手機 App、web 營運後台、worker VLM 檢查服務、eval 評估腳本、supabase 資料表與自動工單。右邊是原型的實機畫面：營運後台預警頁、手機選擇車輛頁（整備中的車不能借）與還車確認單。</a:t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iRent+｜AI 智能車況管家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" name="Google Shape;10;p3"/>
          <p:cNvSpPr txBox="1"/>
          <p:nvPr>
            <p:ph type="title"/>
          </p:nvPr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  <a:defRPr b="1" i="0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iRent+｜AI 智能車況管家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  <a:defRPr b="1" i="0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jp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jpg"/><Relationship Id="rId4" Type="http://schemas.openxmlformats.org/officeDocument/2006/relationships/image" Target="../media/image9.jpg"/><Relationship Id="rId10" Type="http://schemas.openxmlformats.org/officeDocument/2006/relationships/image" Target="../media/image16.jpg"/><Relationship Id="rId9" Type="http://schemas.openxmlformats.org/officeDocument/2006/relationships/image" Target="../media/image15.jpg"/><Relationship Id="rId5" Type="http://schemas.openxmlformats.org/officeDocument/2006/relationships/image" Target="../media/image13.jpg"/><Relationship Id="rId6" Type="http://schemas.openxmlformats.org/officeDocument/2006/relationships/image" Target="../media/image26.jpg"/><Relationship Id="rId7" Type="http://schemas.openxmlformats.org/officeDocument/2006/relationships/image" Target="../media/image18.jpg"/><Relationship Id="rId8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Allenwang2004/irent" TargetMode="External"/><Relationship Id="rId4" Type="http://schemas.openxmlformats.org/officeDocument/2006/relationships/hyperlink" Target="https://github.com/Allenwang2004/irent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7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/>
        </p:nvSpPr>
        <p:spPr>
          <a:xfrm>
            <a:off x="731520" y="6400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和泰 AI 黑客松｜iRent 企業挑戰題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731520" y="1600200"/>
            <a:ext cx="411480" cy="6400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6"/>
          <p:cNvSpPr/>
          <p:nvPr/>
        </p:nvSpPr>
        <p:spPr>
          <a:xfrm>
            <a:off x="731520" y="1600200"/>
            <a:ext cx="64008" cy="411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6"/>
          <p:cNvSpPr/>
          <p:nvPr/>
        </p:nvSpPr>
        <p:spPr>
          <a:xfrm>
            <a:off x="6172200" y="1600200"/>
            <a:ext cx="411480" cy="6400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6"/>
          <p:cNvSpPr/>
          <p:nvPr/>
        </p:nvSpPr>
        <p:spPr>
          <a:xfrm>
            <a:off x="6519672" y="1600200"/>
            <a:ext cx="64008" cy="411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731520" y="4050792"/>
            <a:ext cx="411480" cy="6400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731520" y="3703320"/>
            <a:ext cx="64008" cy="411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6172200" y="4050792"/>
            <a:ext cx="411480" cy="6400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6519672" y="3703320"/>
            <a:ext cx="64008" cy="4114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1097280" y="1810512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Microsoft JhengHei"/>
              <a:buNone/>
            </a:pPr>
            <a:r>
              <a:rPr b="1" i="0" lang="zh-TW" sz="8800" u="none" cap="none" strike="noStrike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iRent+</a:t>
            </a:r>
            <a:endParaRPr b="0" i="0" sz="8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1143000" y="3127248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JhengHei"/>
              <a:buNone/>
            </a:pPr>
            <a:r>
              <a:rPr b="1" i="0" lang="zh-TW" sz="3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智能車況管家</a:t>
            </a:r>
            <a:endParaRPr b="0" i="0" sz="3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731520" y="443484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icrosoft JhengHei"/>
              <a:buNone/>
            </a:pPr>
            <a:r>
              <a:rPr b="0" i="0" lang="zh-TW" sz="17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拍照當場把關、AI 前後比對、問題自動派工</a:t>
            </a:r>
            <a:endParaRPr b="0" i="0" sz="1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icrosoft JhengHei"/>
              <a:buNone/>
            </a:pPr>
            <a:r>
              <a:rPr b="0" i="0" lang="zh-TW" sz="1700" u="none" cap="none" strike="noStrike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 2.7 萬張車況照片，從 10–20 人檢視變成 1–2 人確認</a:t>
            </a:r>
            <a:endParaRPr b="0" i="0" sz="1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731520" y="5943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團隊名稱：pp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主辦方照片：取車時車身左前完好（車牌已遮蔽）"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914400"/>
            <a:ext cx="2211705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7141464" y="969264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i="0" lang="zh-TW" sz="95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</a:t>
            </a:r>
            <a:endParaRPr b="0" i="0" sz="95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主辦方照片：還車時車身左前嚴重受損" id="38" name="Google Shape;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9745" y="914400"/>
            <a:ext cx="2211705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>
            <a:off x="9444609" y="969264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i="0" lang="zh-TW" sz="95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</a:t>
            </a:r>
            <a:endParaRPr b="0" i="0" sz="95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7086600" y="5010912"/>
            <a:ext cx="4514850" cy="411480"/>
          </a:xfrm>
          <a:prstGeom prst="roundRect">
            <a:avLst>
              <a:gd fmla="val 1777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JhengHei"/>
              <a:buNone/>
            </a:pPr>
            <a:r>
              <a:rPr b="1" i="0" lang="zh-TW" sz="14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比對：左前新車損・3 次判讀都一致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7086600" y="5486400"/>
            <a:ext cx="451485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主辦方資料集實測，車牌已遮蔽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提案摘要</a:t>
            </a:r>
            <a:endParaRPr sz="2800"/>
          </a:p>
        </p:txBody>
      </p:sp>
      <p:graphicFrame>
        <p:nvGraphicFramePr>
          <p:cNvPr id="48" name="Google Shape;48;p7"/>
          <p:cNvGraphicFramePr/>
          <p:nvPr/>
        </p:nvGraphicFramePr>
        <p:xfrm>
          <a:off x="492980" y="12364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{FEBC2B4F-53D2-4807-97ED-158D77B23BFF}</a:tableStyleId>
              </a:tblPr>
              <a:tblGrid>
                <a:gridCol w="1744750"/>
                <a:gridCol w="94609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團隊名稱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pp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產品/服務名稱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iRent+ AI 智能車況管家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企業挑戰題目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iRent｜運用 AI 打造 iRent 智能車況管家：優化租還車體驗與營運效率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目標對象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iRent 自助取還車的租車用戶，以及負責檢視車況、安排清潔與檢修的營運團隊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解決方案設計重點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(至多3項)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 拍照當下就把關：疊影對齊上次照片，手機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即時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辨識車牌、檢查畫質與站位，不合格當場重拍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 送出後比對：後台 VLM 比對前後照片，判讀新車損、車內整潔、遺留物與卡片，判讀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採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多數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決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 發現問題自動處理：自動開工單、暫停出租；嚴重車損先送修，小損傷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記錄後恢復出租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用戶可查看 AI 判讀與營運確認結果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運用到的AI技術、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服務或模型等資源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Qwen 系列開源視覺語言模型（以 vLLM 自架推論，照片不外流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手機端：PaddleOCR PP-OCRv4 車牌辨識（App 用 ONNX Runtime Mobile，原型以 onnxruntime-web 驗證）</a:t>
                      </a:r>
                      <a:b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與畫質檢查，都在手機上運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算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架構：App 拍照模組 → 車況資料庫 → 判讀佇列 → 自架 GPU 判讀服務 → 營運後台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確認結果回訓模型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預期效益簡述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主辦方 144 組取還車照片實測：車損召回率 100%、誤報率 3%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每天約 4,820 筆取還車全數檢查，所需人力由約 10–20 人降至 1–2 人（約 −90%）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每天約 550–820 張不合格照片當場重拍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髒車與嚴重車損自動暫停出租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每次取還車都有確認單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p7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1　提案概述</a:t>
            </a:r>
            <a:endParaRPr sz="1300"/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把取還車照片，變成會自己處理的車況紀錄</a:t>
            </a:r>
            <a:endParaRPr sz="2800"/>
          </a:p>
        </p:txBody>
      </p:sp>
      <p:sp>
        <p:nvSpPr>
          <p:cNvPr id="57" name="Google Shape;57;p8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fmla="val 869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822960" y="158191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提案名稱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" name="Google Shape;59;p8"/>
          <p:cNvSpPr txBox="1"/>
          <p:nvPr/>
        </p:nvSpPr>
        <p:spPr>
          <a:xfrm>
            <a:off x="822960" y="18288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iRent+ AI 智能車況管家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4663440" y="1581912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核心價值主張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4663440" y="1828800"/>
            <a:ext cx="6812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照片在拍的當下就把關，送出後由 AI 比對前後照片，發現問題自動派工。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營運只確認 AI 標記的部分，用戶每次都看得到判定結果。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548640" y="2743200"/>
            <a:ext cx="3423818" cy="3429000"/>
          </a:xfrm>
          <a:prstGeom prst="roundRect">
            <a:avLst>
              <a:gd fmla="val 2671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822960" y="2971800"/>
            <a:ext cx="28751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要解決的核心問題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4018178" y="413766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icrosoft JhengHei"/>
              <a:buNone/>
            </a:pPr>
            <a:r>
              <a:rPr b="1" lang="zh-TW" sz="36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3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4383938" y="2743200"/>
            <a:ext cx="3423818" cy="3429000"/>
          </a:xfrm>
          <a:prstGeom prst="roundRect">
            <a:avLst>
              <a:gd fmla="val 2671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/>
        </p:nvSpPr>
        <p:spPr>
          <a:xfrm>
            <a:off x="4658258" y="2971800"/>
            <a:ext cx="28751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我們的做法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7853477" y="413766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icrosoft JhengHei"/>
              <a:buNone/>
            </a:pPr>
            <a:r>
              <a:rPr b="1" lang="zh-TW" sz="36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3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8219237" y="2743200"/>
            <a:ext cx="3423818" cy="3429000"/>
          </a:xfrm>
          <a:prstGeom prst="roundRect">
            <a:avLst>
              <a:gd fmla="val 2671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8493557" y="2971800"/>
            <a:ext cx="28751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目標與實測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822960" y="3383280"/>
            <a:ext cx="2875178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營運端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每天約 2.7 萬張車況照片，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要每筆都看需 10–20 人</a:t>
            </a: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問題常等下一位用戶取車才發現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用戶端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924 則評論中 208 則與車況有關：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拍照常被要求重拍、接到髒車、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車損責任說不清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4658258" y="3337560"/>
            <a:ext cx="2875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icrosoft JhengHei"/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個環節・9 個機制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4658258" y="3977640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5115458" y="3872286"/>
            <a:ext cx="24179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拍照時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手機當場檢查畫質、車牌與角度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還車先拍車內再鎖門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658258" y="4663440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5115458" y="4617720"/>
            <a:ext cx="24179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送出後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 AI 比對前後照片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4658258" y="5349240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5115458" y="5241897"/>
            <a:ext cx="24179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發現問題後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自動開工單、嚴重車損先送修，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用戶看得到判讀與確認結果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" name="Google Shape;78;p8"/>
          <p:cNvSpPr txBox="1"/>
          <p:nvPr/>
        </p:nvSpPr>
        <p:spPr>
          <a:xfrm>
            <a:off x="8493557" y="3337560"/>
            <a:ext cx="28751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icrosoft JhengHei"/>
              <a:buNone/>
            </a:pPr>
            <a:r>
              <a:rPr b="1" lang="zh-TW" sz="2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1–2 人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p8"/>
          <p:cNvSpPr txBox="1"/>
          <p:nvPr/>
        </p:nvSpPr>
        <p:spPr>
          <a:xfrm>
            <a:off x="8493557" y="3749040"/>
            <a:ext cx="2875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 4,820 筆取還車全數檢查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所需人力（全人工需 10–20 人）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8493557" y="4251960"/>
            <a:ext cx="28751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icrosoft JhengHei"/>
              <a:buNone/>
            </a:pPr>
            <a:r>
              <a:rPr b="1" lang="zh-TW" sz="2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召回率 100%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8493557" y="4663440"/>
            <a:ext cx="2875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 144 組照片實測，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車損全部抓到，誤報率 3%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8493557" y="5166360"/>
            <a:ext cx="287517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當場重拍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8493557" y="5577840"/>
            <a:ext cx="2875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不合格照片在手機上就擋下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4" name="Google Shape;84;p8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2　目標對象與痛點分析</a:t>
            </a:r>
            <a:endParaRPr sz="1300"/>
          </a:p>
        </p:txBody>
      </p:sp>
      <p:sp>
        <p:nvSpPr>
          <p:cNvPr id="91" name="Google Shape;91;p9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兩個目標對象，卡在同一個環節：車況照片</a:t>
            </a:r>
            <a:endParaRPr sz="2800"/>
          </a:p>
        </p:txBody>
      </p:sp>
      <p:sp>
        <p:nvSpPr>
          <p:cNvPr id="92" name="Google Shape;92;p9"/>
          <p:cNvSpPr/>
          <p:nvPr/>
        </p:nvSpPr>
        <p:spPr>
          <a:xfrm>
            <a:off x="548640" y="1463040"/>
            <a:ext cx="5387188" cy="1645920"/>
          </a:xfrm>
          <a:prstGeom prst="roundRect">
            <a:avLst>
              <a:gd fmla="val 555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18516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/>
          <p:nvPr/>
        </p:nvSpPr>
        <p:spPr>
          <a:xfrm>
            <a:off x="1645920" y="1664208"/>
            <a:ext cx="40155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租車用戶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1645920" y="2075688"/>
            <a:ext cx="40613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 會員已突破 200 萬人¹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自助取還車，現場沒有人員點交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還車要拍 7 張必拍照片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55868" y="1463040"/>
            <a:ext cx="5387188" cy="1645920"/>
          </a:xfrm>
          <a:prstGeom prst="roundRect">
            <a:avLst>
              <a:gd fmla="val 5556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6530188" y="1691640"/>
            <a:ext cx="640080" cy="6400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0208" y="18516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/>
        </p:nvSpPr>
        <p:spPr>
          <a:xfrm>
            <a:off x="7353148" y="1664208"/>
            <a:ext cx="40155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營運團隊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7353148" y="2075688"/>
            <a:ext cx="40613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每天約 4,820 筆取還車、27,367 張照片²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照片送出後，才由後台人員查看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Char char="•"/>
            </a:pPr>
            <a:r>
              <a:rPr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清潔、檢修靠人工判斷與安排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548640" y="33375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現行拍照流程與三個斷點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48640" y="3730752"/>
            <a:ext cx="1572768" cy="566928"/>
          </a:xfrm>
          <a:prstGeom prst="roundRect">
            <a:avLst>
              <a:gd fmla="val 1290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594360" y="373075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加油卡／停車卡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05" name="Google Shape;105;p9"/>
          <p:cNvCxnSpPr/>
          <p:nvPr/>
        </p:nvCxnSpPr>
        <p:spPr>
          <a:xfrm>
            <a:off x="2167128" y="4014216"/>
            <a:ext cx="240121" cy="914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" name="Google Shape;106;p9"/>
          <p:cNvSpPr/>
          <p:nvPr/>
        </p:nvSpPr>
        <p:spPr>
          <a:xfrm>
            <a:off x="2452969" y="3730752"/>
            <a:ext cx="1572768" cy="566928"/>
          </a:xfrm>
          <a:prstGeom prst="roundRect">
            <a:avLst>
              <a:gd fmla="val 1290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 txBox="1"/>
          <p:nvPr/>
        </p:nvSpPr>
        <p:spPr>
          <a:xfrm>
            <a:off x="2498689" y="373075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車內前座、後座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08" name="Google Shape;108;p9"/>
          <p:cNvCxnSpPr/>
          <p:nvPr/>
        </p:nvCxnSpPr>
        <p:spPr>
          <a:xfrm>
            <a:off x="4071457" y="4014216"/>
            <a:ext cx="240121" cy="914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9"/>
          <p:cNvSpPr/>
          <p:nvPr/>
        </p:nvSpPr>
        <p:spPr>
          <a:xfrm>
            <a:off x="4357299" y="3730752"/>
            <a:ext cx="1572768" cy="566928"/>
          </a:xfrm>
          <a:prstGeom prst="roundRect">
            <a:avLst>
              <a:gd fmla="val 1290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4403019" y="373075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車身四角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（含車牌）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1" name="Google Shape;111;p9"/>
          <p:cNvCxnSpPr/>
          <p:nvPr/>
        </p:nvCxnSpPr>
        <p:spPr>
          <a:xfrm>
            <a:off x="5975787" y="4014216"/>
            <a:ext cx="240121" cy="914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9"/>
          <p:cNvSpPr/>
          <p:nvPr/>
        </p:nvSpPr>
        <p:spPr>
          <a:xfrm>
            <a:off x="6261628" y="3730752"/>
            <a:ext cx="1572768" cy="566928"/>
          </a:xfrm>
          <a:prstGeom prst="roundRect">
            <a:avLst>
              <a:gd fmla="val 1290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6307348" y="373075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其他車損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（最多 4 張）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4" name="Google Shape;114;p9"/>
          <p:cNvCxnSpPr/>
          <p:nvPr/>
        </p:nvCxnSpPr>
        <p:spPr>
          <a:xfrm>
            <a:off x="7880116" y="4014216"/>
            <a:ext cx="240121" cy="914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9"/>
          <p:cNvSpPr/>
          <p:nvPr/>
        </p:nvSpPr>
        <p:spPr>
          <a:xfrm>
            <a:off x="8165958" y="3730752"/>
            <a:ext cx="1572768" cy="566928"/>
          </a:xfrm>
          <a:prstGeom prst="roundRect">
            <a:avLst>
              <a:gd fmla="val 1290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 txBox="1"/>
          <p:nvPr/>
        </p:nvSpPr>
        <p:spPr>
          <a:xfrm>
            <a:off x="8211678" y="373075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送出照片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7" name="Google Shape;117;p9"/>
          <p:cNvCxnSpPr/>
          <p:nvPr/>
        </p:nvCxnSpPr>
        <p:spPr>
          <a:xfrm>
            <a:off x="9784446" y="4014216"/>
            <a:ext cx="240121" cy="914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9"/>
          <p:cNvSpPr/>
          <p:nvPr/>
        </p:nvSpPr>
        <p:spPr>
          <a:xfrm>
            <a:off x="10070287" y="3730752"/>
            <a:ext cx="1572768" cy="566928"/>
          </a:xfrm>
          <a:prstGeom prst="roundRect">
            <a:avLst>
              <a:gd fmla="val 1290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 txBox="1"/>
          <p:nvPr/>
        </p:nvSpPr>
        <p:spPr>
          <a:xfrm>
            <a:off x="10116007" y="373075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後台人員查看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48640" y="4407408"/>
            <a:ext cx="7285756" cy="3200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8165958" y="4407408"/>
            <a:ext cx="3477097" cy="3200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548640" y="4617720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987552" y="457200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拍照時沒人檢查</a:t>
            </a:r>
            <a:endParaRPr sz="14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拍糊、拍歪照樣送出，事後才被要求重拍</a:t>
            </a:r>
            <a:endParaRPr sz="14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8165958" y="4617720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8604870" y="4572000"/>
            <a:ext cx="3019897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送出後人工看不完</a:t>
            </a:r>
            <a:endParaRPr sz="14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看不完，也看得太晚</a:t>
            </a:r>
            <a:endParaRPr sz="14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48640" y="5401719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988712" y="5359974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出問題時前後對不上</a:t>
            </a:r>
            <a:endParaRPr sz="14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取車、還車照片角度不同，很難比對責任</a:t>
            </a:r>
            <a:endParaRPr sz="14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960493" y="5029200"/>
            <a:ext cx="34770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i="1"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主辦方：「實際照片內容常與所選分類不一致」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¹ 旺得富理財網〈iRent共享車平台 用戶突破200萬大關〉，2026/2/6　² 主辦方照片上傳清單，2026/4/22 全天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0" name="Google Shape;130;p9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2　目標對象與痛點分析｜營運端</a:t>
            </a:r>
            <a:endParaRPr sz="1300"/>
          </a:p>
        </p:txBody>
      </p:sp>
      <p:sp>
        <p:nvSpPr>
          <p:cNvPr id="137" name="Google Shape;137;p10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每天約 2.7 萬張照片，要每筆都看需 10–20 人</a:t>
            </a:r>
            <a:endParaRPr sz="2800"/>
          </a:p>
        </p:txBody>
      </p:sp>
      <p:sp>
        <p:nvSpPr>
          <p:cNvPr id="138" name="Google Shape;138;p10"/>
          <p:cNvSpPr txBox="1"/>
          <p:nvPr/>
        </p:nvSpPr>
        <p:spPr>
          <a:xfrm>
            <a:off x="548640" y="1463040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2026/4/22 每小時上傳的車況照片（張）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694944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/>
        </p:nvSpPr>
        <p:spPr>
          <a:xfrm>
            <a:off x="2880360" y="1847088"/>
            <a:ext cx="2148840" cy="5303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尖峰 16 時：2,144 張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 1.7 秒就有一張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41" name="Google Shape;141;p10"/>
          <p:cNvCxnSpPr/>
          <p:nvPr/>
        </p:nvCxnSpPr>
        <p:spPr>
          <a:xfrm>
            <a:off x="5047488" y="2103120"/>
            <a:ext cx="146304" cy="20116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10"/>
          <p:cNvSpPr txBox="1"/>
          <p:nvPr/>
        </p:nvSpPr>
        <p:spPr>
          <a:xfrm>
            <a:off x="548640" y="550468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Microsoft JhengHei"/>
              <a:buNone/>
            </a:pPr>
            <a:r>
              <a:rPr lang="zh-TW" sz="13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下午 4 點到午夜每小時都超過 1,500 張：最需要即時處理時，照片也最多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7726680" y="1463040"/>
            <a:ext cx="39163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如果每一筆都靠人工檢視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7726680" y="1874520"/>
            <a:ext cx="3916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4,820 筆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7726680" y="2331720"/>
            <a:ext cx="39163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取還車／天（照片 27,367 張）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7726680" y="2743200"/>
            <a:ext cx="3916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× 1–2 分鐘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7726680" y="3200400"/>
            <a:ext cx="39163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每筆人工檢視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7726680" y="3611880"/>
            <a:ext cx="3916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80–160 工時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7726680" y="4069080"/>
            <a:ext cx="39163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7543800" y="4434840"/>
            <a:ext cx="201168" cy="411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7543800" y="4434840"/>
            <a:ext cx="41148" cy="20116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11441887" y="4434840"/>
            <a:ext cx="201168" cy="411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11601907" y="4434840"/>
            <a:ext cx="41148" cy="20116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7543800" y="5673852"/>
            <a:ext cx="201168" cy="411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7543800" y="5513832"/>
            <a:ext cx="41148" cy="20116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1441887" y="5673852"/>
            <a:ext cx="201168" cy="411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1601907" y="5513832"/>
            <a:ext cx="41148" cy="20116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7863840" y="4553712"/>
            <a:ext cx="359633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Microsoft JhengHei"/>
              <a:buNone/>
            </a:pPr>
            <a:r>
              <a:rPr b="1" lang="zh-TW" sz="4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≈ 10–20</a:t>
            </a:r>
            <a:r>
              <a:rPr b="1" lang="zh-TW" sz="2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人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7863840" y="5230368"/>
            <a:ext cx="35963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每人每天 8 小時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估算假設：每筆人工檢視 1–2 分鐘、每人每天 8 小時。資料：主辦方照片上傳清單（2026/4/22 全天，4,820 筆取還車）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1" name="Google Shape;161;p10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2　目標對象與痛點分析｜用戶端</a:t>
            </a:r>
            <a:endParaRPr sz="1300"/>
          </a:p>
        </p:txBody>
      </p:sp>
      <p:sp>
        <p:nvSpPr>
          <p:cNvPr id="168" name="Google Shape;168;p11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924 則評論裡，208 則跟車況有關</a:t>
            </a:r>
            <a:endParaRPr sz="2800"/>
          </a:p>
        </p:txBody>
      </p:sp>
      <p:sp>
        <p:nvSpPr>
          <p:cNvPr id="169" name="Google Shape;169;p11"/>
          <p:cNvSpPr txBox="1"/>
          <p:nvPr/>
        </p:nvSpPr>
        <p:spPr>
          <a:xfrm>
            <a:off x="548640" y="146304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我們做的評論管理後台（原型實機畫面）：924 則依關鍵字規則自動分類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營運後台顧客評論頁實機截圖：924 則評論、App 平均 2.1 星、問題分類長條圖"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10512"/>
            <a:ext cx="5897880" cy="342526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548640" y="1810512"/>
            <a:ext cx="5897880" cy="3425266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644976" y="4058343"/>
            <a:ext cx="5587465" cy="192671"/>
          </a:xfrm>
          <a:prstGeom prst="roundRect">
            <a:avLst>
              <a:gd fmla="val 18984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44976" y="4422277"/>
            <a:ext cx="5587465" cy="192671"/>
          </a:xfrm>
          <a:prstGeom prst="roundRect">
            <a:avLst>
              <a:gd fmla="val 18984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644976" y="4780860"/>
            <a:ext cx="5587465" cy="192671"/>
          </a:xfrm>
          <a:prstGeom prst="roundRect">
            <a:avLst>
              <a:gd fmla="val 18984" name="adj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548640" y="5358384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紅框：跟車況有關的三類。來源：Google Play 682、PTT 130、Dcard 107、App Store 5 則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（同一篇只算一次，2026/10/7 擷取；一則可屬多類）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6720840" y="1417320"/>
            <a:ext cx="49222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icrosoft JhengHei"/>
              <a:buNone/>
            </a:pPr>
            <a:r>
              <a:rPr b="1" lang="zh-TW" sz="36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208 則</a:t>
            </a: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　跟車況有關，占全部評論 22.5%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6720840" y="202996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拍照、髒亂、車損三類任一，重複只算一次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720840" y="2423160"/>
            <a:ext cx="4922215" cy="1078992"/>
          </a:xfrm>
          <a:prstGeom prst="roundRect">
            <a:avLst>
              <a:gd fmla="val 847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6949440" y="2551176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拍照耗時，常被要求重拍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9768535" y="25511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拍照流程類 145 則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6949440" y="2953512"/>
            <a:ext cx="45564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i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「還車拍照四邊都拍了，還一直要我重拍，耗時好幾分鐘。」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Play・2026/06/10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720840" y="3639312"/>
            <a:ext cx="4922215" cy="1078992"/>
          </a:xfrm>
          <a:prstGeom prst="roundRect">
            <a:avLst>
              <a:gd fmla="val 847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6949440" y="3767328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接到上一位留下的髒車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9768535" y="376732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髒亂類 60 則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6949440" y="4169664"/>
            <a:ext cx="45564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i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「最近很多⋯⋯喜歡丟垃圾在車上，建議⋯⋯罰款清潔費」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Play・2026/07/12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720840" y="4855464"/>
            <a:ext cx="4922215" cy="1078992"/>
          </a:xfrm>
          <a:prstGeom prst="roundRect">
            <a:avLst>
              <a:gd fmla="val 847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6949440" y="4983480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車損賠償，說不清責任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9768535" y="49834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車損類 49 則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6949440" y="5385816"/>
            <a:ext cx="45564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i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「3 個月內都有可能會被坑說是你用的，要你賠。」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 Play・2026/02/20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0" name="Google Shape;190;p11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3　解決方案設計｜整體架構</a:t>
            </a:r>
            <a:endParaRPr sz="1300"/>
          </a:p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三個環節、9 個機制，補上三個斷點</a:t>
            </a:r>
            <a:endParaRPr sz="2800"/>
          </a:p>
        </p:txBody>
      </p:sp>
      <p:sp>
        <p:nvSpPr>
          <p:cNvPr id="198" name="Google Shape;198;p12"/>
          <p:cNvSpPr txBox="1"/>
          <p:nvPr/>
        </p:nvSpPr>
        <p:spPr>
          <a:xfrm>
            <a:off x="548640" y="1444752"/>
            <a:ext cx="35213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補斷點 ① 拍照沒人檢查、③ 前後對不上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48640" y="1783080"/>
            <a:ext cx="3521354" cy="3611880"/>
          </a:xfrm>
          <a:prstGeom prst="roundRect">
            <a:avLst>
              <a:gd fmla="val 259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548640" y="1783080"/>
            <a:ext cx="3521354" cy="621792"/>
          </a:xfrm>
          <a:prstGeom prst="roundRect">
            <a:avLst>
              <a:gd fmla="val 14706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777240" y="1783080"/>
            <a:ext cx="306415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拍照時</a:t>
            </a:r>
            <a:r>
              <a:rPr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　手機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777240" y="2578608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298448" y="2560320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已知車損提前告知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取車時先列出已記錄的損傷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777240" y="32918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298448" y="3273552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上次照片疊影對齊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上一次同角度照片疊在畫面上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77240" y="4005072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298448" y="3986784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即時檢查畫質、車牌、角度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 0.5 秒提醒一次：站錯角度、太暗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777240" y="4718304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312164" y="4645152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先拍車內，鎖門再拍車外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按下還車就停止計費，5 分鐘內未鎖門則還車取消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4335170" y="1444752"/>
            <a:ext cx="35213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補斷點 ② 人工看不完、③ 前後對不上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335170" y="1783080"/>
            <a:ext cx="3521354" cy="3611880"/>
          </a:xfrm>
          <a:prstGeom prst="roundRect">
            <a:avLst>
              <a:gd fmla="val 259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4335170" y="1783080"/>
            <a:ext cx="3521354" cy="621792"/>
          </a:xfrm>
          <a:prstGeom prst="roundRect">
            <a:avLst>
              <a:gd fmla="val 14706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4563770" y="1783080"/>
            <a:ext cx="306415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送出後</a:t>
            </a:r>
            <a:r>
              <a:rPr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　後台 AI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563770" y="2578608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5084978" y="2560320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取車比上次、還車比取車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差異歸屬到對的人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563770" y="32918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5084978" y="3273552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三次判讀、多數決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無法比對的照片送人工確認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563770" y="3892179"/>
            <a:ext cx="3292754" cy="24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照片送出後自動檢查，用戶不必在現場等結果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8121701" y="1444752"/>
            <a:ext cx="35213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補斷點 ② 看得太晚、處理靠人工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8121701" y="1783080"/>
            <a:ext cx="3521354" cy="3611880"/>
          </a:xfrm>
          <a:prstGeom prst="roundRect">
            <a:avLst>
              <a:gd fmla="val 259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8121701" y="1783080"/>
            <a:ext cx="3521354" cy="621792"/>
          </a:xfrm>
          <a:prstGeom prst="roundRect">
            <a:avLst>
              <a:gd fmla="val 14706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8350301" y="1783080"/>
            <a:ext cx="306415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發現問題後</a:t>
            </a:r>
            <a:r>
              <a:rPr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　系統・營運・用戶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8350301" y="2578608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8871509" y="2560320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自動開工單、暫停出租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髒汙排清潔、嚴重車損排檢修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350301" y="32918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8871509" y="3273552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營運確認或駁回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嚴重先送修；小損傷記錄後出租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8350301" y="4005072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8871509" y="3986784"/>
            <a:ext cx="260695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用戶取還車確認單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初步判讀與營運確認狀態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48640" y="5559552"/>
            <a:ext cx="11094415" cy="54864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777240" y="5559552"/>
            <a:ext cx="106372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 個機制都已在原型實作：</a:t>
            </a: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 App、AI 判讀服務與營運後台都能實際操作（第 8、9 頁為實機畫面，導入後的系統架構見第 12 頁）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1" name="Google Shape;231;p12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3　解決方案設計｜取還車流程</a:t>
            </a:r>
            <a:endParaRPr sz="1300"/>
          </a:p>
        </p:txBody>
      </p:sp>
      <p:sp>
        <p:nvSpPr>
          <p:cNvPr id="238" name="Google Shape;238;p13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用戶端：拍一次就拍對，還車不用回頭開門</a:t>
            </a:r>
            <a:endParaRPr sz="2800"/>
          </a:p>
        </p:txBody>
      </p:sp>
      <p:sp>
        <p:nvSpPr>
          <p:cNvPr id="239" name="Google Shape;239;p13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932688" y="143560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看已知車損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原型實機截圖：取車拍照頁，提示這台車已記錄 1 處損傷" id="241" name="Google Shape;2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74520"/>
            <a:ext cx="1828800" cy="3500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3"/>
          <p:cNvSpPr/>
          <p:nvPr/>
        </p:nvSpPr>
        <p:spPr>
          <a:xfrm>
            <a:off x="548640" y="1874520"/>
            <a:ext cx="1828800" cy="350018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 txBox="1"/>
          <p:nvPr/>
        </p:nvSpPr>
        <p:spPr>
          <a:xfrm>
            <a:off x="548640" y="54661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「這台車已記錄 1 處損傷」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提醒用戶拍下來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2377440" y="3396012"/>
            <a:ext cx="487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icrosoft JhengHei"/>
              <a:buNone/>
            </a:pPr>
            <a:r>
              <a:rPr b="1" lang="zh-TW" sz="2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2865044" y="14630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212516" y="14630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3596564" y="1435608"/>
            <a:ext cx="11338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疊影對齊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說明影片畫面：相機疊著上一次同角度照片與車身輪廓虛線，車牌已模糊" id="248" name="Google Shape;2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5044" y="1874520"/>
            <a:ext cx="1828800" cy="3500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2865044" y="1874520"/>
            <a:ext cx="1828800" cy="350018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 txBox="1"/>
          <p:nvPr/>
        </p:nvSpPr>
        <p:spPr>
          <a:xfrm>
            <a:off x="2865044" y="54661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影片畫面・</a:t>
            </a: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疊上次照片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與輪廓，不合格當場重拍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4693844" y="3396012"/>
            <a:ext cx="487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icrosoft JhengHei"/>
              <a:buNone/>
            </a:pPr>
            <a:r>
              <a:rPr b="1" lang="zh-TW" sz="2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181448" y="14630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5565496" y="143560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先拍車內再鎖門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說明影片畫面：還車先拍車內，倒數計時，拍完確認鎖門" id="254" name="Google Shape;25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448" y="1874520"/>
            <a:ext cx="1828800" cy="3500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/>
          <p:nvPr/>
        </p:nvSpPr>
        <p:spPr>
          <a:xfrm>
            <a:off x="5181448" y="1874520"/>
            <a:ext cx="1828800" cy="350018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 txBox="1"/>
          <p:nvPr/>
        </p:nvSpPr>
        <p:spPr>
          <a:xfrm>
            <a:off x="5181448" y="54661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影片畫面・</a:t>
            </a: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按下還車即停計費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拍完車內、下車鎖門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7010248" y="3396012"/>
            <a:ext cx="487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icrosoft JhengHei"/>
              <a:buNone/>
            </a:pPr>
            <a:r>
              <a:rPr b="1" lang="zh-TW" sz="2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7497851" y="14630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7881899" y="143560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歷史訂單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原型實機截圖：歷史訂單，每筆列出取車確認與還車確認狀態" id="260" name="Google Shape;26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7851" y="1874520"/>
            <a:ext cx="1828800" cy="3500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3"/>
          <p:cNvSpPr/>
          <p:nvPr/>
        </p:nvSpPr>
        <p:spPr>
          <a:xfrm>
            <a:off x="7497851" y="1874520"/>
            <a:ext cx="1828800" cy="350018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7497851" y="54661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每筆都有取車確認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與還車確認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9326651" y="3396012"/>
            <a:ext cx="487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icrosoft JhengHei"/>
              <a:buNone/>
            </a:pPr>
            <a:r>
              <a:rPr b="1" lang="zh-TW" sz="22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814255" y="14630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10198303" y="143560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還車確認單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原型實機截圖：還車確認單，疑似新的車損，AI 初步判讀" id="266" name="Google Shape;26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255" y="1874520"/>
            <a:ext cx="1828800" cy="3500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/>
          <p:nvPr/>
        </p:nvSpPr>
        <p:spPr>
          <a:xfrm>
            <a:off x="9814255" y="1874520"/>
            <a:ext cx="1828800" cy="350018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9814255" y="5466144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初步判讀，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以營運人員確認為準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548640" y="5916168"/>
            <a:ext cx="1109441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對應評論：</a:t>
            </a: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「還車鎖門後才要拍內部照片，這很不合理」（Google Play・2026/07/12）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548640" y="6172200"/>
            <a:ext cx="110944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以上皆為</a:t>
            </a: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為原型實機截圖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1" name="Google Shape;271;p13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3　解決方案設計｜營運流程</a:t>
            </a:r>
            <a:endParaRPr sz="1300"/>
          </a:p>
        </p:txBody>
      </p:sp>
      <p:sp>
        <p:nvSpPr>
          <p:cNvPr id="278" name="Google Shape;278;p14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營運端：AI 先篩、系統派工，人只做確認</a:t>
            </a:r>
            <a:endParaRPr sz="2800"/>
          </a:p>
        </p:txBody>
      </p:sp>
      <p:pic>
        <p:nvPicPr>
          <p:cNvPr descr="營運後台預警頁實機截圖：RDQ-1950 還車新車損，比對基準與這次照片並排，工單檢修進行中、車輛暫停出租，下方有確認與駁回按鈕" id="279" name="Google Shape;2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63040"/>
            <a:ext cx="5897880" cy="420130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4"/>
          <p:cNvSpPr/>
          <p:nvPr/>
        </p:nvSpPr>
        <p:spPr>
          <a:xfrm>
            <a:off x="548640" y="1463040"/>
            <a:ext cx="5897880" cy="4201303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 txBox="1"/>
          <p:nvPr/>
        </p:nvSpPr>
        <p:spPr>
          <a:xfrm>
            <a:off x="548640" y="5737495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營運後台・預警頁（原型實機畫面）：一次取還車一張卡片，最嚴重、等最久的排前面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6812280" y="1417320"/>
            <a:ext cx="48307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預警寫入後，資料庫自動開工單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83" name="Google Shape;283;p14"/>
          <p:cNvGraphicFramePr/>
          <p:nvPr/>
        </p:nvGraphicFramePr>
        <p:xfrm>
          <a:off x="681228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{FEBC2B4F-53D2-4807-97ED-158D77B23BFF}</a:tableStyleId>
              </a:tblPr>
              <a:tblGrid>
                <a:gridCol w="1920250"/>
                <a:gridCol w="1417325"/>
                <a:gridCol w="149322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預警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工單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暫停出租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車內髒汙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清潔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000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D7000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是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嚴重新車損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檢修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000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D7000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是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缺卡片、遺留物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聯絡用戶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否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中低嚴重度車損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由營運確認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否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14"/>
          <p:cNvSpPr txBox="1"/>
          <p:nvPr/>
        </p:nvSpPr>
        <p:spPr>
          <a:xfrm>
            <a:off x="6812280" y="3456432"/>
            <a:ext cx="483077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工單頁（原型實機畫面）：嚴重車損自動開檢修工單，車輛暫停出租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營運後台工單頁實機截圖：檢修 RDU-6956，車輛整備中、暫停出租中" id="285" name="Google Shape;2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280" y="3712464"/>
            <a:ext cx="4830775" cy="8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/>
          <p:nvPr/>
        </p:nvSpPr>
        <p:spPr>
          <a:xfrm>
            <a:off x="6812280" y="3712464"/>
            <a:ext cx="4830775" cy="854775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 txBox="1"/>
          <p:nvPr/>
        </p:nvSpPr>
        <p:spPr>
          <a:xfrm>
            <a:off x="6812280" y="4731831"/>
            <a:ext cx="48307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營運人員只做確認或駁回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812280" y="5061015"/>
            <a:ext cx="658368" cy="310896"/>
          </a:xfrm>
          <a:prstGeom prst="roundRect">
            <a:avLst>
              <a:gd fmla="val 2352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7589520" y="5061015"/>
            <a:ext cx="40535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嚴重新車損：</a:t>
            </a:r>
            <a:r>
              <a:rPr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先送修，修好前暫停出租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812280" y="5408487"/>
            <a:ext cx="658368" cy="310896"/>
          </a:xfrm>
          <a:prstGeom prst="roundRect">
            <a:avLst>
              <a:gd fmla="val 2352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7589520" y="5408487"/>
            <a:ext cx="40535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小損傷：</a:t>
            </a:r>
            <a:r>
              <a:rPr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</a:t>
            </a:r>
            <a:r>
              <a:rPr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恢復出租，記成已知車損，下一位看得到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812280" y="5755959"/>
            <a:ext cx="658368" cy="310896"/>
          </a:xfrm>
          <a:prstGeom prst="roundRect">
            <a:avLst>
              <a:gd fmla="val 23529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駁回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7589520" y="5755959"/>
            <a:ext cx="40535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誤報：</a:t>
            </a:r>
            <a:r>
              <a:rPr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工單自動取消，車輛恢復出租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4" name="Google Shape;294;p14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4　AI 應用方法｜AI 的角色與選用原因</a:t>
            </a:r>
            <a:endParaRPr sz="1300"/>
          </a:p>
        </p:txBody>
      </p:sp>
      <p:sp>
        <p:nvSpPr>
          <p:cNvPr id="301" name="Google Shape;301;p15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手機端把關拍照求快，後台 AI 判讀車況求準</a:t>
            </a:r>
            <a:endParaRPr sz="2800"/>
          </a:p>
        </p:txBody>
      </p:sp>
      <p:sp>
        <p:nvSpPr>
          <p:cNvPr id="302" name="Google Shape;302;p15"/>
          <p:cNvSpPr/>
          <p:nvPr/>
        </p:nvSpPr>
        <p:spPr>
          <a:xfrm>
            <a:off x="548640" y="1417320"/>
            <a:ext cx="5074920" cy="3154680"/>
          </a:xfrm>
          <a:prstGeom prst="roundRect">
            <a:avLst>
              <a:gd fmla="val 289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5897880" y="1417320"/>
            <a:ext cx="5745175" cy="3154680"/>
          </a:xfrm>
          <a:prstGeom prst="roundRect">
            <a:avLst>
              <a:gd fmla="val 289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822960" y="1673352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692" y="181508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1554480" y="1600200"/>
            <a:ext cx="3886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手機端｜即時檢查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要快：在手機上運算，把不能用的照片擋在源頭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07" name="Google Shape;307;p15"/>
          <p:cNvGraphicFramePr/>
          <p:nvPr/>
        </p:nvGraphicFramePr>
        <p:xfrm>
          <a:off x="82296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{FEBC2B4F-53D2-4807-97ED-158D77B23BFF}</a:tableStyleId>
              </a:tblPr>
              <a:tblGrid>
                <a:gridCol w="1097275"/>
                <a:gridCol w="34290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JhengHe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Microsoft JhengHe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做法與實測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畫質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清晰度、亮度、過曝</a:t>
                      </a:r>
                      <a:r>
                        <a:rPr lang="zh-TW" sz="12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門檻用 1,200 張還車照片校準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車牌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PaddleOCR </a:t>
                      </a:r>
                      <a:r>
                        <a:rPr lang="zh-TW" sz="12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即時</a:t>
                      </a: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讀車牌</a:t>
                      </a:r>
                      <a:r>
                        <a:rPr lang="zh-TW" sz="12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整張入鏡 92% 讀對，從未認錯車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角度、遠近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比對上次照片的車牌位置與大小</a:t>
                      </a:r>
                      <a:r>
                        <a:rPr lang="zh-TW" sz="12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站對 95% 通過，站錯 77% 抓到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光線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比上次暗很多就提醒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sz="12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（主辦方照片約 6%）</a:t>
                      </a:r>
                      <a:endParaRPr sz="12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8" name="Google Shape;308;p15"/>
          <p:cNvSpPr/>
          <p:nvPr/>
        </p:nvSpPr>
        <p:spPr>
          <a:xfrm>
            <a:off x="6172200" y="1673352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3932" y="181508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 txBox="1"/>
          <p:nvPr/>
        </p:nvSpPr>
        <p:spPr>
          <a:xfrm>
            <a:off x="6903720" y="1600200"/>
            <a:ext cx="4556455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後台｜Qwen 系列視覺語言模型（自架）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要準：用戶離開後，再仔細判讀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11" name="Google Shape;311;p15"/>
          <p:cNvGraphicFramePr/>
          <p:nvPr/>
        </p:nvGraphicFramePr>
        <p:xfrm>
          <a:off x="617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{FEBC2B4F-53D2-4807-97ED-158D77B23BFF}</a:tableStyleId>
              </a:tblPr>
              <a:tblGrid>
                <a:gridCol w="1600200"/>
                <a:gridCol w="359632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看哪裡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Microsoft JhengHei"/>
                        <a:buNone/>
                      </a:pPr>
                      <a:r>
                        <a:rPr b="1" lang="zh-TW" sz="125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判讀什麼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車身四角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與比對基準找新車損：位置、類型、嚴重度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車內前座、後座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整潔度（乾淨／普通／髒汙）與遺留物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加油卡／停車卡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卡片是否在卡夾裡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用戶回報的損傷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50"/>
                        <a:buFont typeface="Microsoft JhengHei"/>
                        <a:buNone/>
                      </a:pPr>
                      <a:r>
                        <a:rPr lang="zh-TW" sz="125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核對用戶自己拍下的損傷</a:t>
                      </a:r>
                      <a:endParaRPr sz="125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25400" marB="254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15"/>
          <p:cNvSpPr txBox="1"/>
          <p:nvPr/>
        </p:nvSpPr>
        <p:spPr>
          <a:xfrm>
            <a:off x="6172200" y="3813048"/>
            <a:ext cx="5196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•"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每張照片判讀 3 次，取多數決</a:t>
            </a: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整潔度意見不一致時取較髒的等級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•"/>
            </a:pP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角度不同、無法比對的照片送人工，不當作沒問題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48640" y="4736592"/>
            <a:ext cx="2636444" cy="932688"/>
          </a:xfrm>
          <a:prstGeom prst="roundRect">
            <a:avLst>
              <a:gd fmla="val 9804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85800" y="4864608"/>
            <a:ext cx="384048" cy="38404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812" y="496062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 txBox="1"/>
          <p:nvPr/>
        </p:nvSpPr>
        <p:spPr>
          <a:xfrm>
            <a:off x="1143000" y="4846320"/>
            <a:ext cx="19506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為什麼用視覺語言模型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685800" y="5239512"/>
            <a:ext cx="23804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不必先標註大量資料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一個模型看車損、整潔、遺留物、卡片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367964" y="4736592"/>
            <a:ext cx="2636444" cy="932688"/>
          </a:xfrm>
          <a:prstGeom prst="roundRect">
            <a:avLst>
              <a:gd fmla="val 9804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3505124" y="4864608"/>
            <a:ext cx="384048" cy="38404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1136" y="496062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 txBox="1"/>
          <p:nvPr/>
        </p:nvSpPr>
        <p:spPr>
          <a:xfrm>
            <a:off x="3962324" y="4846320"/>
            <a:ext cx="19506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為什麼自架 Qwen 系列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3505124" y="5239512"/>
            <a:ext cx="23804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照片不外流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每天約 8.2 萬次判讀，不按次付費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187288" y="4736592"/>
            <a:ext cx="2636444" cy="932688"/>
          </a:xfrm>
          <a:prstGeom prst="roundRect">
            <a:avLst>
              <a:gd fmla="val 9804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6324448" y="4864608"/>
            <a:ext cx="384048" cy="38404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460" y="496062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 txBox="1"/>
          <p:nvPr/>
        </p:nvSpPr>
        <p:spPr>
          <a:xfrm>
            <a:off x="6781648" y="4846320"/>
            <a:ext cx="19506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為什麼檢查放在手機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6324448" y="5239512"/>
            <a:ext cx="23804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上傳後才檢查用戶已離開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在手機上即時回饋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9006611" y="4736592"/>
            <a:ext cx="2636444" cy="932688"/>
          </a:xfrm>
          <a:prstGeom prst="roundRect">
            <a:avLst>
              <a:gd fmla="val 9804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9143771" y="4864608"/>
            <a:ext cx="384048" cy="38404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783" y="496062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5"/>
          <p:cNvSpPr txBox="1"/>
          <p:nvPr/>
        </p:nvSpPr>
        <p:spPr>
          <a:xfrm>
            <a:off x="9600971" y="4846320"/>
            <a:ext cx="19506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為什麼用 PaddleOCR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9143771" y="5239512"/>
            <a:ext cx="23804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開源、約 15 MB 打包進 App，每 0.5 秒辨識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畫面不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需先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fmla="val 20000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設計原則：寧可多報，不要漏報</a:t>
            </a:r>
            <a:r>
              <a:rPr b="1" lang="zh-TW" sz="13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漏掉一台髒車或新車損的代價，高於多一次人工確認</a:t>
            </a: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標記率在試點時實測並調整門檻。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5" name="Google Shape;335;p15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4　AI 應用方法｜實測結果</a:t>
            </a:r>
            <a:endParaRPr sz="1300"/>
          </a:p>
        </p:txBody>
      </p:sp>
      <p:sp>
        <p:nvSpPr>
          <p:cNvPr id="342" name="Google Shape;342;p16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主辦方 144 組照片：車損召回率 100%、誤報率 3%</a:t>
            </a:r>
            <a:endParaRPr sz="2800"/>
          </a:p>
        </p:txBody>
      </p:sp>
      <p:sp>
        <p:nvSpPr>
          <p:cNvPr id="343" name="Google Shape;343;p16"/>
          <p:cNvSpPr/>
          <p:nvPr/>
        </p:nvSpPr>
        <p:spPr>
          <a:xfrm>
            <a:off x="548640" y="1463040"/>
            <a:ext cx="2651760" cy="1481328"/>
          </a:xfrm>
          <a:prstGeom prst="roundRect">
            <a:avLst>
              <a:gd fmla="val 6173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777240" y="157276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Microsoft JhengHei"/>
              <a:buNone/>
            </a:pPr>
            <a:r>
              <a:rPr b="1" lang="zh-TW" sz="4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100%</a:t>
            </a:r>
            <a:endParaRPr sz="4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777240" y="2212848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車損召回率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24 組有索賠的照片，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全部判為新車損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48640" y="3127248"/>
            <a:ext cx="2651760" cy="1481328"/>
          </a:xfrm>
          <a:prstGeom prst="roundRect">
            <a:avLst>
              <a:gd fmla="val 6173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777240" y="3236976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Microsoft JhengHei"/>
              <a:buNone/>
            </a:pPr>
            <a:r>
              <a:rPr b="1" lang="zh-TW" sz="4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3%</a:t>
            </a:r>
            <a:endParaRPr sz="4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777240" y="3877056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Microsoft JhengHei"/>
              <a:buNone/>
            </a:pPr>
            <a:r>
              <a:rPr b="1" lang="zh-TW" sz="14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誤報率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120 組沒有索賠的照片中，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被誤判的比例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548640" y="4754880"/>
            <a:ext cx="2651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評估方式：同一套提示詞與多數決規則，每組判讀 3 次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搭配拍照時的角度審核與光線判斷。右側為實際判讀結果，車牌已遮蔽。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3474720" y="1463040"/>
            <a:ext cx="3969868" cy="2212848"/>
          </a:xfrm>
          <a:prstGeom prst="roundRect">
            <a:avLst>
              <a:gd fmla="val 413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主辦方照片：取車時車身左前完好（車牌已遮蔽）" id="351" name="Google Shape;3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1600200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6"/>
          <p:cNvSpPr/>
          <p:nvPr/>
        </p:nvSpPr>
        <p:spPr>
          <a:xfrm>
            <a:off x="3666744" y="1655064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主辦方照片：還車時車身左前嚴重受損" id="353" name="Google Shape;3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7166" y="1600200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/>
          <p:nvPr/>
        </p:nvSpPr>
        <p:spPr>
          <a:xfrm>
            <a:off x="4812030" y="1655064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5993892" y="1600200"/>
            <a:ext cx="1313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車身左前・白天</a:t>
            </a:r>
            <a:endParaRPr sz="10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5993892" y="1874520"/>
            <a:ext cx="1313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新車損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5993892" y="2350008"/>
            <a:ext cx="13135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次判讀都判定新車損：保險桿破裂、大燈破損、葉子板凹陷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5993892" y="3291840"/>
            <a:ext cx="1313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信心 0.98–0.99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7673188" y="1463040"/>
            <a:ext cx="3969868" cy="2212848"/>
          </a:xfrm>
          <a:prstGeom prst="roundRect">
            <a:avLst>
              <a:gd fmla="val 413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主辦方照片：夜間取車時車身左後完好（車牌已遮蔽）" id="360" name="Google Shape;3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348" y="1600200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6"/>
          <p:cNvSpPr/>
          <p:nvPr/>
        </p:nvSpPr>
        <p:spPr>
          <a:xfrm>
            <a:off x="7865212" y="1655064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主辦方照片：夜間還車時車身左後保險桿凹陷破裂（車牌已遮蔽）" id="362" name="Google Shape;3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5634" y="1600200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/>
          <p:nvPr/>
        </p:nvSpPr>
        <p:spPr>
          <a:xfrm>
            <a:off x="9010498" y="1655064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10192360" y="1600200"/>
            <a:ext cx="1313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車身左後・夜間</a:t>
            </a:r>
            <a:endParaRPr sz="10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10192360" y="1874520"/>
            <a:ext cx="13135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新車損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10192360" y="2350008"/>
            <a:ext cx="13135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次判讀都判定新車損：保險桿凹陷破裂、葉子板凹陷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10192360" y="3291840"/>
            <a:ext cx="1313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信心 0.95–0.98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3474720" y="3904488"/>
            <a:ext cx="3969868" cy="2212848"/>
          </a:xfrm>
          <a:prstGeom prst="roundRect">
            <a:avLst>
              <a:gd fmla="val 413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主辦方照片：還車時前座乾淨（夜間）" id="369" name="Google Shape;36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1880" y="4041648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/>
          <p:nvPr/>
        </p:nvSpPr>
        <p:spPr>
          <a:xfrm>
            <a:off x="3666744" y="4096512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前座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主辦方照片：還車時後座座椅有碎屑、地墊有沙土" id="371" name="Google Shape;37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7166" y="4041648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6"/>
          <p:cNvSpPr/>
          <p:nvPr/>
        </p:nvSpPr>
        <p:spPr>
          <a:xfrm>
            <a:off x="4812030" y="4096512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後座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5993892" y="4041648"/>
            <a:ext cx="1313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還車車內・夜間</a:t>
            </a:r>
            <a:endParaRPr sz="10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5993892" y="4315968"/>
            <a:ext cx="13135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前座 </a:t>
            </a:r>
            <a:r>
              <a:rPr b="1" lang="zh-TW" sz="1400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乾淨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後座 </a:t>
            </a:r>
            <a:r>
              <a:rPr b="1" lang="zh-TW" sz="1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髒汙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5993892" y="4974336"/>
            <a:ext cx="13135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後座座椅有碎屑、地墊有沙土，需要清潔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5993892" y="5733288"/>
            <a:ext cx="1313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信心 0.95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7673188" y="3904488"/>
            <a:ext cx="3969868" cy="2212848"/>
          </a:xfrm>
          <a:prstGeom prst="roundRect">
            <a:avLst>
              <a:gd fmla="val 413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主辦方照片：還車時前座儀表板有灰塵、腳踏墊有污漬" id="378" name="Google Shape;37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348" y="4041648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6"/>
          <p:cNvSpPr/>
          <p:nvPr/>
        </p:nvSpPr>
        <p:spPr>
          <a:xfrm>
            <a:off x="7865212" y="4096512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前座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主辦方照片：還車時後座乾淨" id="380" name="Google Shape;38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55634" y="4041648"/>
            <a:ext cx="1090422" cy="193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/>
          <p:nvPr/>
        </p:nvSpPr>
        <p:spPr>
          <a:xfrm>
            <a:off x="9010498" y="4096512"/>
            <a:ext cx="457200" cy="219456"/>
          </a:xfrm>
          <a:prstGeom prst="roundRect">
            <a:avLst>
              <a:gd fmla="val 2083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後座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10192360" y="4041648"/>
            <a:ext cx="1313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還車車內・白天</a:t>
            </a:r>
            <a:endParaRPr sz="10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3" name="Google Shape;383;p16"/>
          <p:cNvSpPr txBox="1"/>
          <p:nvPr/>
        </p:nvSpPr>
        <p:spPr>
          <a:xfrm>
            <a:off x="10192360" y="4315968"/>
            <a:ext cx="13135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前座 </a:t>
            </a:r>
            <a:r>
              <a:rPr b="1" lang="zh-TW" sz="1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髒汙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後座 </a:t>
            </a:r>
            <a:r>
              <a:rPr b="1" lang="zh-TW" sz="1400">
                <a:solidFill>
                  <a:schemeClr val="accent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乾淨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4" name="Google Shape;384;p16"/>
          <p:cNvSpPr txBox="1"/>
          <p:nvPr/>
        </p:nvSpPr>
        <p:spPr>
          <a:xfrm>
            <a:off x="10192360" y="4974336"/>
            <a:ext cx="13135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儀表板與中控台有灰塵，腳踏墊有深色污漬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10192360" y="5733288"/>
            <a:ext cx="1313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信心 0.95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6" name="Google Shape;386;p16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4　AI 應用方法｜導入後系統架構</a:t>
            </a:r>
            <a:endParaRPr sz="1300"/>
          </a:p>
        </p:txBody>
      </p:sp>
      <p:sp>
        <p:nvSpPr>
          <p:cNvPr id="393" name="Google Shape;393;p17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導入後架構：手機把關、自架 AI 判讀、營運閉環</a:t>
            </a:r>
            <a:endParaRPr sz="2800"/>
          </a:p>
        </p:txBody>
      </p:sp>
      <p:sp>
        <p:nvSpPr>
          <p:cNvPr id="394" name="Google Shape;394;p17"/>
          <p:cNvSpPr txBox="1"/>
          <p:nvPr/>
        </p:nvSpPr>
        <p:spPr>
          <a:xfrm>
            <a:off x="548640" y="13716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用戶手機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548640" y="1691640"/>
            <a:ext cx="2148840" cy="2926080"/>
          </a:xfrm>
          <a:prstGeom prst="roundRect">
            <a:avLst>
              <a:gd fmla="val 425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1737360" y="1783080"/>
            <a:ext cx="868680" cy="237744"/>
          </a:xfrm>
          <a:prstGeom prst="roundRect">
            <a:avLst>
              <a:gd fmla="val 1923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原型已實作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713232" y="2075688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 App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內嵌 iRent+ 拍照模組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713232" y="2697480"/>
            <a:ext cx="18745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疊上次照片對齊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畫質：清晰度、亮度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車牌辨識（PaddleOCR）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角度、遠近、光線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713232" y="37216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全部在手機上運算，</a:t>
            </a:r>
            <a:endParaRPr sz="10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不合格當場重拍</a:t>
            </a:r>
            <a:endParaRPr sz="10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685800" y="4160520"/>
            <a:ext cx="1874520" cy="36576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795528" y="4215384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取還車確認單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3154680" y="13716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 既有系統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3154680" y="1691640"/>
            <a:ext cx="169164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3264408" y="1746504"/>
            <a:ext cx="1472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會員與訂單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取還車事件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3154680" y="2395728"/>
            <a:ext cx="169164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3264408" y="2450592"/>
            <a:ext cx="1472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計費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按下還車即停止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3154680" y="3099816"/>
            <a:ext cx="169164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3264408" y="3154680"/>
            <a:ext cx="1472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車機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遠端開鎖、鎖門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3154680" y="3803904"/>
            <a:ext cx="1691640" cy="566928"/>
          </a:xfrm>
          <a:prstGeom prst="roundRect">
            <a:avLst>
              <a:gd fmla="val 9677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 txBox="1"/>
          <p:nvPr/>
        </p:nvSpPr>
        <p:spPr>
          <a:xfrm>
            <a:off x="3264408" y="3858768"/>
            <a:ext cx="1472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照片儲存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原圖與縮圖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3154680" y="447141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 API／事件串接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5303520" y="137160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iRent+ 平台（部署在 iRent 環境）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5303520" y="1691640"/>
            <a:ext cx="3611880" cy="2926080"/>
          </a:xfrm>
          <a:prstGeom prst="roundRect">
            <a:avLst>
              <a:gd fmla="val 3125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7955280" y="1783080"/>
            <a:ext cx="868680" cy="237744"/>
          </a:xfrm>
          <a:prstGeom prst="roundRect">
            <a:avLst>
              <a:gd fmla="val 1923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原型已實作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440680" y="2075688"/>
            <a:ext cx="3063240" cy="804672"/>
          </a:xfrm>
          <a:prstGeom prst="roundRect">
            <a:avLst>
              <a:gd fmla="val 6818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 txBox="1"/>
          <p:nvPr/>
        </p:nvSpPr>
        <p:spPr>
          <a:xfrm>
            <a:off x="5550408" y="2130552"/>
            <a:ext cx="284378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車況資料庫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取還車、判讀結果、預警、工單、已知車損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觸發器：預警 → 工單 → 暫停出租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5440680" y="3108960"/>
            <a:ext cx="3063240" cy="530352"/>
          </a:xfrm>
          <a:prstGeom prst="roundRect">
            <a:avLst>
              <a:gd fmla="val 1034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5550408" y="3163824"/>
            <a:ext cx="28437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判讀任務佇列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多台判讀服務不重複領取，失敗自動重試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5440680" y="3867912"/>
            <a:ext cx="3063240" cy="658368"/>
          </a:xfrm>
          <a:prstGeom prst="roundRect">
            <a:avLst>
              <a:gd fmla="val 8333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5550408" y="3922776"/>
            <a:ext cx="28437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None/>
            </a:pPr>
            <a:r>
              <a:rPr b="1" lang="zh-TW" sz="1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自架 GPU 判讀服務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Qwen 系列視覺語言模型（vLLM）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比對車損、整潔遺留物、卡片</a:t>
            </a: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，採取</a:t>
            </a: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多數決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21" name="Google Shape;421;p17"/>
          <p:cNvCxnSpPr/>
          <p:nvPr/>
        </p:nvCxnSpPr>
        <p:spPr>
          <a:xfrm>
            <a:off x="5897880" y="2898648"/>
            <a:ext cx="914" cy="19202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2" name="Google Shape;422;p17"/>
          <p:cNvCxnSpPr/>
          <p:nvPr/>
        </p:nvCxnSpPr>
        <p:spPr>
          <a:xfrm>
            <a:off x="5897880" y="3657600"/>
            <a:ext cx="914" cy="19202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3" name="Google Shape;423;p17"/>
          <p:cNvCxnSpPr/>
          <p:nvPr/>
        </p:nvCxnSpPr>
        <p:spPr>
          <a:xfrm>
            <a:off x="8503920" y="4197096"/>
            <a:ext cx="155448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7"/>
          <p:cNvCxnSpPr/>
          <p:nvPr/>
        </p:nvCxnSpPr>
        <p:spPr>
          <a:xfrm>
            <a:off x="8659368" y="2478024"/>
            <a:ext cx="914" cy="171907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7"/>
          <p:cNvCxnSpPr/>
          <p:nvPr/>
        </p:nvCxnSpPr>
        <p:spPr>
          <a:xfrm flipH="1">
            <a:off x="8513064" y="2478024"/>
            <a:ext cx="146304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17"/>
          <p:cNvSpPr txBox="1"/>
          <p:nvPr/>
        </p:nvSpPr>
        <p:spPr>
          <a:xfrm>
            <a:off x="8275320" y="331927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寫回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9372600" y="1371600"/>
            <a:ext cx="2270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營運端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9372600" y="1691640"/>
            <a:ext cx="2270455" cy="1783080"/>
          </a:xfrm>
          <a:prstGeom prst="roundRect">
            <a:avLst>
              <a:gd fmla="val 5128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10682935" y="1783080"/>
            <a:ext cx="868680" cy="237744"/>
          </a:xfrm>
          <a:prstGeom prst="roundRect">
            <a:avLst>
              <a:gd fmla="val 1923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原型已實作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9509760" y="2075688"/>
            <a:ext cx="199613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營運後台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>
            <a:off x="9509760" y="2423160"/>
            <a:ext cx="199613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預警：確認或駁回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工單：清潔、檢修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車輛與已知車損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Char char="•"/>
            </a:pPr>
            <a:r>
              <a:rPr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顧客評論分類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9372600" y="3639312"/>
            <a:ext cx="2270455" cy="658368"/>
          </a:xfrm>
          <a:prstGeom prst="roundRect">
            <a:avLst>
              <a:gd fmla="val 8333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 txBox="1"/>
          <p:nvPr/>
        </p:nvSpPr>
        <p:spPr>
          <a:xfrm>
            <a:off x="9482328" y="3694176"/>
            <a:ext cx="205099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通知與派工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確認單推播給用戶</a:t>
            </a: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Microsoft JhengHei"/>
              <a:buNone/>
            </a:pPr>
            <a:r>
              <a:rPr lang="zh-TW" sz="10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清潔、維修廠商派工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4" name="Google Shape;434;p17"/>
          <p:cNvSpPr txBox="1"/>
          <p:nvPr/>
        </p:nvSpPr>
        <p:spPr>
          <a:xfrm>
            <a:off x="9372600" y="4370832"/>
            <a:ext cx="2270455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icrosoft JhengHei"/>
              <a:buNone/>
            </a:pPr>
            <a:r>
              <a:rPr b="1" lang="zh-TW" sz="11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營運只需 1–2 人確認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35" name="Google Shape;435;p17"/>
          <p:cNvCxnSpPr/>
          <p:nvPr/>
        </p:nvCxnSpPr>
        <p:spPr>
          <a:xfrm>
            <a:off x="2724912" y="2606040"/>
            <a:ext cx="402336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17"/>
          <p:cNvSpPr txBox="1"/>
          <p:nvPr/>
        </p:nvSpPr>
        <p:spPr>
          <a:xfrm>
            <a:off x="2706624" y="2240280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37" name="Google Shape;437;p17"/>
          <p:cNvCxnSpPr/>
          <p:nvPr/>
        </p:nvCxnSpPr>
        <p:spPr>
          <a:xfrm>
            <a:off x="4873752" y="1975104"/>
            <a:ext cx="402336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17"/>
          <p:cNvSpPr txBox="1"/>
          <p:nvPr/>
        </p:nvSpPr>
        <p:spPr>
          <a:xfrm>
            <a:off x="4855464" y="1618488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送出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事件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39" name="Google Shape;439;p17"/>
          <p:cNvCxnSpPr/>
          <p:nvPr/>
        </p:nvCxnSpPr>
        <p:spPr>
          <a:xfrm>
            <a:off x="8942832" y="2258568"/>
            <a:ext cx="402336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17"/>
          <p:cNvSpPr txBox="1"/>
          <p:nvPr/>
        </p:nvSpPr>
        <p:spPr>
          <a:xfrm>
            <a:off x="8924544" y="1892808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預警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工單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41" name="Google Shape;441;p17"/>
          <p:cNvCxnSpPr/>
          <p:nvPr/>
        </p:nvCxnSpPr>
        <p:spPr>
          <a:xfrm flipH="1">
            <a:off x="8942832" y="2926080"/>
            <a:ext cx="402336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7"/>
          <p:cNvSpPr txBox="1"/>
          <p:nvPr/>
        </p:nvSpPr>
        <p:spPr>
          <a:xfrm>
            <a:off x="8924544" y="2560320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駁回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43" name="Google Shape;443;p17"/>
          <p:cNvCxnSpPr/>
          <p:nvPr/>
        </p:nvCxnSpPr>
        <p:spPr>
          <a:xfrm>
            <a:off x="8942832" y="3977640"/>
            <a:ext cx="402336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17"/>
          <p:cNvSpPr txBox="1"/>
          <p:nvPr/>
        </p:nvSpPr>
        <p:spPr>
          <a:xfrm>
            <a:off x="8924544" y="3611880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派工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通知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45" name="Google Shape;445;p17"/>
          <p:cNvCxnSpPr/>
          <p:nvPr/>
        </p:nvCxnSpPr>
        <p:spPr>
          <a:xfrm flipH="1">
            <a:off x="2724912" y="4343400"/>
            <a:ext cx="402336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6" name="Google Shape;446;p17"/>
          <p:cNvSpPr txBox="1"/>
          <p:nvPr/>
        </p:nvSpPr>
        <p:spPr>
          <a:xfrm>
            <a:off x="2706624" y="3977640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確認單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4206240" y="4672584"/>
            <a:ext cx="5806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每天約 8.2 萬次判讀、尖峰約 1.8 次／秒</a:t>
            </a: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判讀服務加機器即可擴充，照片不離開 iRent 環境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548640" y="507492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資料回訓迴圈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Microsoft JhengHei"/>
              <a:buNone/>
            </a:pPr>
            <a:r>
              <a:rPr lang="zh-TW" sz="11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營運判斷越多，模型越準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2697480" y="5074920"/>
            <a:ext cx="1481328" cy="603504"/>
          </a:xfrm>
          <a:prstGeom prst="roundRect">
            <a:avLst>
              <a:gd fmla="val 1212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 txBox="1"/>
          <p:nvPr/>
        </p:nvSpPr>
        <p:spPr>
          <a:xfrm>
            <a:off x="2743200" y="5074920"/>
            <a:ext cx="13898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營運確認／駁回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51" name="Google Shape;451;p17"/>
          <p:cNvCxnSpPr/>
          <p:nvPr/>
        </p:nvCxnSpPr>
        <p:spPr>
          <a:xfrm>
            <a:off x="4215384" y="5376672"/>
            <a:ext cx="311582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17"/>
          <p:cNvSpPr/>
          <p:nvPr/>
        </p:nvSpPr>
        <p:spPr>
          <a:xfrm>
            <a:off x="4563542" y="5074920"/>
            <a:ext cx="1481328" cy="603504"/>
          </a:xfrm>
          <a:prstGeom prst="roundRect">
            <a:avLst>
              <a:gd fmla="val 1212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 txBox="1"/>
          <p:nvPr/>
        </p:nvSpPr>
        <p:spPr>
          <a:xfrm>
            <a:off x="4609262" y="5074920"/>
            <a:ext cx="13898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累積標註資料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54" name="Google Shape;454;p17"/>
          <p:cNvCxnSpPr/>
          <p:nvPr/>
        </p:nvCxnSpPr>
        <p:spPr>
          <a:xfrm>
            <a:off x="6081446" y="5376672"/>
            <a:ext cx="311582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5" name="Google Shape;455;p17"/>
          <p:cNvSpPr/>
          <p:nvPr/>
        </p:nvSpPr>
        <p:spPr>
          <a:xfrm>
            <a:off x="6429604" y="5074920"/>
            <a:ext cx="1481328" cy="603504"/>
          </a:xfrm>
          <a:prstGeom prst="roundRect">
            <a:avLst>
              <a:gd fmla="val 1212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6475324" y="5074920"/>
            <a:ext cx="13898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重新訓練、微調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57" name="Google Shape;457;p17"/>
          <p:cNvCxnSpPr/>
          <p:nvPr/>
        </p:nvCxnSpPr>
        <p:spPr>
          <a:xfrm>
            <a:off x="7947508" y="5376672"/>
            <a:ext cx="311582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17"/>
          <p:cNvSpPr/>
          <p:nvPr/>
        </p:nvSpPr>
        <p:spPr>
          <a:xfrm>
            <a:off x="8295665" y="5074920"/>
            <a:ext cx="1481328" cy="603504"/>
          </a:xfrm>
          <a:prstGeom prst="roundRect">
            <a:avLst>
              <a:gd fmla="val 1212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8341385" y="5074920"/>
            <a:ext cx="13898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離線評估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召回率・誤報率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60" name="Google Shape;460;p17"/>
          <p:cNvCxnSpPr/>
          <p:nvPr/>
        </p:nvCxnSpPr>
        <p:spPr>
          <a:xfrm>
            <a:off x="9813569" y="5376672"/>
            <a:ext cx="311582" cy="9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1" name="Google Shape;461;p17"/>
          <p:cNvSpPr/>
          <p:nvPr/>
        </p:nvSpPr>
        <p:spPr>
          <a:xfrm>
            <a:off x="10161727" y="5074920"/>
            <a:ext cx="1481328" cy="603504"/>
          </a:xfrm>
          <a:prstGeom prst="roundRect">
            <a:avLst>
              <a:gd fmla="val 1212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"/>
          <p:cNvSpPr txBox="1"/>
          <p:nvPr/>
        </p:nvSpPr>
        <p:spPr>
          <a:xfrm>
            <a:off x="10207447" y="5074920"/>
            <a:ext cx="138988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影子模式驗證後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icrosoft JhengHei"/>
              <a:buNone/>
            </a:pPr>
            <a:r>
              <a:rPr b="1" lang="zh-TW" sz="11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更新判讀服務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548640" y="5943600"/>
            <a:ext cx="868680" cy="237744"/>
          </a:xfrm>
          <a:prstGeom prst="roundRect">
            <a:avLst>
              <a:gd fmla="val 1923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icrosoft JhengHei"/>
              <a:buNone/>
            </a:pPr>
            <a:r>
              <a:rPr b="1" lang="zh-TW" sz="95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原型已實作</a:t>
            </a:r>
            <a:endParaRPr sz="9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1508760" y="594360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原型已在跑：App、Supabase、</a:t>
            </a:r>
            <a:r>
              <a:rPr lang="zh-TW" sz="1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自架 </a:t>
            </a:r>
            <a:r>
              <a:rPr lang="zh-TW" sz="1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GPU + vLLM、營運後台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6355080" y="5961888"/>
            <a:ext cx="457200" cy="201168"/>
          </a:xfrm>
          <a:prstGeom prst="roundRect">
            <a:avLst>
              <a:gd fmla="val 18182" name="adj"/>
            </a:avLst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 txBox="1"/>
          <p:nvPr/>
        </p:nvSpPr>
        <p:spPr>
          <a:xfrm>
            <a:off x="6903720" y="5943600"/>
            <a:ext cx="473933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導入時串接</a:t>
            </a:r>
            <a:r>
              <a:rPr lang="zh-TW" sz="1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，只需把</a:t>
            </a:r>
            <a:r>
              <a:rPr lang="zh-TW" sz="10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資料庫與 GPU 移到 iRent 環境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7" name="Google Shape;467;p17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5　獨特優勢與差異化</a:t>
            </a:r>
            <a:endParaRPr sz="1300"/>
          </a:p>
        </p:txBody>
      </p:sp>
      <p:sp>
        <p:nvSpPr>
          <p:cNvPr id="474" name="Google Shape;474;p18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從事後存證變成即時處理，資料越用越準</a:t>
            </a:r>
            <a:endParaRPr sz="2800"/>
          </a:p>
        </p:txBody>
      </p:sp>
      <p:graphicFrame>
        <p:nvGraphicFramePr>
          <p:cNvPr id="475" name="Google Shape;475;p18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{FEBC2B4F-53D2-4807-97ED-158D77B23BFF}</a:tableStyleId>
              </a:tblPr>
              <a:tblGrid>
                <a:gridCol w="1600200"/>
                <a:gridCol w="4206250"/>
                <a:gridCol w="52879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項目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現行做法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iRent+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000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拍照品質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送出後才發現拍糊，常被要求重拍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即時</a:t>
                      </a: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檢查畫質、車牌與角度，當場重拍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拍攝角度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每次自由拍，前後角度不同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疊上上次照片，用車牌位置判斷站位與遠近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還車順序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鎖門後才要拍車內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先拍車內再鎖門，計費停在按下還車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檢查方式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靠人工查看，耗費人力且不即時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每筆都看，人只確認 AI 標記的部分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責任歸屬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事後翻照片，說不清是誰造成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取車比上次、還車比取車，差異歸到對的人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髒車與車損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下一位用戶取車才發現、客訴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髒車排清潔、嚴重車損先送修，都暫停出租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用戶透明度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454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45454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看不到判定結果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每次取還車都有確認單與營運確認狀態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127000" marL="1270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6" name="Google Shape;476;p18"/>
          <p:cNvSpPr/>
          <p:nvPr/>
        </p:nvSpPr>
        <p:spPr>
          <a:xfrm>
            <a:off x="548640" y="4645152"/>
            <a:ext cx="2602154" cy="137160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4942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8"/>
          <p:cNvSpPr txBox="1"/>
          <p:nvPr/>
        </p:nvSpPr>
        <p:spPr>
          <a:xfrm>
            <a:off x="1280160" y="4828032"/>
            <a:ext cx="17334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 專屬的資料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731520" y="5394960"/>
            <a:ext cx="22363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營運確認的結果就是訓練資料，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用得越久越準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3379394" y="4645152"/>
            <a:ext cx="2602154" cy="137160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3562274" y="4828032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574" y="4942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8"/>
          <p:cNvSpPr txBox="1"/>
          <p:nvPr/>
        </p:nvSpPr>
        <p:spPr>
          <a:xfrm>
            <a:off x="4110914" y="4828032"/>
            <a:ext cx="17334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每張照片都有比對基準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3562274" y="5394960"/>
            <a:ext cx="22363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取車比上次、還車比取車，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爭議時有照片可查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6210148" y="4645152"/>
            <a:ext cx="2602154" cy="137160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6393028" y="4828032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7328" y="4942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8"/>
          <p:cNvSpPr txBox="1"/>
          <p:nvPr/>
        </p:nvSpPr>
        <p:spPr>
          <a:xfrm>
            <a:off x="6941668" y="4828032"/>
            <a:ext cx="17334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 AI 設計的拍照流程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0" name="Google Shape;490;p18"/>
          <p:cNvSpPr txBox="1"/>
          <p:nvPr/>
        </p:nvSpPr>
        <p:spPr>
          <a:xfrm>
            <a:off x="6393028" y="5394960"/>
            <a:ext cx="22363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疊影、車牌與角度檢查，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讓前後照片比得起來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9040901" y="4645152"/>
            <a:ext cx="2602154" cy="1371600"/>
          </a:xfrm>
          <a:prstGeom prst="roundRect">
            <a:avLst>
              <a:gd fmla="val 666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8"/>
          <p:cNvSpPr/>
          <p:nvPr/>
        </p:nvSpPr>
        <p:spPr>
          <a:xfrm>
            <a:off x="9223781" y="4828032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3" name="Google Shape;4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8081" y="4942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8"/>
          <p:cNvSpPr txBox="1"/>
          <p:nvPr/>
        </p:nvSpPr>
        <p:spPr>
          <a:xfrm>
            <a:off x="9772421" y="4828032"/>
            <a:ext cx="17334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None/>
            </a:pPr>
            <a:r>
              <a:rPr b="1"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從判讀到派工的閉環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5" name="Google Shape;495;p18"/>
          <p:cNvSpPr txBox="1"/>
          <p:nvPr/>
        </p:nvSpPr>
        <p:spPr>
          <a:xfrm>
            <a:off x="9223781" y="5394960"/>
            <a:ext cx="22363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預警自動開工單、暫停出租，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不需人工轉單</a:t>
            </a:r>
            <a:endParaRPr sz="11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6" name="Google Shape;496;p18"/>
          <p:cNvSpPr txBox="1"/>
          <p:nvPr/>
        </p:nvSpPr>
        <p:spPr>
          <a:xfrm>
            <a:off x="548640" y="6108192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現行做法依主辦方提供的還車流程圖與 924 則顧客評論整理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7" name="Google Shape;497;p18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6　預期效益與落地評估｜預期效益</a:t>
            </a:r>
            <a:endParaRPr sz="1300"/>
          </a:p>
        </p:txBody>
      </p:sp>
      <p:sp>
        <p:nvSpPr>
          <p:cNvPr id="504" name="Google Shape;504;p19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要每筆都檢查：人力從 10–20 人降到 1–2 人</a:t>
            </a:r>
            <a:endParaRPr sz="2800"/>
          </a:p>
        </p:txBody>
      </p:sp>
      <p:sp>
        <p:nvSpPr>
          <p:cNvPr id="505" name="Google Shape;505;p19"/>
          <p:cNvSpPr/>
          <p:nvPr/>
        </p:nvSpPr>
        <p:spPr>
          <a:xfrm>
            <a:off x="548640" y="1463040"/>
            <a:ext cx="5227168" cy="2148840"/>
          </a:xfrm>
          <a:prstGeom prst="roundRect">
            <a:avLst>
              <a:gd fmla="val 425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6415888" y="1463040"/>
            <a:ext cx="5227168" cy="2148840"/>
          </a:xfrm>
          <a:prstGeom prst="roundRect">
            <a:avLst>
              <a:gd fmla="val 4255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5912968" y="221742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icrosoft JhengHei"/>
              <a:buNone/>
            </a:pPr>
            <a:r>
              <a:rPr b="1" lang="zh-TW" sz="36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3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868680" y="1691640"/>
            <a:ext cx="4587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全靠人工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868680" y="2084832"/>
            <a:ext cx="458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None/>
            </a:pPr>
            <a:r>
              <a:rPr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4,820 筆 × 每筆 1–2 分鐘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None/>
            </a:pPr>
            <a:r>
              <a:rPr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每天 80–160 工時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868680" y="2788920"/>
            <a:ext cx="4587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JhengHei"/>
              <a:buNone/>
            </a:pPr>
            <a:r>
              <a:rPr b="1"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≈ 10–20 人</a:t>
            </a:r>
            <a:endParaRPr sz="3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1" name="Google Shape;511;p19"/>
          <p:cNvSpPr txBox="1"/>
          <p:nvPr/>
        </p:nvSpPr>
        <p:spPr>
          <a:xfrm>
            <a:off x="6735928" y="1691640"/>
            <a:ext cx="4587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導入 iRent+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2" name="Google Shape;512;p19"/>
          <p:cNvSpPr txBox="1"/>
          <p:nvPr/>
        </p:nvSpPr>
        <p:spPr>
          <a:xfrm>
            <a:off x="6735928" y="2084832"/>
            <a:ext cx="458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None/>
            </a:pPr>
            <a:r>
              <a:rPr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4,820 筆 × AI 標記 10% = 482 筆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None/>
            </a:pPr>
            <a:r>
              <a:rPr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× 每筆 1–2 分鐘 = 每天 8–16 工時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3" name="Google Shape;513;p19"/>
          <p:cNvSpPr txBox="1"/>
          <p:nvPr/>
        </p:nvSpPr>
        <p:spPr>
          <a:xfrm>
            <a:off x="6735928" y="2788920"/>
            <a:ext cx="4587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icrosoft JhengHei"/>
              <a:buNone/>
            </a:pPr>
            <a:r>
              <a:rPr b="1" lang="zh-TW" sz="36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≈ 1–2 人</a:t>
            </a:r>
            <a:endParaRPr sz="3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4" name="Google Shape;514;p19"/>
          <p:cNvSpPr txBox="1"/>
          <p:nvPr/>
        </p:nvSpPr>
        <p:spPr>
          <a:xfrm>
            <a:off x="548640" y="3703320"/>
            <a:ext cx="110944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icrosoft JhengHei"/>
              <a:buNone/>
            </a:pPr>
            <a:r>
              <a:rPr b="1" lang="zh-TW" sz="16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檢視工時約減少 90%，</a:t>
            </a: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人事成本每年約少 540–1,080 萬元（GPU 與導入成本見下頁）。</a:t>
            </a:r>
            <a:endParaRPr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548640" y="4041648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icrosoft JhengHei"/>
              <a:buNone/>
            </a:pPr>
            <a:r>
              <a:rPr lang="zh-TW" sz="13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實測誤報率 3%，10% 標記率是保守估計</a:t>
            </a:r>
            <a:r>
              <a:rPr lang="zh-TW" sz="13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30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就算標記率 20%，也只需 2–4 人（964 筆 × 1–2 分鐘 = 16–32 工時）。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548640" y="4480560"/>
            <a:ext cx="2602154" cy="1280160"/>
          </a:xfrm>
          <a:prstGeom prst="roundRect">
            <a:avLst>
              <a:gd fmla="val 714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 txBox="1"/>
          <p:nvPr/>
        </p:nvSpPr>
        <p:spPr>
          <a:xfrm>
            <a:off x="731520" y="4590288"/>
            <a:ext cx="2236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550–820 張／天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8" name="Google Shape;518;p19"/>
          <p:cNvSpPr txBox="1"/>
          <p:nvPr/>
        </p:nvSpPr>
        <p:spPr>
          <a:xfrm>
            <a:off x="731520" y="5093208"/>
            <a:ext cx="223639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不合格照片（約 2–3%）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當場重拍，不必事後補拍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3379394" y="4480560"/>
            <a:ext cx="2602154" cy="1280160"/>
          </a:xfrm>
          <a:prstGeom prst="roundRect">
            <a:avLst>
              <a:gd fmla="val 714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9"/>
          <p:cNvSpPr txBox="1"/>
          <p:nvPr/>
        </p:nvSpPr>
        <p:spPr>
          <a:xfrm>
            <a:off x="3562274" y="4590288"/>
            <a:ext cx="2236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自動暫停出租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1" name="Google Shape;521;p19"/>
          <p:cNvSpPr txBox="1"/>
          <p:nvPr/>
        </p:nvSpPr>
        <p:spPr>
          <a:xfrm>
            <a:off x="3562274" y="5093208"/>
            <a:ext cx="223639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髒車、嚴重車損自動排清潔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或檢修，不交給下一位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6210148" y="4480560"/>
            <a:ext cx="2602154" cy="1280160"/>
          </a:xfrm>
          <a:prstGeom prst="roundRect">
            <a:avLst>
              <a:gd fmla="val 714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"/>
          <p:cNvSpPr txBox="1"/>
          <p:nvPr/>
        </p:nvSpPr>
        <p:spPr>
          <a:xfrm>
            <a:off x="6393028" y="4590288"/>
            <a:ext cx="2236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車損可追償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4" name="Google Shape;524;p19"/>
          <p:cNvSpPr txBox="1"/>
          <p:nvPr/>
        </p:nvSpPr>
        <p:spPr>
          <a:xfrm>
            <a:off x="6393028" y="5093208"/>
            <a:ext cx="223639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新車損對應到該筆租用，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有同角度前後照片為證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9040901" y="4480560"/>
            <a:ext cx="2602154" cy="1280160"/>
          </a:xfrm>
          <a:prstGeom prst="roundRect">
            <a:avLst>
              <a:gd fmla="val 7143" name="adj"/>
            </a:avLst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"/>
          <p:cNvSpPr txBox="1"/>
          <p:nvPr/>
        </p:nvSpPr>
        <p:spPr>
          <a:xfrm>
            <a:off x="9223781" y="4590288"/>
            <a:ext cx="2236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icrosoft JhengHei"/>
              <a:buNone/>
            </a:pPr>
            <a:r>
              <a:rPr b="1" lang="zh-TW" sz="20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208 則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7" name="Google Shape;527;p19"/>
          <p:cNvSpPr txBox="1"/>
          <p:nvPr/>
        </p:nvSpPr>
        <p:spPr>
          <a:xfrm>
            <a:off x="9223781" y="5093208"/>
            <a:ext cx="223639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對應占 22.5% 的車況評論：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拍照、髒車、車損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8" name="Google Shape;528;p19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估算假設：每筆人工檢視 1–2 分鐘、每人每天 8 小時、AI 標記率 10%（試點時以實測校正）、每人每年人事成本 60 萬元</a:t>
            </a: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不合格比例依 1,200 張真實還車照片的校準結果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9" name="Google Shape;529;p19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6　預期效益與落地評估｜落地評估</a:t>
            </a:r>
            <a:endParaRPr sz="1300"/>
          </a:p>
        </p:txBody>
      </p:sp>
      <p:sp>
        <p:nvSpPr>
          <p:cNvPr id="536" name="Google Shape;536;p20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分四階段導入：先驗證、再試點、後擴大</a:t>
            </a:r>
            <a:endParaRPr sz="2800"/>
          </a:p>
        </p:txBody>
      </p:sp>
      <p:sp>
        <p:nvSpPr>
          <p:cNvPr id="537" name="Google Shape;537;p20"/>
          <p:cNvSpPr/>
          <p:nvPr/>
        </p:nvSpPr>
        <p:spPr>
          <a:xfrm>
            <a:off x="548640" y="1463040"/>
            <a:ext cx="2567864" cy="182880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749808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9" name="Google Shape;539;p20"/>
          <p:cNvSpPr txBox="1"/>
          <p:nvPr/>
        </p:nvSpPr>
        <p:spPr>
          <a:xfrm>
            <a:off x="1234440" y="1645920"/>
            <a:ext cx="1744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 1–2 個月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0" name="Google Shape;540;p20"/>
          <p:cNvSpPr txBox="1"/>
          <p:nvPr/>
        </p:nvSpPr>
        <p:spPr>
          <a:xfrm>
            <a:off x="749808" y="2103120"/>
            <a:ext cx="216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擴大驗證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1" name="Google Shape;541;p20"/>
          <p:cNvSpPr txBox="1"/>
          <p:nvPr/>
        </p:nvSpPr>
        <p:spPr>
          <a:xfrm>
            <a:off x="749808" y="2514600"/>
            <a:ext cx="2165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 144 組已完成</a:t>
            </a: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再用更多歷史照片與索賠紀錄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確認召回率與誤報率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2" name="Google Shape;542;p20"/>
          <p:cNvSpPr txBox="1"/>
          <p:nvPr/>
        </p:nvSpPr>
        <p:spPr>
          <a:xfrm>
            <a:off x="3098216" y="2103120"/>
            <a:ext cx="310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icrosoft JhengHei"/>
              <a:buNone/>
            </a:pPr>
            <a:r>
              <a:rPr b="1" lang="zh-TW" sz="2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3390824" y="1463040"/>
            <a:ext cx="2567864" cy="182880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3591992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5" name="Google Shape;545;p20"/>
          <p:cNvSpPr txBox="1"/>
          <p:nvPr/>
        </p:nvSpPr>
        <p:spPr>
          <a:xfrm>
            <a:off x="4076624" y="1645920"/>
            <a:ext cx="1744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 3–4 個月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6" name="Google Shape;546;p20"/>
          <p:cNvSpPr txBox="1"/>
          <p:nvPr/>
        </p:nvSpPr>
        <p:spPr>
          <a:xfrm>
            <a:off x="3591992" y="2103120"/>
            <a:ext cx="216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影子模式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7" name="Google Shape;547;p20"/>
          <p:cNvSpPr txBox="1"/>
          <p:nvPr/>
        </p:nvSpPr>
        <p:spPr>
          <a:xfrm>
            <a:off x="3591992" y="2514600"/>
            <a:ext cx="2165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 拍照模組先上線</a:t>
            </a: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判讀服務只寫預警、不派工，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與人工結果比對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8" name="Google Shape;548;p20"/>
          <p:cNvSpPr txBox="1"/>
          <p:nvPr/>
        </p:nvSpPr>
        <p:spPr>
          <a:xfrm>
            <a:off x="5940400" y="2103120"/>
            <a:ext cx="310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icrosoft JhengHei"/>
              <a:buNone/>
            </a:pPr>
            <a:r>
              <a:rPr b="1" lang="zh-TW" sz="2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6233008" y="1463040"/>
            <a:ext cx="2567864" cy="182880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6434176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1" name="Google Shape;551;p20"/>
          <p:cNvSpPr txBox="1"/>
          <p:nvPr/>
        </p:nvSpPr>
        <p:spPr>
          <a:xfrm>
            <a:off x="6918808" y="1645920"/>
            <a:ext cx="1744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 5–6 個月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2" name="Google Shape;552;p20"/>
          <p:cNvSpPr txBox="1"/>
          <p:nvPr/>
        </p:nvSpPr>
        <p:spPr>
          <a:xfrm>
            <a:off x="6434176" y="2103120"/>
            <a:ext cx="216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區域試點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3" name="Google Shape;553;p20"/>
          <p:cNvSpPr txBox="1"/>
          <p:nvPr/>
        </p:nvSpPr>
        <p:spPr>
          <a:xfrm>
            <a:off x="6434176" y="2514600"/>
            <a:ext cx="2165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1–2 個區域開啟自動工單、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暫停出租與確認單，串接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派工與推播，追蹤工時與客訴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8782583" y="2103120"/>
            <a:ext cx="310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icrosoft JhengHei"/>
              <a:buNone/>
            </a:pPr>
            <a:r>
              <a:rPr b="1" lang="zh-TW" sz="24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›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9075191" y="1463040"/>
            <a:ext cx="2567864" cy="182880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9276359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7" name="Google Shape;557;p20"/>
          <p:cNvSpPr txBox="1"/>
          <p:nvPr/>
        </p:nvSpPr>
        <p:spPr>
          <a:xfrm>
            <a:off x="9760991" y="1645920"/>
            <a:ext cx="1744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 7 個月起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8" name="Google Shape;558;p20"/>
          <p:cNvSpPr txBox="1"/>
          <p:nvPr/>
        </p:nvSpPr>
        <p:spPr>
          <a:xfrm>
            <a:off x="9276359" y="2103120"/>
            <a:ext cx="2165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全面導入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9" name="Google Shape;559;p20"/>
          <p:cNvSpPr txBox="1"/>
          <p:nvPr/>
        </p:nvSpPr>
        <p:spPr>
          <a:xfrm>
            <a:off x="9276359" y="2514600"/>
            <a:ext cx="2165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GPU 依實測吞吐量擴充到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全車隊</a:t>
            </a: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資料回訓迴圈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Microsoft JhengHei"/>
              <a:buNone/>
            </a:pPr>
            <a:r>
              <a:rPr lang="zh-TW" sz="12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每月重新訓練模型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0" name="Google Shape;560;p20"/>
          <p:cNvSpPr txBox="1"/>
          <p:nvPr/>
        </p:nvSpPr>
        <p:spPr>
          <a:xfrm>
            <a:off x="548640" y="3566160"/>
            <a:ext cx="6172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落地條件與資源需求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561" name="Google Shape;561;p20"/>
          <p:cNvGraphicFramePr/>
          <p:nvPr/>
        </p:nvGraphicFramePr>
        <p:xfrm>
          <a:off x="548640" y="3931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{FEBC2B4F-53D2-4807-97ED-158D77B23BFF}</a:tableStyleId>
              </a:tblPr>
              <a:tblGrid>
                <a:gridCol w="868675"/>
                <a:gridCol w="53035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運算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GPU 伺服器自架 Qwen 系列模型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尖峰約每秒 1.8 次判讀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試點先用 1 台，實測吞吐量後再估全車隊台數與成本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系統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App 加入拍照模組（車牌模型約 15 MB）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車況資料庫與判讀佇列串接訂單、計費、車機與派工（架構見第 12 頁）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人力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營運確認 1–2 人</a:t>
                      </a:r>
                      <a:r>
                        <a:rPr lang="zh-TW" sz="1300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</a:t>
                      </a: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導入期需 App、後台與模型工程人力，上線後併入既有團隊維運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資料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zh-TW" sz="1300" u="none" cap="none" strike="noStrike">
                          <a:solidFill>
                            <a:srgbClr val="14141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歷史照片與索賠紀錄供驗證；照片留在內部環境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2" name="Google Shape;562;p20"/>
          <p:cNvSpPr txBox="1"/>
          <p:nvPr/>
        </p:nvSpPr>
        <p:spPr>
          <a:xfrm>
            <a:off x="7086600" y="3566160"/>
            <a:ext cx="45564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None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上線後追蹤的指標</a:t>
            </a:r>
            <a:endParaRPr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7086600" y="3950208"/>
            <a:ext cx="455645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Char char="•"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照片當場重拍率、事後被要求重拍次數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Char char="•"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標記率（目標 10% 以下）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Char char="•"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新車損召回率、誤報率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Char char="•"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髒車客訴與車損爭議客服件數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Char char="•"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預警到工單完成的時間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JhengHei"/>
              <a:buChar char="•"/>
            </a:pPr>
            <a:r>
              <a:rPr lang="zh-TW" sz="13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營運每日檢視工時</a:t>
            </a:r>
            <a:endParaRPr sz="13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icrosoft JhengHei"/>
              <a:buNone/>
            </a:pPr>
            <a:r>
              <a:rPr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尖峰推論量：16 時 2,144 張 × 每張 3 次 ÷ 3,600 秒 ≈ 1.8 次／秒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5" name="Google Shape;565;p20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"/>
          <p:cNvSpPr txBox="1"/>
          <p:nvPr>
            <p:ph idx="1" type="body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</a:pPr>
            <a:r>
              <a:rPr b="1" lang="zh-TW" sz="1300">
                <a:solidFill>
                  <a:schemeClr val="accent1"/>
                </a:solidFill>
              </a:rPr>
              <a:t>7　補充資料</a:t>
            </a:r>
            <a:endParaRPr sz="1300"/>
          </a:p>
        </p:txBody>
      </p:sp>
      <p:sp>
        <p:nvSpPr>
          <p:cNvPr id="572" name="Google Shape;572;p21"/>
          <p:cNvSpPr txBox="1"/>
          <p:nvPr>
            <p:ph type="title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b="1" lang="zh-TW" sz="2800">
                <a:solidFill>
                  <a:schemeClr val="dk1"/>
                </a:solidFill>
              </a:rPr>
              <a:t>資料來源、程式碼與原型畫面</a:t>
            </a:r>
            <a:endParaRPr sz="2800"/>
          </a:p>
        </p:txBody>
      </p:sp>
      <p:sp>
        <p:nvSpPr>
          <p:cNvPr id="573" name="Google Shape;573;p21"/>
          <p:cNvSpPr txBox="1"/>
          <p:nvPr/>
        </p:nvSpPr>
        <p:spPr>
          <a:xfrm>
            <a:off x="548640" y="146304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4" name="Google Shape;574;p21"/>
          <p:cNvSpPr txBox="1"/>
          <p:nvPr/>
        </p:nvSpPr>
        <p:spPr>
          <a:xfrm>
            <a:off x="548640" y="1810512"/>
            <a:ext cx="5440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Char char="•"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主辦方照片上傳清單：2026/4/22，27,367 張、4,820 筆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Char char="•"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主辦方〈0921_iRent 解題資源 README〉與還車流程圖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Char char="•"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主辦方取還車照片 144 組（24 組有索賠）：評估與佐證圖片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Char char="•"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顧客評論 924 則：Google Play、App Store、PTT、Dcard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JhengHei"/>
              <a:buChar char="•"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旺得富理財網〈iRent共享車平台 用戶突破200萬大關〉，2026/2/6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5" name="Google Shape;575;p21"/>
          <p:cNvSpPr txBox="1"/>
          <p:nvPr/>
        </p:nvSpPr>
        <p:spPr>
          <a:xfrm>
            <a:off x="548640" y="393192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參考文獻與工具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6" name="Google Shape;576;p21"/>
          <p:cNvSpPr txBox="1"/>
          <p:nvPr/>
        </p:nvSpPr>
        <p:spPr>
          <a:xfrm>
            <a:off x="548640" y="4261104"/>
            <a:ext cx="5440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Char char="•"/>
            </a:pPr>
            <a:r>
              <a:rPr lang="zh-TW" sz="1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Pech-Pacheco, J. L. et al. (2000). Diatom autofocusing in brightfield microscopy: a comparative study. ICPR.（Laplacian 清晰度量測）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Char char="•"/>
            </a:pPr>
            <a:r>
              <a:rPr lang="zh-TW" sz="1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Kwon, W. et al. (2023). Efficient Memory Management for Large Language Model Serving with PagedAttention. SOSP.（vLLM 推論框架）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JhengHei"/>
              <a:buChar char="•"/>
            </a:pPr>
            <a:r>
              <a:rPr lang="zh-TW" sz="1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PaddleOCR PP-OCRv4（PaddlePaddle 開源 OCR，手機端車牌辨識）</a:t>
            </a:r>
            <a:endParaRPr sz="1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6309360" y="146304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 程式碼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8" name="Google Shape;578;p21">
            <a:hlinkClick r:id="rId3"/>
          </p:cNvPr>
          <p:cNvSpPr txBox="1"/>
          <p:nvPr/>
        </p:nvSpPr>
        <p:spPr>
          <a:xfrm>
            <a:off x="6309360" y="1810512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Microsoft JhengHei"/>
              <a:buNone/>
            </a:pPr>
            <a:r>
              <a:rPr b="1" lang="zh-TW" sz="13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github.com/Allenwang2004/irent</a:t>
            </a:r>
            <a:endParaRPr sz="1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6309360" y="221284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README.md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給評審：架構、功能與執行方式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6309360" y="276148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mobile/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 App：取還車、拍照、即時檢查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1" name="Google Shape;581;p21"/>
          <p:cNvSpPr txBox="1"/>
          <p:nvPr/>
        </p:nvSpPr>
        <p:spPr>
          <a:xfrm>
            <a:off x="6309360" y="331012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web/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營運後台：預警、工單、車輛、評論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2" name="Google Shape;582;p21"/>
          <p:cNvSpPr txBox="1"/>
          <p:nvPr/>
        </p:nvSpPr>
        <p:spPr>
          <a:xfrm>
            <a:off x="6309360" y="385876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worker/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VLM 檢查服務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3" name="Google Shape;583;p21"/>
          <p:cNvSpPr txBox="1"/>
          <p:nvPr/>
        </p:nvSpPr>
        <p:spPr>
          <a:xfrm>
            <a:off x="6309360" y="440740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eval/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VLM 與車牌辨識的評估腳本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6309360" y="495604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icrosoft JhengHei"/>
              <a:buNone/>
            </a:pPr>
            <a:r>
              <a:rPr b="1" lang="zh-TW" sz="125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supabase/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Microsoft JhengHei"/>
              <a:buNone/>
            </a:pPr>
            <a:r>
              <a:rPr lang="zh-TW" sz="1150">
                <a:solidFill>
                  <a:schemeClr val="dk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資料表與自動工單</a:t>
            </a:r>
            <a:endParaRPr sz="125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5" name="Google Shape;585;p21"/>
          <p:cNvSpPr txBox="1"/>
          <p:nvPr/>
        </p:nvSpPr>
        <p:spPr>
          <a:xfrm>
            <a:off x="9738360" y="1463040"/>
            <a:ext cx="19046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</a:pPr>
            <a:r>
              <a:rPr b="1" lang="zh-TW"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原型實機畫面</a:t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營運後台預警頁實機截圖" id="586" name="Google Shape;5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8360" y="1828800"/>
            <a:ext cx="1904695" cy="1356793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1"/>
          <p:cNvSpPr/>
          <p:nvPr/>
        </p:nvSpPr>
        <p:spPr>
          <a:xfrm>
            <a:off x="9738360" y="1828800"/>
            <a:ext cx="1904695" cy="1356793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手機 App 選擇車輛頁實機截圖，整備中的車不能借" id="588" name="Google Shape;58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8360" y="3322753"/>
            <a:ext cx="883768" cy="1691464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1"/>
          <p:cNvSpPr/>
          <p:nvPr/>
        </p:nvSpPr>
        <p:spPr>
          <a:xfrm>
            <a:off x="9738360" y="3322753"/>
            <a:ext cx="883768" cy="169146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手機 App 還車確認單實機截圖" id="590" name="Google Shape;59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59288" y="3322753"/>
            <a:ext cx="883768" cy="169146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1"/>
          <p:cNvSpPr/>
          <p:nvPr/>
        </p:nvSpPr>
        <p:spPr>
          <a:xfrm>
            <a:off x="10759288" y="3322753"/>
            <a:ext cx="883768" cy="1691464"/>
          </a:xfrm>
          <a:prstGeom prst="rect">
            <a:avLst/>
          </a:prstGeom>
          <a:noFill/>
          <a:ln cap="flat" cmpd="sng" w="9525">
            <a:solidFill>
              <a:srgbClr val="C9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icrosoft JhengHei"/>
              <a:buNone/>
            </a:pPr>
            <a:r>
              <a:rPr b="1" lang="zh-TW" sz="1800">
                <a:solidFill>
                  <a:schemeClr val="accen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iRent+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　利用 AI，打造全台最好的租車平台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4" name="Google Shape;594;p21"/>
          <p:cNvSpPr txBox="1"/>
          <p:nvPr>
            <p:ph idx="4294967295" type="sldNum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TW" sz="1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sz="1000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Rent Plus">
  <a:themeElements>
    <a:clrScheme name="iRent Plus">
      <a:dk1>
        <a:srgbClr val="141414"/>
      </a:dk1>
      <a:lt1>
        <a:srgbClr val="FFFFFF"/>
      </a:lt1>
      <a:dk2>
        <a:srgbClr val="454545"/>
      </a:dk2>
      <a:lt2>
        <a:srgbClr val="F5F5F5"/>
      </a:lt2>
      <a:accent1>
        <a:srgbClr val="D7000F"/>
      </a:accent1>
      <a:accent2>
        <a:srgbClr val="8C8C8C"/>
      </a:accent2>
      <a:accent3>
        <a:srgbClr val="E4E4E4"/>
      </a:accent3>
      <a:accent4>
        <a:srgbClr val="FCE9EA"/>
      </a:accent4>
      <a:accent5>
        <a:srgbClr val="1E8E3E"/>
      </a:accent5>
      <a:accent6>
        <a:srgbClr val="E8A100"/>
      </a:accent6>
      <a:hlink>
        <a:srgbClr val="D7000F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